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15.xml.rels" ContentType="application/vnd.openxmlformats-package.relationships+xml"/>
  <Override PartName="/ppt/slides/_rels/slide14.xml.rels" ContentType="application/vnd.openxmlformats-package.relationships+xml"/>
  <Override PartName="/ppt/slides/_rels/slide26.xml.rels" ContentType="application/vnd.openxmlformats-package.relationships+xml"/>
  <Override PartName="/ppt/slides/_rels/slide13.xml.rels" ContentType="application/vnd.openxmlformats-package.relationships+xml"/>
  <Override PartName="/ppt/slides/_rels/slide25.xml.rels" ContentType="application/vnd.openxmlformats-package.relationships+xml"/>
  <Override PartName="/ppt/slides/_rels/slide12.xml.rels" ContentType="application/vnd.openxmlformats-package.relationships+xml"/>
  <Override PartName="/ppt/slides/_rels/slide24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23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4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2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25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26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2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8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5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FC71A219-4934-4C3D-8609-2D8D125B2265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82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4" name=""/>
          <p:cNvSpPr txBox="1"/>
          <p:nvPr/>
        </p:nvSpPr>
        <p:spPr>
          <a:xfrm>
            <a:off x="594360" y="4114800"/>
            <a:ext cx="1078992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82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7" name=""/>
          <p:cNvSpPr txBox="1"/>
          <p:nvPr/>
        </p:nvSpPr>
        <p:spPr>
          <a:xfrm>
            <a:off x="594360" y="4114800"/>
            <a:ext cx="1078992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82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0" name=""/>
          <p:cNvSpPr txBox="1"/>
          <p:nvPr/>
        </p:nvSpPr>
        <p:spPr>
          <a:xfrm>
            <a:off x="594360" y="4114800"/>
            <a:ext cx="1078992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83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3" name=""/>
          <p:cNvSpPr txBox="1"/>
          <p:nvPr/>
        </p:nvSpPr>
        <p:spPr>
          <a:xfrm>
            <a:off x="594360" y="4114800"/>
            <a:ext cx="1078992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83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6" name=""/>
          <p:cNvSpPr txBox="1"/>
          <p:nvPr/>
        </p:nvSpPr>
        <p:spPr>
          <a:xfrm>
            <a:off x="594360" y="4114800"/>
            <a:ext cx="1078992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83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9" name=""/>
          <p:cNvSpPr txBox="1"/>
          <p:nvPr/>
        </p:nvSpPr>
        <p:spPr>
          <a:xfrm>
            <a:off x="594360" y="4114800"/>
            <a:ext cx="1078992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84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2" name=""/>
          <p:cNvSpPr txBox="1"/>
          <p:nvPr/>
        </p:nvSpPr>
        <p:spPr>
          <a:xfrm>
            <a:off x="594360" y="4114800"/>
            <a:ext cx="1078992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84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5" name=""/>
          <p:cNvSpPr txBox="1"/>
          <p:nvPr/>
        </p:nvSpPr>
        <p:spPr>
          <a:xfrm>
            <a:off x="594360" y="4114800"/>
            <a:ext cx="1078992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84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8" name=""/>
          <p:cNvSpPr txBox="1"/>
          <p:nvPr/>
        </p:nvSpPr>
        <p:spPr>
          <a:xfrm>
            <a:off x="594360" y="4114800"/>
            <a:ext cx="1078992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85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1" name=""/>
          <p:cNvSpPr txBox="1"/>
          <p:nvPr/>
        </p:nvSpPr>
        <p:spPr>
          <a:xfrm>
            <a:off x="594360" y="4114800"/>
            <a:ext cx="1078992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85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4" name=""/>
          <p:cNvSpPr txBox="1"/>
          <p:nvPr/>
        </p:nvSpPr>
        <p:spPr>
          <a:xfrm>
            <a:off x="594360" y="4114800"/>
            <a:ext cx="1078992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85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7" name=""/>
          <p:cNvSpPr txBox="1"/>
          <p:nvPr/>
        </p:nvSpPr>
        <p:spPr>
          <a:xfrm>
            <a:off x="594360" y="4114800"/>
            <a:ext cx="1078992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85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0" name=""/>
          <p:cNvSpPr txBox="1"/>
          <p:nvPr/>
        </p:nvSpPr>
        <p:spPr>
          <a:xfrm>
            <a:off x="594360" y="4114800"/>
            <a:ext cx="1078992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8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3" name=""/>
          <p:cNvSpPr txBox="1"/>
          <p:nvPr/>
        </p:nvSpPr>
        <p:spPr>
          <a:xfrm>
            <a:off x="594360" y="4114800"/>
            <a:ext cx="1078992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86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6" name=""/>
          <p:cNvSpPr txBox="1"/>
          <p:nvPr/>
        </p:nvSpPr>
        <p:spPr>
          <a:xfrm>
            <a:off x="594360" y="4114800"/>
            <a:ext cx="1078992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86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9" name=""/>
          <p:cNvSpPr txBox="1"/>
          <p:nvPr/>
        </p:nvSpPr>
        <p:spPr>
          <a:xfrm>
            <a:off x="594360" y="4114800"/>
            <a:ext cx="1078992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87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2" name=""/>
          <p:cNvSpPr txBox="1"/>
          <p:nvPr/>
        </p:nvSpPr>
        <p:spPr>
          <a:xfrm>
            <a:off x="594360" y="4114800"/>
            <a:ext cx="1078992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87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5" name=""/>
          <p:cNvSpPr txBox="1"/>
          <p:nvPr/>
        </p:nvSpPr>
        <p:spPr>
          <a:xfrm>
            <a:off x="594360" y="4114800"/>
            <a:ext cx="1078992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87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8" name=""/>
          <p:cNvSpPr txBox="1"/>
          <p:nvPr/>
        </p:nvSpPr>
        <p:spPr>
          <a:xfrm>
            <a:off x="594360" y="4114800"/>
            <a:ext cx="1078992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88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1" name=""/>
          <p:cNvSpPr txBox="1"/>
          <p:nvPr/>
        </p:nvSpPr>
        <p:spPr>
          <a:xfrm>
            <a:off x="594360" y="4114800"/>
            <a:ext cx="1078992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88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4" name=""/>
          <p:cNvSpPr txBox="1"/>
          <p:nvPr/>
        </p:nvSpPr>
        <p:spPr>
          <a:xfrm>
            <a:off x="594360" y="4114800"/>
            <a:ext cx="1078992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88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7" name=""/>
          <p:cNvSpPr txBox="1"/>
          <p:nvPr/>
        </p:nvSpPr>
        <p:spPr>
          <a:xfrm>
            <a:off x="594360" y="4114800"/>
            <a:ext cx="1078992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88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0" name=""/>
          <p:cNvSpPr txBox="1"/>
          <p:nvPr/>
        </p:nvSpPr>
        <p:spPr>
          <a:xfrm>
            <a:off x="594360" y="4114800"/>
            <a:ext cx="1078992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89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3" name=""/>
          <p:cNvSpPr txBox="1"/>
          <p:nvPr/>
        </p:nvSpPr>
        <p:spPr>
          <a:xfrm>
            <a:off x="594360" y="4114800"/>
            <a:ext cx="1078992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89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6" name=""/>
          <p:cNvSpPr txBox="1"/>
          <p:nvPr/>
        </p:nvSpPr>
        <p:spPr>
          <a:xfrm>
            <a:off x="594360" y="4114800"/>
            <a:ext cx="1078992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89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9" name=""/>
          <p:cNvSpPr txBox="1"/>
          <p:nvPr/>
        </p:nvSpPr>
        <p:spPr>
          <a:xfrm>
            <a:off x="594360" y="4114800"/>
            <a:ext cx="1078992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7F71B4B-F3E1-4EC3-A50D-C3A39C4B8D9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3E7FD108-A6A0-4C4E-B6AA-56AA3590C2DE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8fafc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"/>
          <p:cNvSpPr/>
          <p:nvPr/>
        </p:nvSpPr>
        <p:spPr>
          <a:xfrm>
            <a:off x="0" y="0"/>
            <a:ext cx="146160" cy="6858000"/>
          </a:xfrm>
          <a:prstGeom prst="rect">
            <a:avLst/>
          </a:prstGeom>
          <a:solidFill>
            <a:srgbClr val="2563eb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804600" y="658440"/>
            <a:ext cx="640080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1" lang="en-US" sz="1400" spc="-1" strike="noStrike">
                <a:solidFill>
                  <a:srgbClr val="2563eb"/>
                </a:solidFill>
                <a:latin typeface="Arial"/>
              </a:rPr>
              <a:t>ARCHITECTURE SHOWCASE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804600" y="1188720"/>
            <a:ext cx="841248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1" lang="en-US" sz="6400" spc="-1" strike="noStrike">
                <a:solidFill>
                  <a:srgbClr val="0f172a"/>
                </a:solidFill>
                <a:latin typeface="Arial"/>
              </a:rPr>
              <a:t>Loop Engine</a:t>
            </a:r>
            <a:endParaRPr b="0" lang="en-US" sz="6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841320" y="2075760"/>
            <a:ext cx="804672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0" lang="en-US" sz="2800" spc="-1" strike="noStrike">
                <a:solidFill>
                  <a:srgbClr val="475569"/>
                </a:solidFill>
                <a:latin typeface="Arial"/>
              </a:rPr>
              <a:t>Loops are all you need.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841320" y="3044880"/>
            <a:ext cx="713232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1" lang="en-US" sz="2400" spc="-1" strike="noStrike">
                <a:solidFill>
                  <a:srgbClr val="0f172a"/>
                </a:solidFill>
                <a:latin typeface="Arial"/>
              </a:rPr>
              <a:t>Every executable graph vertex is a Loop.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"/>
          <p:cNvSpPr/>
          <p:nvPr/>
        </p:nvSpPr>
        <p:spPr>
          <a:xfrm>
            <a:off x="932760" y="4041720"/>
            <a:ext cx="1572840" cy="1078920"/>
          </a:xfrm>
          <a:prstGeom prst="ellipse">
            <a:avLst/>
          </a:prstGeom>
          <a:solidFill>
            <a:srgbClr val="dbeafe"/>
          </a:solidFill>
          <a:ln w="21600">
            <a:solidFill>
              <a:srgbClr val="2563eb"/>
            </a:solidFill>
            <a:round/>
          </a:ln>
        </p:spPr>
        <p:txBody>
          <a:bodyPr lIns="100800" rIns="100800" tIns="55800" bIns="558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1042560" y="4151520"/>
            <a:ext cx="135324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1600" spc="-1" strike="noStrike">
                <a:solidFill>
                  <a:srgbClr val="0f172a"/>
                </a:solidFill>
                <a:latin typeface="Arial"/>
              </a:rPr>
              <a:t>Practitioner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"/>
          <p:cNvSpPr/>
          <p:nvPr/>
        </p:nvSpPr>
        <p:spPr>
          <a:xfrm>
            <a:off x="2505600" y="4581000"/>
            <a:ext cx="758880" cy="0"/>
          </a:xfrm>
          <a:prstGeom prst="line">
            <a:avLst/>
          </a:prstGeom>
          <a:ln w="16200">
            <a:solidFill>
              <a:srgbClr val="cbd5e1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7920" rIns="97920" tIns="-52920" bIns="-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"/>
          <p:cNvSpPr/>
          <p:nvPr/>
        </p:nvSpPr>
        <p:spPr>
          <a:xfrm>
            <a:off x="3264480" y="4041720"/>
            <a:ext cx="1572840" cy="1078920"/>
          </a:xfrm>
          <a:prstGeom prst="ellipse">
            <a:avLst/>
          </a:prstGeom>
          <a:solidFill>
            <a:srgbClr val="ede9fe"/>
          </a:solidFill>
          <a:ln w="21600">
            <a:solidFill>
              <a:srgbClr val="7c3aed"/>
            </a:solidFill>
            <a:round/>
          </a:ln>
        </p:spPr>
        <p:txBody>
          <a:bodyPr lIns="100800" rIns="100800" tIns="55800" bIns="558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3374280" y="4151520"/>
            <a:ext cx="135324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1600" spc="-1" strike="noStrike">
                <a:solidFill>
                  <a:srgbClr val="0f172a"/>
                </a:solidFill>
                <a:latin typeface="Arial"/>
              </a:rPr>
              <a:t>Intelligence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"/>
          <p:cNvSpPr/>
          <p:nvPr/>
        </p:nvSpPr>
        <p:spPr>
          <a:xfrm>
            <a:off x="4837320" y="4581000"/>
            <a:ext cx="758880" cy="0"/>
          </a:xfrm>
          <a:prstGeom prst="line">
            <a:avLst/>
          </a:prstGeom>
          <a:ln w="16200">
            <a:solidFill>
              <a:srgbClr val="cbd5e1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7920" rIns="97920" tIns="-52920" bIns="-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"/>
          <p:cNvSpPr/>
          <p:nvPr/>
        </p:nvSpPr>
        <p:spPr>
          <a:xfrm>
            <a:off x="5596200" y="4041720"/>
            <a:ext cx="1572840" cy="1078920"/>
          </a:xfrm>
          <a:prstGeom prst="ellipse">
            <a:avLst/>
          </a:prstGeom>
          <a:solidFill>
            <a:srgbClr val="dcfce7"/>
          </a:solidFill>
          <a:ln w="21600">
            <a:solidFill>
              <a:srgbClr val="15803d"/>
            </a:solidFill>
            <a:round/>
          </a:ln>
        </p:spPr>
        <p:txBody>
          <a:bodyPr lIns="100800" rIns="100800" tIns="55800" bIns="558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"/>
          <p:cNvSpPr txBox="1"/>
          <p:nvPr/>
        </p:nvSpPr>
        <p:spPr>
          <a:xfrm>
            <a:off x="5706000" y="4151520"/>
            <a:ext cx="135324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1600" spc="-1" strike="noStrike">
                <a:solidFill>
                  <a:srgbClr val="0f172a"/>
                </a:solidFill>
                <a:latin typeface="Arial"/>
              </a:rPr>
              <a:t>Solution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"/>
          <p:cNvSpPr txBox="1"/>
          <p:nvPr/>
        </p:nvSpPr>
        <p:spPr>
          <a:xfrm>
            <a:off x="841320" y="5650920"/>
            <a:ext cx="996696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0" lang="en-US" sz="1400" spc="-1" strike="noStrike">
                <a:solidFill>
                  <a:srgbClr val="475569"/>
                </a:solidFill>
                <a:latin typeface="Arial"/>
              </a:rPr>
              <a:t>This presentation separates the architecture contract from current implementation status.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"/>
          <p:cNvSpPr txBox="1"/>
          <p:nvPr/>
        </p:nvSpPr>
        <p:spPr>
          <a:xfrm>
            <a:off x="841320" y="6217920"/>
            <a:ext cx="1046988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0" lang="en-US" sz="1100" spc="-1" strike="noStrike">
                <a:solidFill>
                  <a:srgbClr val="475569"/>
                </a:solidFill>
                <a:latin typeface="Arial"/>
              </a:rPr>
              <a:t>Loop Engine uses one operational runtime object for every executable graph vertex.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8fafc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"/>
          <p:cNvSpPr/>
          <p:nvPr/>
        </p:nvSpPr>
        <p:spPr>
          <a:xfrm>
            <a:off x="0" y="0"/>
            <a:ext cx="12192120" cy="73080"/>
          </a:xfrm>
          <a:prstGeom prst="rect">
            <a:avLst/>
          </a:prstGeom>
          <a:solidFill>
            <a:srgbClr val="2563eb"/>
          </a:solidFill>
          <a:ln w="0">
            <a:noFill/>
          </a:ln>
        </p:spPr>
        <p:txBody>
          <a:bodyPr lIns="90000" rIns="90000" tIns="28080" bIns="2808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"/>
          <p:cNvSpPr txBox="1"/>
          <p:nvPr/>
        </p:nvSpPr>
        <p:spPr>
          <a:xfrm>
            <a:off x="621720" y="210240"/>
            <a:ext cx="804672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1" lang="en-US" sz="1100" spc="-1" strike="noStrike">
                <a:solidFill>
                  <a:srgbClr val="2563eb"/>
                </a:solidFill>
                <a:latin typeface="Arial"/>
              </a:rPr>
              <a:t>BIRD'S-EYE VIEW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"/>
          <p:cNvSpPr txBox="1"/>
          <p:nvPr/>
        </p:nvSpPr>
        <p:spPr>
          <a:xfrm>
            <a:off x="10698480" y="201240"/>
            <a:ext cx="86868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r"/>
            <a:r>
              <a:rPr b="1" lang="en-US" sz="1100" spc="-1" strike="noStrike">
                <a:solidFill>
                  <a:srgbClr val="475569"/>
                </a:solidFill>
                <a:latin typeface="Arial"/>
              </a:rPr>
              <a:t>02 / 26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"/>
          <p:cNvSpPr txBox="1"/>
          <p:nvPr/>
        </p:nvSpPr>
        <p:spPr>
          <a:xfrm>
            <a:off x="621720" y="438840"/>
            <a:ext cx="1024128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t">
            <a:noAutofit/>
          </a:bodyPr>
          <a:p>
            <a:r>
              <a:rPr b="1" lang="en-US" sz="3200" spc="-1" strike="noStrike">
                <a:solidFill>
                  <a:srgbClr val="0f172a"/>
                </a:solidFill>
                <a:latin typeface="Arial"/>
              </a:rPr>
              <a:t>One system, four clear parts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"/>
          <p:cNvSpPr txBox="1"/>
          <p:nvPr/>
        </p:nvSpPr>
        <p:spPr>
          <a:xfrm>
            <a:off x="621720" y="969120"/>
            <a:ext cx="10972800" cy="54900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0" lang="en-US" sz="1700" spc="-1" strike="noStrike">
                <a:solidFill>
                  <a:srgbClr val="475569"/>
                </a:solidFill>
                <a:latin typeface="Arial"/>
              </a:rPr>
              <a:t>The Practitioner builds. The Canvas describes what runs. Intelligence and Static Architecture support the work.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"/>
          <p:cNvSpPr/>
          <p:nvPr/>
        </p:nvSpPr>
        <p:spPr>
          <a:xfrm>
            <a:off x="621720" y="5843160"/>
            <a:ext cx="10945440" cy="393120"/>
          </a:xfrm>
          <a:prstGeom prst="roundRect">
            <a:avLst/>
          </a:prstGeom>
          <a:solidFill>
            <a:srgbClr val="f1f5f9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731520" y="5879520"/>
            <a:ext cx="1071684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0" lang="en-US" sz="1300" spc="-1" strike="noStrike">
                <a:solidFill>
                  <a:srgbClr val="475569"/>
                </a:solidFill>
                <a:latin typeface="Arial"/>
              </a:rPr>
              <a:t>Implemented. Established constructor calls remain visible as compatibility composition.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621720" y="6291000"/>
            <a:ext cx="992124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0" lang="en-US" sz="1050" spc="-1" strike="noStrike">
                <a:solidFill>
                  <a:srgbClr val="475569"/>
                </a:solidFill>
                <a:latin typeface="Arial"/>
              </a:rPr>
              <a:t>Self-improvement is a Practitioner task profile. It is not a fifth system part.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10561320" y="6291000"/>
            <a:ext cx="1005840" cy="54900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r"/>
            <a:r>
              <a:rPr b="1" lang="en-US" sz="1050" spc="-1" strike="noStrike">
                <a:solidFill>
                  <a:srgbClr val="64748b"/>
                </a:solidFill>
                <a:latin typeface="Arial"/>
              </a:rPr>
              <a:t>LOOP ENGINE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"/>
          <p:cNvSpPr/>
          <p:nvPr/>
        </p:nvSpPr>
        <p:spPr>
          <a:xfrm>
            <a:off x="3200400" y="2926080"/>
            <a:ext cx="2926080" cy="0"/>
          </a:xfrm>
          <a:prstGeom prst="line">
            <a:avLst/>
          </a:prstGeom>
          <a:ln w="16200">
            <a:solidFill>
              <a:srgbClr val="64748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7920" rIns="97920" tIns="-52920" bIns="-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"/>
          <p:cNvSpPr/>
          <p:nvPr/>
        </p:nvSpPr>
        <p:spPr>
          <a:xfrm>
            <a:off x="1051560" y="2240280"/>
            <a:ext cx="2148840" cy="1371600"/>
          </a:xfrm>
          <a:prstGeom prst="ellipse">
            <a:avLst/>
          </a:prstGeom>
          <a:solidFill>
            <a:srgbClr val="dbeafe"/>
          </a:solidFill>
          <a:ln w="21600">
            <a:solidFill>
              <a:srgbClr val="2563eb"/>
            </a:solidFill>
            <a:round/>
          </a:ln>
        </p:spPr>
        <p:txBody>
          <a:bodyPr lIns="100800" rIns="100800" tIns="55800" bIns="558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1161360" y="2350080"/>
            <a:ext cx="192924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1900" spc="-1" strike="noStrike">
                <a:solidFill>
                  <a:srgbClr val="0f172a"/>
                </a:solidFill>
                <a:latin typeface="Arial"/>
              </a:rPr>
              <a:t>Loop Practitioner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"/>
          <p:cNvSpPr/>
          <p:nvPr/>
        </p:nvSpPr>
        <p:spPr>
          <a:xfrm>
            <a:off x="6144840" y="2240280"/>
            <a:ext cx="2148840" cy="1371600"/>
          </a:xfrm>
          <a:prstGeom prst="ellipse">
            <a:avLst/>
          </a:prstGeom>
          <a:solidFill>
            <a:srgbClr val="dcfce7"/>
          </a:solidFill>
          <a:ln w="21600">
            <a:solidFill>
              <a:srgbClr val="15803d"/>
            </a:solidFill>
            <a:round/>
          </a:ln>
        </p:spPr>
        <p:txBody>
          <a:bodyPr lIns="100800" rIns="100800" tIns="55800" bIns="558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6254640" y="2350080"/>
            <a:ext cx="192924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1900" spc="-1" strike="noStrike">
                <a:solidFill>
                  <a:srgbClr val="0f172a"/>
                </a:solidFill>
                <a:latin typeface="Arial"/>
              </a:rPr>
              <a:t>Solution Canvas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960120" y="3675960"/>
            <a:ext cx="2331720" cy="54900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0" lang="en-US" sz="1600" spc="-1" strike="noStrike">
                <a:solidFill>
                  <a:srgbClr val="475569"/>
                </a:solidFill>
                <a:latin typeface="Arial"/>
              </a:rPr>
              <a:t>understand, build, verify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6053400" y="3675960"/>
            <a:ext cx="2331720" cy="54900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0" lang="en-US" sz="1600" spc="-1" strike="noStrike">
                <a:solidFill>
                  <a:srgbClr val="475569"/>
                </a:solidFill>
                <a:latin typeface="Arial"/>
              </a:rPr>
              <a:t>candidate Solution graphs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"/>
          <p:cNvSpPr/>
          <p:nvPr/>
        </p:nvSpPr>
        <p:spPr>
          <a:xfrm>
            <a:off x="987480" y="1618560"/>
            <a:ext cx="7296840" cy="484560"/>
          </a:xfrm>
          <a:prstGeom prst="roundRect">
            <a:avLst/>
          </a:prstGeom>
          <a:solidFill>
            <a:srgbClr val="ede9fe"/>
          </a:solidFill>
          <a:ln w="12960">
            <a:solidFill>
              <a:srgbClr val="7c3aed"/>
            </a:solidFill>
            <a:round/>
          </a:ln>
        </p:spPr>
        <p:txBody>
          <a:bodyPr lIns="96480" rIns="96480" tIns="51480" bIns="5148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1033200" y="1645920"/>
            <a:ext cx="720540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1900" spc="-1" strike="noStrike">
                <a:solidFill>
                  <a:srgbClr val="7c3aed"/>
                </a:solidFill>
                <a:latin typeface="Arial"/>
              </a:rPr>
              <a:t>Four Intelligence Layers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1069920" y="1965960"/>
            <a:ext cx="715068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0" lang="en-US" sz="1400" spc="-1" strike="noStrike">
                <a:solidFill>
                  <a:srgbClr val="475569"/>
                </a:solidFill>
                <a:latin typeface="Arial"/>
              </a:rPr>
              <a:t>Context   •   Code   •   Run and Solution   •   User Feedback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"/>
          <p:cNvSpPr/>
          <p:nvPr/>
        </p:nvSpPr>
        <p:spPr>
          <a:xfrm>
            <a:off x="8778240" y="1737360"/>
            <a:ext cx="2240280" cy="3310200"/>
          </a:xfrm>
          <a:prstGeom prst="roundRect">
            <a:avLst/>
          </a:prstGeom>
          <a:solidFill>
            <a:srgbClr val="f1f5f9"/>
          </a:solidFill>
          <a:ln w="18000">
            <a:solidFill>
              <a:srgbClr val="64748b"/>
            </a:solidFill>
            <a:round/>
          </a:ln>
        </p:spPr>
        <p:txBody>
          <a:bodyPr lIns="99000" rIns="99000" tIns="54000" bIns="54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8979480" y="2011680"/>
            <a:ext cx="1847160" cy="54900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2100" spc="-1" strike="noStrike">
                <a:solidFill>
                  <a:srgbClr val="64748b"/>
                </a:solidFill>
                <a:latin typeface="Arial"/>
              </a:rPr>
              <a:t>Static Architecture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9034200" y="2743200"/>
            <a:ext cx="1737360" cy="15728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0" lang="en-US" sz="1600" spc="-1" strike="noStrike">
                <a:solidFill>
                  <a:srgbClr val="0f172a"/>
                </a:solidFill>
                <a:latin typeface="Arial"/>
              </a:rPr>
              <a:t>• </a:t>
            </a:r>
            <a:r>
              <a:rPr b="0" lang="en-US" sz="1600" spc="-1" strike="noStrike">
                <a:solidFill>
                  <a:srgbClr val="0f172a"/>
                </a:solidFill>
                <a:latin typeface="Arial"/>
              </a:rPr>
              <a:t>Intelligence Search and Retrieval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/>
            <a:r>
              <a:rPr b="0" lang="en-US" sz="1600" spc="-1" strike="noStrike">
                <a:solidFill>
                  <a:srgbClr val="0f172a"/>
                </a:solidFill>
                <a:latin typeface="Arial"/>
              </a:rPr>
              <a:t>• </a:t>
            </a:r>
            <a:r>
              <a:rPr b="0" lang="en-US" sz="1600" spc="-1" strike="noStrike">
                <a:solidFill>
                  <a:srgbClr val="0f172a"/>
                </a:solidFill>
                <a:latin typeface="Arial"/>
              </a:rPr>
              <a:t>Web Research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/>
            <a:r>
              <a:rPr b="0" lang="en-US" sz="1600" spc="-1" strike="noStrike">
                <a:solidFill>
                  <a:srgbClr val="0f172a"/>
                </a:solidFill>
                <a:latin typeface="Arial"/>
              </a:rPr>
              <a:t>• </a:t>
            </a:r>
            <a:r>
              <a:rPr b="0" lang="en-US" sz="1600" spc="-1" strike="noStrike">
                <a:solidFill>
                  <a:srgbClr val="0f172a"/>
                </a:solidFill>
                <a:latin typeface="Arial"/>
              </a:rPr>
              <a:t>Custom Plugins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8fafc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"/>
          <p:cNvSpPr/>
          <p:nvPr/>
        </p:nvSpPr>
        <p:spPr>
          <a:xfrm>
            <a:off x="0" y="0"/>
            <a:ext cx="12192120" cy="73080"/>
          </a:xfrm>
          <a:prstGeom prst="rect">
            <a:avLst/>
          </a:prstGeom>
          <a:solidFill>
            <a:srgbClr val="2563eb"/>
          </a:solidFill>
          <a:ln w="0">
            <a:noFill/>
          </a:ln>
        </p:spPr>
        <p:txBody>
          <a:bodyPr lIns="90000" rIns="90000" tIns="28080" bIns="2808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621720" y="210240"/>
            <a:ext cx="804672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1" lang="en-US" sz="1100" spc="-1" strike="noStrike">
                <a:solidFill>
                  <a:srgbClr val="2563eb"/>
                </a:solidFill>
                <a:latin typeface="Arial"/>
              </a:rPr>
              <a:t>THE LOOP OBJECT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10698480" y="201240"/>
            <a:ext cx="86868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r"/>
            <a:r>
              <a:rPr b="1" lang="en-US" sz="1100" spc="-1" strike="noStrike">
                <a:solidFill>
                  <a:srgbClr val="475569"/>
                </a:solidFill>
                <a:latin typeface="Arial"/>
              </a:rPr>
              <a:t>03 / 26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621720" y="438840"/>
            <a:ext cx="1024128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t">
            <a:noAutofit/>
          </a:bodyPr>
          <a:p>
            <a:r>
              <a:rPr b="1" lang="en-US" sz="3200" spc="-1" strike="noStrike">
                <a:solidFill>
                  <a:srgbClr val="0f172a"/>
                </a:solidFill>
                <a:latin typeface="Arial"/>
              </a:rPr>
              <a:t>A Loop is one typed operational node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621720" y="969120"/>
            <a:ext cx="1097280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0" lang="en-US" sz="1700" spc="-1" strike="noStrike">
                <a:solidFill>
                  <a:srgbClr val="475569"/>
                </a:solidFill>
                <a:latin typeface="Arial"/>
              </a:rPr>
              <a:t>It has a stable definition, a run instance, and explicit graph relationships.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621720" y="5843160"/>
            <a:ext cx="10945440" cy="393120"/>
          </a:xfrm>
          <a:prstGeom prst="roundRect">
            <a:avLst/>
          </a:prstGeom>
          <a:solidFill>
            <a:srgbClr val="f1f5f9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"/>
          <p:cNvSpPr txBox="1"/>
          <p:nvPr/>
        </p:nvSpPr>
        <p:spPr>
          <a:xfrm>
            <a:off x="731520" y="5879520"/>
            <a:ext cx="10716840" cy="54900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0" lang="en-US" sz="1300" spc="-1" strike="noStrike">
                <a:solidFill>
                  <a:srgbClr val="475569"/>
                </a:solidFill>
                <a:latin typeface="Arial"/>
              </a:rPr>
              <a:t>Implemented. One immutable definition binds profile, contract, modes, conditions, capabilities, version, and digest.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621720" y="6291000"/>
            <a:ext cx="992124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0" lang="en-US" sz="1050" spc="-1" strike="noStrike">
                <a:solidFill>
                  <a:srgbClr val="475569"/>
                </a:solidFill>
                <a:latin typeface="Arial"/>
              </a:rPr>
              <a:t>Ports, records, files, edges, and services are not additional operational node types.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10561320" y="6291000"/>
            <a:ext cx="1005840" cy="54900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r"/>
            <a:r>
              <a:rPr b="1" lang="en-US" sz="1050" spc="-1" strike="noStrike">
                <a:solidFill>
                  <a:srgbClr val="64748b"/>
                </a:solidFill>
                <a:latin typeface="Arial"/>
              </a:rPr>
              <a:t>LOOP ENGINE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"/>
          <p:cNvSpPr/>
          <p:nvPr/>
        </p:nvSpPr>
        <p:spPr>
          <a:xfrm>
            <a:off x="1481400" y="3355920"/>
            <a:ext cx="2359080" cy="0"/>
          </a:xfrm>
          <a:prstGeom prst="line">
            <a:avLst/>
          </a:prstGeom>
          <a:ln w="16200">
            <a:solidFill>
              <a:srgbClr val="2563e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7920" rIns="97920" tIns="-52920" bIns="-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6537960" y="3355920"/>
            <a:ext cx="2331720" cy="0"/>
          </a:xfrm>
          <a:prstGeom prst="line">
            <a:avLst/>
          </a:prstGeom>
          <a:ln w="16200">
            <a:solidFill>
              <a:srgbClr val="2563e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7920" rIns="97920" tIns="-52920" bIns="-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868680" y="2971800"/>
            <a:ext cx="1645920" cy="777240"/>
          </a:xfrm>
          <a:prstGeom prst="roundRect">
            <a:avLst/>
          </a:prstGeom>
          <a:solidFill>
            <a:srgbClr val="f1f5f9"/>
          </a:solidFill>
          <a:ln w="12960">
            <a:solidFill>
              <a:srgbClr val="64748b"/>
            </a:solidFill>
            <a:round/>
          </a:ln>
        </p:spPr>
        <p:txBody>
          <a:bodyPr lIns="96480" rIns="96480" tIns="51480" bIns="5148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914400" y="2999160"/>
            <a:ext cx="1554480" cy="54900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1700" spc="-1" strike="noStrike">
                <a:solidFill>
                  <a:srgbClr val="0f172a"/>
                </a:solidFill>
                <a:latin typeface="Arial"/>
              </a:rPr>
              <a:t>Typed input ports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"/>
          <p:cNvSpPr/>
          <p:nvPr/>
        </p:nvSpPr>
        <p:spPr>
          <a:xfrm>
            <a:off x="3822120" y="2377440"/>
            <a:ext cx="2724840" cy="1938600"/>
          </a:xfrm>
          <a:prstGeom prst="ellipse">
            <a:avLst/>
          </a:prstGeom>
          <a:solidFill>
            <a:srgbClr val="dbeafe"/>
          </a:solidFill>
          <a:ln w="21600">
            <a:solidFill>
              <a:srgbClr val="2563eb"/>
            </a:solidFill>
            <a:round/>
          </a:ln>
        </p:spPr>
        <p:txBody>
          <a:bodyPr lIns="100800" rIns="100800" tIns="55800" bIns="558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3931920" y="2487240"/>
            <a:ext cx="250560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2500" spc="-1" strike="noStrike">
                <a:solidFill>
                  <a:srgbClr val="0f172a"/>
                </a:solidFill>
                <a:latin typeface="Arial"/>
              </a:rPr>
              <a:t>Loop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8851320" y="2971800"/>
            <a:ext cx="1645920" cy="777240"/>
          </a:xfrm>
          <a:prstGeom prst="roundRect">
            <a:avLst/>
          </a:prstGeom>
          <a:solidFill>
            <a:srgbClr val="f1f5f9"/>
          </a:solidFill>
          <a:ln w="12960">
            <a:solidFill>
              <a:srgbClr val="64748b"/>
            </a:solidFill>
            <a:round/>
          </a:ln>
        </p:spPr>
        <p:txBody>
          <a:bodyPr lIns="96480" rIns="96480" tIns="51480" bIns="5148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8897040" y="2999160"/>
            <a:ext cx="1554480" cy="54900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1700" spc="-1" strike="noStrike">
                <a:solidFill>
                  <a:srgbClr val="0f172a"/>
                </a:solidFill>
                <a:latin typeface="Arial"/>
              </a:rPr>
              <a:t>Typed output ports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"/>
          <p:cNvSpPr/>
          <p:nvPr/>
        </p:nvSpPr>
        <p:spPr>
          <a:xfrm>
            <a:off x="804600" y="1600200"/>
            <a:ext cx="2359080" cy="530280"/>
          </a:xfrm>
          <a:prstGeom prst="roundRect">
            <a:avLst/>
          </a:prstGeom>
          <a:solidFill>
            <a:srgbClr val="ffffff"/>
          </a:solidFill>
          <a:ln w="12960">
            <a:solidFill>
              <a:srgbClr val="cbd5e1"/>
            </a:solidFill>
            <a:round/>
          </a:ln>
        </p:spPr>
        <p:txBody>
          <a:bodyPr lIns="96480" rIns="96480" tIns="51480" bIns="5148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850320" y="1627560"/>
            <a:ext cx="226764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0" lang="en-US" sz="1600" spc="-1" strike="noStrike">
                <a:solidFill>
                  <a:srgbClr val="0f172a"/>
                </a:solidFill>
                <a:latin typeface="Arial"/>
              </a:rPr>
              <a:t>Versioned role profile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"/>
          <p:cNvSpPr/>
          <p:nvPr/>
        </p:nvSpPr>
        <p:spPr>
          <a:xfrm>
            <a:off x="3465720" y="1600200"/>
            <a:ext cx="2359080" cy="530280"/>
          </a:xfrm>
          <a:prstGeom prst="roundRect">
            <a:avLst/>
          </a:prstGeom>
          <a:solidFill>
            <a:srgbClr val="ffffff"/>
          </a:solidFill>
          <a:ln w="12960">
            <a:solidFill>
              <a:srgbClr val="cbd5e1"/>
            </a:solidFill>
            <a:round/>
          </a:ln>
        </p:spPr>
        <p:txBody>
          <a:bodyPr lIns="96480" rIns="96480" tIns="51480" bIns="5148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3511440" y="1627560"/>
            <a:ext cx="226764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0" lang="en-US" sz="1600" spc="-1" strike="noStrike">
                <a:solidFill>
                  <a:srgbClr val="0f172a"/>
                </a:solidFill>
                <a:latin typeface="Arial"/>
              </a:rPr>
              <a:t>Selected run mode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"/>
          <p:cNvSpPr/>
          <p:nvPr/>
        </p:nvSpPr>
        <p:spPr>
          <a:xfrm>
            <a:off x="6126480" y="1600200"/>
            <a:ext cx="2359080" cy="530280"/>
          </a:xfrm>
          <a:prstGeom prst="roundRect">
            <a:avLst/>
          </a:prstGeom>
          <a:solidFill>
            <a:srgbClr val="ffffff"/>
          </a:solidFill>
          <a:ln w="12960">
            <a:solidFill>
              <a:srgbClr val="cbd5e1"/>
            </a:solidFill>
            <a:round/>
          </a:ln>
        </p:spPr>
        <p:txBody>
          <a:bodyPr lIns="96480" rIns="96480" tIns="51480" bIns="5148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"/>
          <p:cNvSpPr txBox="1"/>
          <p:nvPr/>
        </p:nvSpPr>
        <p:spPr>
          <a:xfrm>
            <a:off x="6172200" y="1627560"/>
            <a:ext cx="226764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0" lang="en-US" sz="1600" spc="-1" strike="noStrike">
                <a:solidFill>
                  <a:srgbClr val="0f172a"/>
                </a:solidFill>
                <a:latin typeface="Arial"/>
              </a:rPr>
              <a:t>Step profile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>
            <a:off x="8787240" y="1600200"/>
            <a:ext cx="2359080" cy="530280"/>
          </a:xfrm>
          <a:prstGeom prst="roundRect">
            <a:avLst/>
          </a:prstGeom>
          <a:solidFill>
            <a:srgbClr val="ffffff"/>
          </a:solidFill>
          <a:ln w="12960">
            <a:solidFill>
              <a:srgbClr val="cbd5e1"/>
            </a:solidFill>
            <a:round/>
          </a:ln>
        </p:spPr>
        <p:txBody>
          <a:bodyPr lIns="96480" rIns="96480" tIns="51480" bIns="5148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8832960" y="1627560"/>
            <a:ext cx="226764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0" lang="en-US" sz="1600" spc="-1" strike="noStrike">
                <a:solidFill>
                  <a:srgbClr val="0f172a"/>
                </a:solidFill>
                <a:latin typeface="Arial"/>
              </a:rPr>
              <a:t>Loop condition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"/>
          <p:cNvSpPr/>
          <p:nvPr/>
        </p:nvSpPr>
        <p:spPr>
          <a:xfrm>
            <a:off x="804600" y="4617720"/>
            <a:ext cx="2359080" cy="530280"/>
          </a:xfrm>
          <a:prstGeom prst="roundRect">
            <a:avLst/>
          </a:prstGeom>
          <a:solidFill>
            <a:srgbClr val="ffffff"/>
          </a:solidFill>
          <a:ln w="12960">
            <a:solidFill>
              <a:srgbClr val="cbd5e1"/>
            </a:solidFill>
            <a:round/>
          </a:ln>
        </p:spPr>
        <p:txBody>
          <a:bodyPr lIns="96480" rIns="96480" tIns="51480" bIns="5148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"/>
          <p:cNvSpPr txBox="1"/>
          <p:nvPr/>
        </p:nvSpPr>
        <p:spPr>
          <a:xfrm>
            <a:off x="850320" y="4645080"/>
            <a:ext cx="226764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0" lang="en-US" sz="1600" spc="-1" strike="noStrike">
                <a:solidFill>
                  <a:srgbClr val="0f172a"/>
                </a:solidFill>
                <a:latin typeface="Arial"/>
              </a:rPr>
              <a:t>Exit condition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"/>
          <p:cNvSpPr/>
          <p:nvPr/>
        </p:nvSpPr>
        <p:spPr>
          <a:xfrm>
            <a:off x="3465720" y="4617720"/>
            <a:ext cx="2359080" cy="530280"/>
          </a:xfrm>
          <a:prstGeom prst="roundRect">
            <a:avLst/>
          </a:prstGeom>
          <a:solidFill>
            <a:srgbClr val="ffffff"/>
          </a:solidFill>
          <a:ln w="12960">
            <a:solidFill>
              <a:srgbClr val="cbd5e1"/>
            </a:solidFill>
            <a:round/>
          </a:ln>
        </p:spPr>
        <p:txBody>
          <a:bodyPr lIns="96480" rIns="96480" tIns="51480" bIns="5148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3511440" y="4645080"/>
            <a:ext cx="2267640" cy="54900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0" lang="en-US" sz="1600" spc="-1" strike="noStrike">
                <a:solidFill>
                  <a:srgbClr val="0f172a"/>
                </a:solidFill>
                <a:latin typeface="Arial"/>
              </a:rPr>
              <a:t>Budget and permissions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"/>
          <p:cNvSpPr/>
          <p:nvPr/>
        </p:nvSpPr>
        <p:spPr>
          <a:xfrm>
            <a:off x="6126480" y="4617720"/>
            <a:ext cx="2359080" cy="530280"/>
          </a:xfrm>
          <a:prstGeom prst="roundRect">
            <a:avLst/>
          </a:prstGeom>
          <a:solidFill>
            <a:srgbClr val="ffffff"/>
          </a:solidFill>
          <a:ln w="12960">
            <a:solidFill>
              <a:srgbClr val="cbd5e1"/>
            </a:solidFill>
            <a:round/>
          </a:ln>
        </p:spPr>
        <p:txBody>
          <a:bodyPr lIns="96480" rIns="96480" tIns="51480" bIns="5148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6172200" y="4645080"/>
            <a:ext cx="226764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0" lang="en-US" sz="1600" spc="-1" strike="noStrike">
                <a:solidFill>
                  <a:srgbClr val="0f172a"/>
                </a:solidFill>
                <a:latin typeface="Arial"/>
              </a:rPr>
              <a:t>Graph relationships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"/>
          <p:cNvSpPr/>
          <p:nvPr/>
        </p:nvSpPr>
        <p:spPr>
          <a:xfrm>
            <a:off x="8787240" y="4617720"/>
            <a:ext cx="2359080" cy="530280"/>
          </a:xfrm>
          <a:prstGeom prst="roundRect">
            <a:avLst/>
          </a:prstGeom>
          <a:solidFill>
            <a:srgbClr val="ffffff"/>
          </a:solidFill>
          <a:ln w="12960">
            <a:solidFill>
              <a:srgbClr val="cbd5e1"/>
            </a:solidFill>
            <a:round/>
          </a:ln>
        </p:spPr>
        <p:txBody>
          <a:bodyPr lIns="96480" rIns="96480" tIns="51480" bIns="5148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8832960" y="4645080"/>
            <a:ext cx="226764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0" lang="en-US" sz="1600" spc="-1" strike="noStrike">
                <a:solidFill>
                  <a:srgbClr val="0f172a"/>
                </a:solidFill>
                <a:latin typeface="Arial"/>
              </a:rPr>
              <a:t>Run History events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8fafc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"/>
          <p:cNvSpPr/>
          <p:nvPr/>
        </p:nvSpPr>
        <p:spPr>
          <a:xfrm>
            <a:off x="0" y="0"/>
            <a:ext cx="12192120" cy="73080"/>
          </a:xfrm>
          <a:prstGeom prst="rect">
            <a:avLst/>
          </a:prstGeom>
          <a:solidFill>
            <a:srgbClr val="2563eb"/>
          </a:solidFill>
          <a:ln w="0">
            <a:noFill/>
          </a:ln>
        </p:spPr>
        <p:txBody>
          <a:bodyPr lIns="90000" rIns="90000" tIns="28080" bIns="2808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621720" y="210240"/>
            <a:ext cx="804672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1" lang="en-US" sz="1100" spc="-1" strike="noStrike">
                <a:solidFill>
                  <a:srgbClr val="2563eb"/>
                </a:solidFill>
                <a:latin typeface="Arial"/>
              </a:rPr>
              <a:t>TYPED BOUNDARIES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10698480" y="201240"/>
            <a:ext cx="86868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r"/>
            <a:r>
              <a:rPr b="1" lang="en-US" sz="1100" spc="-1" strike="noStrike">
                <a:solidFill>
                  <a:srgbClr val="475569"/>
                </a:solidFill>
                <a:latin typeface="Arial"/>
              </a:rPr>
              <a:t>04 / 26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621720" y="438840"/>
            <a:ext cx="1024128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t">
            <a:noAutofit/>
          </a:bodyPr>
          <a:p>
            <a:r>
              <a:rPr b="1" lang="en-US" sz="3200" spc="-1" strike="noStrike">
                <a:solidFill>
                  <a:srgbClr val="0f172a"/>
                </a:solidFill>
                <a:latin typeface="Arial"/>
              </a:rPr>
              <a:t>Input, work, validated output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621720" y="969120"/>
            <a:ext cx="1097280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0" lang="en-US" sz="1700" spc="-1" strike="noStrike">
                <a:solidFill>
                  <a:srgbClr val="475569"/>
                </a:solidFill>
                <a:latin typeface="Arial"/>
              </a:rPr>
              <a:t>A connection runs only when the source output matches the destination input.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"/>
          <p:cNvSpPr/>
          <p:nvPr/>
        </p:nvSpPr>
        <p:spPr>
          <a:xfrm>
            <a:off x="621720" y="5843160"/>
            <a:ext cx="10945440" cy="393120"/>
          </a:xfrm>
          <a:prstGeom prst="roundRect">
            <a:avLst/>
          </a:prstGeom>
          <a:solidFill>
            <a:srgbClr val="f1f5f9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731520" y="5879520"/>
            <a:ext cx="1071684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0" lang="en-US" sz="1300" spc="-1" strike="noStrike">
                <a:solidFill>
                  <a:srgbClr val="475569"/>
                </a:solidFill>
                <a:latin typeface="Arial"/>
              </a:rPr>
              <a:t>Current port checks use role labels. Full value-schema enforcement remains planned.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621720" y="6291000"/>
            <a:ext cx="992124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0" lang="en-US" sz="1050" spc="-1" strike="noStrike">
                <a:solidFill>
                  <a:srgbClr val="475569"/>
                </a:solidFill>
                <a:latin typeface="Arial"/>
              </a:rPr>
              <a:t>Schema version, shape, optionality, units, and encoding belong in the port contract.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10561320" y="6291000"/>
            <a:ext cx="1005840" cy="54900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r"/>
            <a:r>
              <a:rPr b="1" lang="en-US" sz="1050" spc="-1" strike="noStrike">
                <a:solidFill>
                  <a:srgbClr val="64748b"/>
                </a:solidFill>
                <a:latin typeface="Arial"/>
              </a:rPr>
              <a:t>LOOP ENGINE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"/>
          <p:cNvSpPr/>
          <p:nvPr/>
        </p:nvSpPr>
        <p:spPr>
          <a:xfrm>
            <a:off x="3154680" y="3035880"/>
            <a:ext cx="1536120" cy="0"/>
          </a:xfrm>
          <a:prstGeom prst="line">
            <a:avLst/>
          </a:prstGeom>
          <a:ln w="16200">
            <a:solidFill>
              <a:srgbClr val="15803d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7920" rIns="97920" tIns="-52920" bIns="-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"/>
          <p:cNvSpPr/>
          <p:nvPr/>
        </p:nvSpPr>
        <p:spPr>
          <a:xfrm>
            <a:off x="6839640" y="3035880"/>
            <a:ext cx="1545480" cy="0"/>
          </a:xfrm>
          <a:prstGeom prst="line">
            <a:avLst/>
          </a:prstGeom>
          <a:ln w="16200">
            <a:solidFill>
              <a:srgbClr val="15803d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7920" rIns="97920" tIns="-52920" bIns="-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"/>
          <p:cNvSpPr/>
          <p:nvPr/>
        </p:nvSpPr>
        <p:spPr>
          <a:xfrm>
            <a:off x="804600" y="2240280"/>
            <a:ext cx="2331720" cy="1591200"/>
          </a:xfrm>
          <a:prstGeom prst="roundRect">
            <a:avLst/>
          </a:prstGeom>
          <a:solidFill>
            <a:srgbClr val="ffffff"/>
          </a:solidFill>
          <a:ln w="16200">
            <a:solidFill>
              <a:srgbClr val="64748b"/>
            </a:solidFill>
            <a:round/>
          </a:ln>
        </p:spPr>
        <p:txBody>
          <a:bodyPr lIns="97920" rIns="97920" tIns="52920" bIns="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941760" y="2395800"/>
            <a:ext cx="205740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2000" spc="-1" strike="noStrike">
                <a:solidFill>
                  <a:srgbClr val="0f172a"/>
                </a:solidFill>
                <a:latin typeface="Arial"/>
              </a:rPr>
              <a:t>Input value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941760" y="2834640"/>
            <a:ext cx="205740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1600" spc="-1" strike="noStrike">
                <a:solidFill>
                  <a:srgbClr val="2563eb"/>
                </a:solidFill>
                <a:latin typeface="Arial"/>
              </a:rPr>
              <a:t>pdf_document@2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"/>
          <p:cNvSpPr txBox="1"/>
          <p:nvPr/>
        </p:nvSpPr>
        <p:spPr>
          <a:xfrm>
            <a:off x="941760" y="3209400"/>
            <a:ext cx="205740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0" lang="en-US" sz="1600" spc="-1" strike="noStrike">
                <a:solidFill>
                  <a:srgbClr val="475569"/>
                </a:solidFill>
                <a:latin typeface="Arial"/>
              </a:rPr>
              <a:t>document.pdf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8394120" y="2240280"/>
            <a:ext cx="2331720" cy="1591200"/>
          </a:xfrm>
          <a:prstGeom prst="roundRect">
            <a:avLst/>
          </a:prstGeom>
          <a:solidFill>
            <a:srgbClr val="ffffff"/>
          </a:solidFill>
          <a:ln w="16200">
            <a:solidFill>
              <a:srgbClr val="64748b"/>
            </a:solidFill>
            <a:round/>
          </a:ln>
        </p:spPr>
        <p:txBody>
          <a:bodyPr lIns="97920" rIns="97920" tIns="52920" bIns="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"/>
          <p:cNvSpPr txBox="1"/>
          <p:nvPr/>
        </p:nvSpPr>
        <p:spPr>
          <a:xfrm>
            <a:off x="8531280" y="2395800"/>
            <a:ext cx="205740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2000" spc="-1" strike="noStrike">
                <a:solidFill>
                  <a:srgbClr val="0f172a"/>
                </a:solidFill>
                <a:latin typeface="Arial"/>
              </a:rPr>
              <a:t>Output value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8531280" y="2834640"/>
            <a:ext cx="205740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1600" spc="-1" strike="noStrike">
                <a:solidFill>
                  <a:srgbClr val="2563eb"/>
                </a:solidFill>
                <a:latin typeface="Arial"/>
              </a:rPr>
              <a:t>table_rows@3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"/>
          <p:cNvSpPr txBox="1"/>
          <p:nvPr/>
        </p:nvSpPr>
        <p:spPr>
          <a:xfrm>
            <a:off x="8531280" y="3209400"/>
            <a:ext cx="205740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0" lang="en-US" sz="1600" spc="-1" strike="noStrike">
                <a:solidFill>
                  <a:srgbClr val="475569"/>
                </a:solidFill>
                <a:latin typeface="Arial"/>
              </a:rPr>
              <a:t>validated rows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"/>
          <p:cNvSpPr/>
          <p:nvPr/>
        </p:nvSpPr>
        <p:spPr>
          <a:xfrm>
            <a:off x="4663440" y="2011680"/>
            <a:ext cx="2194560" cy="2030040"/>
          </a:xfrm>
          <a:prstGeom prst="ellipse">
            <a:avLst/>
          </a:prstGeom>
          <a:solidFill>
            <a:srgbClr val="dcfce7"/>
          </a:solidFill>
          <a:ln w="21600">
            <a:solidFill>
              <a:srgbClr val="15803d"/>
            </a:solidFill>
            <a:round/>
          </a:ln>
        </p:spPr>
        <p:txBody>
          <a:bodyPr lIns="100800" rIns="100800" tIns="55800" bIns="558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"/>
          <p:cNvSpPr txBox="1"/>
          <p:nvPr/>
        </p:nvSpPr>
        <p:spPr>
          <a:xfrm>
            <a:off x="4773240" y="2121480"/>
            <a:ext cx="197496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2000" spc="-1" strike="noStrike">
                <a:solidFill>
                  <a:srgbClr val="0f172a"/>
                </a:solidFill>
                <a:latin typeface="Arial"/>
              </a:rPr>
              <a:t>Extraction Loop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"/>
          <p:cNvSpPr txBox="1"/>
          <p:nvPr/>
        </p:nvSpPr>
        <p:spPr>
          <a:xfrm>
            <a:off x="4663440" y="4069080"/>
            <a:ext cx="2194560" cy="54900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1400" spc="-1" strike="noStrike">
                <a:solidFill>
                  <a:srgbClr val="15803d"/>
                </a:solidFill>
                <a:latin typeface="Arial"/>
              </a:rPr>
              <a:t>solution.component@1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3337560" y="4736520"/>
            <a:ext cx="4800600" cy="567000"/>
          </a:xfrm>
          <a:prstGeom prst="roundRect">
            <a:avLst/>
          </a:prstGeom>
          <a:solidFill>
            <a:srgbClr val="dcfce7"/>
          </a:solidFill>
          <a:ln w="12960">
            <a:solidFill>
              <a:srgbClr val="15803d"/>
            </a:solidFill>
            <a:round/>
          </a:ln>
        </p:spPr>
        <p:txBody>
          <a:bodyPr lIns="96480" rIns="96480" tIns="51480" bIns="5148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3383280" y="4763880"/>
            <a:ext cx="470916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1800" spc="-1" strike="noStrike">
                <a:solidFill>
                  <a:srgbClr val="15803d"/>
                </a:solidFill>
                <a:latin typeface="Arial"/>
              </a:rPr>
              <a:t>Connection check before execution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8fafc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"/>
          <p:cNvSpPr/>
          <p:nvPr/>
        </p:nvSpPr>
        <p:spPr>
          <a:xfrm>
            <a:off x="0" y="0"/>
            <a:ext cx="12192120" cy="73080"/>
          </a:xfrm>
          <a:prstGeom prst="rect">
            <a:avLst/>
          </a:prstGeom>
          <a:solidFill>
            <a:srgbClr val="2563eb"/>
          </a:solidFill>
          <a:ln w="0">
            <a:noFill/>
          </a:ln>
        </p:spPr>
        <p:txBody>
          <a:bodyPr lIns="90000" rIns="90000" tIns="28080" bIns="2808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"/>
          <p:cNvSpPr txBox="1"/>
          <p:nvPr/>
        </p:nvSpPr>
        <p:spPr>
          <a:xfrm>
            <a:off x="621720" y="210240"/>
            <a:ext cx="804672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1" lang="en-US" sz="1100" spc="-1" strike="noStrike">
                <a:solidFill>
                  <a:srgbClr val="2563eb"/>
                </a:solidFill>
                <a:latin typeface="Arial"/>
              </a:rPr>
              <a:t>IDENTITY AND EXECUTION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"/>
          <p:cNvSpPr txBox="1"/>
          <p:nvPr/>
        </p:nvSpPr>
        <p:spPr>
          <a:xfrm>
            <a:off x="10698480" y="201240"/>
            <a:ext cx="86868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r"/>
            <a:r>
              <a:rPr b="1" lang="en-US" sz="1100" spc="-1" strike="noStrike">
                <a:solidFill>
                  <a:srgbClr val="475569"/>
                </a:solidFill>
                <a:latin typeface="Arial"/>
              </a:rPr>
              <a:t>05 / 26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"/>
          <p:cNvSpPr txBox="1"/>
          <p:nvPr/>
        </p:nvSpPr>
        <p:spPr>
          <a:xfrm>
            <a:off x="621720" y="438840"/>
            <a:ext cx="1024128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t">
            <a:noAutofit/>
          </a:bodyPr>
          <a:p>
            <a:r>
              <a:rPr b="1" lang="en-US" sz="3200" spc="-1" strike="noStrike">
                <a:solidFill>
                  <a:srgbClr val="0f172a"/>
                </a:solidFill>
                <a:latin typeface="Arial"/>
              </a:rPr>
              <a:t>Definition first, instance second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"/>
          <p:cNvSpPr txBox="1"/>
          <p:nvPr/>
        </p:nvSpPr>
        <p:spPr>
          <a:xfrm>
            <a:off x="621720" y="969120"/>
            <a:ext cx="1097280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0" lang="en-US" sz="1700" spc="-1" strike="noStrike">
                <a:solidFill>
                  <a:srgbClr val="475569"/>
                </a:solidFill>
                <a:latin typeface="Arial"/>
              </a:rPr>
              <a:t>The definition states what may run. The instance records one actual run.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"/>
          <p:cNvSpPr/>
          <p:nvPr/>
        </p:nvSpPr>
        <p:spPr>
          <a:xfrm>
            <a:off x="621720" y="5843160"/>
            <a:ext cx="10945440" cy="393120"/>
          </a:xfrm>
          <a:prstGeom prst="roundRect">
            <a:avLst/>
          </a:prstGeom>
          <a:solidFill>
            <a:srgbClr val="f1f5f9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"/>
          <p:cNvSpPr txBox="1"/>
          <p:nvPr/>
        </p:nvSpPr>
        <p:spPr>
          <a:xfrm>
            <a:off x="731520" y="5879520"/>
            <a:ext cx="1071684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0" lang="en-US" sz="1300" spc="-1" strike="noStrike">
                <a:solidFill>
                  <a:srgbClr val="475569"/>
                </a:solidFill>
                <a:latin typeface="Arial"/>
              </a:rPr>
              <a:t>Implemented. Every current Loop event includes its exact definition ID, version, and content digest.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"/>
          <p:cNvSpPr txBox="1"/>
          <p:nvPr/>
        </p:nvSpPr>
        <p:spPr>
          <a:xfrm>
            <a:off x="621720" y="6291000"/>
            <a:ext cx="992124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0" lang="en-US" sz="1050" spc="-1" strike="noStrike">
                <a:solidFill>
                  <a:srgbClr val="475569"/>
                </a:solidFill>
                <a:latin typeface="Arial"/>
              </a:rPr>
              <a:t>A graph vertex should resolve to an exact definition ID, version, and content digest.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"/>
          <p:cNvSpPr txBox="1"/>
          <p:nvPr/>
        </p:nvSpPr>
        <p:spPr>
          <a:xfrm>
            <a:off x="10561320" y="6291000"/>
            <a:ext cx="1005840" cy="54900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r"/>
            <a:r>
              <a:rPr b="1" lang="en-US" sz="1050" spc="-1" strike="noStrike">
                <a:solidFill>
                  <a:srgbClr val="64748b"/>
                </a:solidFill>
                <a:latin typeface="Arial"/>
              </a:rPr>
              <a:t>LOOP ENGINE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"/>
          <p:cNvSpPr/>
          <p:nvPr/>
        </p:nvSpPr>
        <p:spPr>
          <a:xfrm>
            <a:off x="777240" y="1664280"/>
            <a:ext cx="5139000" cy="4005000"/>
          </a:xfrm>
          <a:prstGeom prst="roundRect">
            <a:avLst/>
          </a:prstGeom>
          <a:solidFill>
            <a:srgbClr val="f1f5f9"/>
          </a:solidFill>
          <a:ln w="17280">
            <a:solidFill>
              <a:srgbClr val="64748b"/>
            </a:solidFill>
            <a:round/>
          </a:ln>
        </p:spPr>
        <p:txBody>
          <a:bodyPr lIns="98640" rIns="98640" tIns="53640" bIns="536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"/>
          <p:cNvSpPr txBox="1"/>
          <p:nvPr/>
        </p:nvSpPr>
        <p:spPr>
          <a:xfrm>
            <a:off x="1033200" y="1920240"/>
            <a:ext cx="461772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1" lang="en-US" sz="2600" spc="-1" strike="noStrike">
                <a:solidFill>
                  <a:srgbClr val="64748b"/>
                </a:solidFill>
                <a:latin typeface="Arial"/>
              </a:rPr>
              <a:t>LoopDefinition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"/>
          <p:cNvSpPr txBox="1"/>
          <p:nvPr/>
        </p:nvSpPr>
        <p:spPr>
          <a:xfrm>
            <a:off x="1069920" y="2633400"/>
            <a:ext cx="42048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1" lang="en-US" sz="1600" spc="-1" strike="noStrike">
                <a:solidFill>
                  <a:srgbClr val="64748b"/>
                </a:solidFill>
                <a:latin typeface="Arial"/>
              </a:rPr>
              <a:t>01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"/>
          <p:cNvSpPr txBox="1"/>
          <p:nvPr/>
        </p:nvSpPr>
        <p:spPr>
          <a:xfrm>
            <a:off x="1545480" y="2560320"/>
            <a:ext cx="395028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0" lang="en-US" sz="1700" spc="-1" strike="noStrike">
                <a:solidFill>
                  <a:srgbClr val="0f172a"/>
                </a:solidFill>
                <a:latin typeface="Arial"/>
              </a:rPr>
              <a:t>ID, semantic version, digest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"/>
          <p:cNvSpPr txBox="1"/>
          <p:nvPr/>
        </p:nvSpPr>
        <p:spPr>
          <a:xfrm>
            <a:off x="1069920" y="3273480"/>
            <a:ext cx="42048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1" lang="en-US" sz="1600" spc="-1" strike="noStrike">
                <a:solidFill>
                  <a:srgbClr val="64748b"/>
                </a:solidFill>
                <a:latin typeface="Arial"/>
              </a:rPr>
              <a:t>02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"/>
          <p:cNvSpPr txBox="1"/>
          <p:nvPr/>
        </p:nvSpPr>
        <p:spPr>
          <a:xfrm>
            <a:off x="1545480" y="3200400"/>
            <a:ext cx="395028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0" lang="en-US" sz="1700" spc="-1" strike="noStrike">
                <a:solidFill>
                  <a:srgbClr val="0f172a"/>
                </a:solidFill>
                <a:latin typeface="Arial"/>
              </a:rPr>
              <a:t>role and exact profile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"/>
          <p:cNvSpPr txBox="1"/>
          <p:nvPr/>
        </p:nvSpPr>
        <p:spPr>
          <a:xfrm>
            <a:off x="1069920" y="3913560"/>
            <a:ext cx="42048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1" lang="en-US" sz="1600" spc="-1" strike="noStrike">
                <a:solidFill>
                  <a:srgbClr val="64748b"/>
                </a:solidFill>
                <a:latin typeface="Arial"/>
              </a:rPr>
              <a:t>03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"/>
          <p:cNvSpPr txBox="1"/>
          <p:nvPr/>
        </p:nvSpPr>
        <p:spPr>
          <a:xfrm>
            <a:off x="1545480" y="3840480"/>
            <a:ext cx="395028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0" lang="en-US" sz="1700" spc="-1" strike="noStrike">
                <a:solidFill>
                  <a:srgbClr val="0f172a"/>
                </a:solidFill>
                <a:latin typeface="Arial"/>
              </a:rPr>
              <a:t>typed ports and settings schema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"/>
          <p:cNvSpPr txBox="1"/>
          <p:nvPr/>
        </p:nvSpPr>
        <p:spPr>
          <a:xfrm>
            <a:off x="1069920" y="4553640"/>
            <a:ext cx="42048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1" lang="en-US" sz="1600" spc="-1" strike="noStrike">
                <a:solidFill>
                  <a:srgbClr val="64748b"/>
                </a:solidFill>
                <a:latin typeface="Arial"/>
              </a:rPr>
              <a:t>04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"/>
          <p:cNvSpPr txBox="1"/>
          <p:nvPr/>
        </p:nvSpPr>
        <p:spPr>
          <a:xfrm>
            <a:off x="1545480" y="4480560"/>
            <a:ext cx="395028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0" lang="en-US" sz="1700" spc="-1" strike="noStrike">
                <a:solidFill>
                  <a:srgbClr val="0f172a"/>
                </a:solidFill>
                <a:latin typeface="Arial"/>
              </a:rPr>
              <a:t>supported modes and effects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"/>
          <p:cNvSpPr/>
          <p:nvPr/>
        </p:nvSpPr>
        <p:spPr>
          <a:xfrm>
            <a:off x="6336720" y="1664280"/>
            <a:ext cx="5139000" cy="4005000"/>
          </a:xfrm>
          <a:prstGeom prst="roundRect">
            <a:avLst/>
          </a:prstGeom>
          <a:solidFill>
            <a:srgbClr val="dbeafe"/>
          </a:solidFill>
          <a:ln w="17280">
            <a:solidFill>
              <a:srgbClr val="2563eb"/>
            </a:solidFill>
            <a:round/>
          </a:ln>
        </p:spPr>
        <p:txBody>
          <a:bodyPr lIns="98640" rIns="98640" tIns="53640" bIns="536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"/>
          <p:cNvSpPr txBox="1"/>
          <p:nvPr/>
        </p:nvSpPr>
        <p:spPr>
          <a:xfrm>
            <a:off x="6592680" y="1920240"/>
            <a:ext cx="461772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1" lang="en-US" sz="2600" spc="-1" strike="noStrike">
                <a:solidFill>
                  <a:srgbClr val="2563eb"/>
                </a:solidFill>
                <a:latin typeface="Arial"/>
              </a:rPr>
              <a:t>LoopInstance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"/>
          <p:cNvSpPr txBox="1"/>
          <p:nvPr/>
        </p:nvSpPr>
        <p:spPr>
          <a:xfrm>
            <a:off x="6629400" y="2633400"/>
            <a:ext cx="42048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1" lang="en-US" sz="1600" spc="-1" strike="noStrike">
                <a:solidFill>
                  <a:srgbClr val="2563eb"/>
                </a:solidFill>
                <a:latin typeface="Arial"/>
              </a:rPr>
              <a:t>01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"/>
          <p:cNvSpPr txBox="1"/>
          <p:nvPr/>
        </p:nvSpPr>
        <p:spPr>
          <a:xfrm>
            <a:off x="7104960" y="2560320"/>
            <a:ext cx="395028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0" lang="en-US" sz="1700" spc="-1" strike="noStrike">
                <a:solidFill>
                  <a:srgbClr val="0f172a"/>
                </a:solidFill>
                <a:latin typeface="Arial"/>
              </a:rPr>
              <a:t>instance ID and definition reference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"/>
          <p:cNvSpPr txBox="1"/>
          <p:nvPr/>
        </p:nvSpPr>
        <p:spPr>
          <a:xfrm>
            <a:off x="6629400" y="3273480"/>
            <a:ext cx="42048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1" lang="en-US" sz="1600" spc="-1" strike="noStrike">
                <a:solidFill>
                  <a:srgbClr val="2563eb"/>
                </a:solidFill>
                <a:latin typeface="Arial"/>
              </a:rPr>
              <a:t>02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"/>
          <p:cNvSpPr txBox="1"/>
          <p:nvPr/>
        </p:nvSpPr>
        <p:spPr>
          <a:xfrm>
            <a:off x="7104960" y="3200400"/>
            <a:ext cx="395028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0" lang="en-US" sz="1700" spc="-1" strike="noStrike">
                <a:solidFill>
                  <a:srgbClr val="0f172a"/>
                </a:solidFill>
                <a:latin typeface="Arial"/>
              </a:rPr>
              <a:t>selected mode and validated input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"/>
          <p:cNvSpPr txBox="1"/>
          <p:nvPr/>
        </p:nvSpPr>
        <p:spPr>
          <a:xfrm>
            <a:off x="6629400" y="3913560"/>
            <a:ext cx="42048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1" lang="en-US" sz="1600" spc="-1" strike="noStrike">
                <a:solidFill>
                  <a:srgbClr val="2563eb"/>
                </a:solidFill>
                <a:latin typeface="Arial"/>
              </a:rPr>
              <a:t>03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"/>
          <p:cNvSpPr txBox="1"/>
          <p:nvPr/>
        </p:nvSpPr>
        <p:spPr>
          <a:xfrm>
            <a:off x="7104960" y="3840480"/>
            <a:ext cx="395028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0" lang="en-US" sz="1700" spc="-1" strike="noStrike">
                <a:solidFill>
                  <a:srgbClr val="0f172a"/>
                </a:solidFill>
                <a:latin typeface="Arial"/>
              </a:rPr>
              <a:t>status, counters, and relationships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"/>
          <p:cNvSpPr txBox="1"/>
          <p:nvPr/>
        </p:nvSpPr>
        <p:spPr>
          <a:xfrm>
            <a:off x="6629400" y="4553640"/>
            <a:ext cx="42048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1" lang="en-US" sz="1600" spc="-1" strike="noStrike">
                <a:solidFill>
                  <a:srgbClr val="2563eb"/>
                </a:solidFill>
                <a:latin typeface="Arial"/>
              </a:rPr>
              <a:t>04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"/>
          <p:cNvSpPr txBox="1"/>
          <p:nvPr/>
        </p:nvSpPr>
        <p:spPr>
          <a:xfrm>
            <a:off x="7104960" y="4480560"/>
            <a:ext cx="395028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0" lang="en-US" sz="1700" spc="-1" strike="noStrike">
                <a:solidFill>
                  <a:srgbClr val="0f172a"/>
                </a:solidFill>
                <a:latin typeface="Arial"/>
              </a:rPr>
              <a:t>outputs and Run History references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8fafc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"/>
          <p:cNvSpPr/>
          <p:nvPr/>
        </p:nvSpPr>
        <p:spPr>
          <a:xfrm>
            <a:off x="0" y="0"/>
            <a:ext cx="12192120" cy="73080"/>
          </a:xfrm>
          <a:prstGeom prst="rect">
            <a:avLst/>
          </a:prstGeom>
          <a:solidFill>
            <a:srgbClr val="2563eb"/>
          </a:solidFill>
          <a:ln w="0">
            <a:noFill/>
          </a:ln>
        </p:spPr>
        <p:txBody>
          <a:bodyPr lIns="90000" rIns="90000" tIns="28080" bIns="2808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"/>
          <p:cNvSpPr txBox="1"/>
          <p:nvPr/>
        </p:nvSpPr>
        <p:spPr>
          <a:xfrm>
            <a:off x="621720" y="210240"/>
            <a:ext cx="804672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1" lang="en-US" sz="1100" spc="-1" strike="noStrike">
                <a:solidFill>
                  <a:srgbClr val="2563eb"/>
                </a:solidFill>
                <a:latin typeface="Arial"/>
              </a:rPr>
              <a:t>RUN MODE 1 OF 3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"/>
          <p:cNvSpPr txBox="1"/>
          <p:nvPr/>
        </p:nvSpPr>
        <p:spPr>
          <a:xfrm>
            <a:off x="10698480" y="201240"/>
            <a:ext cx="86868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r"/>
            <a:r>
              <a:rPr b="1" lang="en-US" sz="1100" spc="-1" strike="noStrike">
                <a:solidFill>
                  <a:srgbClr val="475569"/>
                </a:solidFill>
                <a:latin typeface="Arial"/>
              </a:rPr>
              <a:t>06 / 26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"/>
          <p:cNvSpPr txBox="1"/>
          <p:nvPr/>
        </p:nvSpPr>
        <p:spPr>
          <a:xfrm>
            <a:off x="621720" y="438840"/>
            <a:ext cx="1024128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t">
            <a:noAutofit/>
          </a:bodyPr>
          <a:p>
            <a:r>
              <a:rPr b="1" lang="en-US" sz="3200" spc="-1" strike="noStrike">
                <a:solidFill>
                  <a:srgbClr val="0f172a"/>
                </a:solidFill>
                <a:latin typeface="Arial"/>
              </a:rPr>
              <a:t>Deterministic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"/>
          <p:cNvSpPr txBox="1"/>
          <p:nvPr/>
        </p:nvSpPr>
        <p:spPr>
          <a:xfrm>
            <a:off x="621720" y="969120"/>
            <a:ext cx="1097280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0" lang="en-US" sz="1700" spc="-1" strike="noStrike">
                <a:solidFill>
                  <a:srgbClr val="475569"/>
                </a:solidFill>
                <a:latin typeface="Arial"/>
              </a:rPr>
              <a:t>Code, rules, retrieval, or calculation leads the work.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"/>
          <p:cNvSpPr/>
          <p:nvPr/>
        </p:nvSpPr>
        <p:spPr>
          <a:xfrm>
            <a:off x="621720" y="5843160"/>
            <a:ext cx="10945440" cy="393120"/>
          </a:xfrm>
          <a:prstGeom prst="roundRect">
            <a:avLst/>
          </a:prstGeom>
          <a:solidFill>
            <a:srgbClr val="f1f5f9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"/>
          <p:cNvSpPr txBox="1"/>
          <p:nvPr/>
        </p:nvSpPr>
        <p:spPr>
          <a:xfrm>
            <a:off x="731520" y="5879520"/>
            <a:ext cx="1071684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0" lang="en-US" sz="1300" spc="-1" strike="noStrike">
                <a:solidFill>
                  <a:srgbClr val="475569"/>
                </a:solidFill>
                <a:latin typeface="Arial"/>
              </a:rPr>
              <a:t>Example: validate a schema, calculate a metric, or retrieve an exact reference.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"/>
          <p:cNvSpPr txBox="1"/>
          <p:nvPr/>
        </p:nvSpPr>
        <p:spPr>
          <a:xfrm>
            <a:off x="621720" y="6291000"/>
            <a:ext cx="992124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0" lang="en-US" sz="1050" spc="-1" strike="noStrike">
                <a:solidFill>
                  <a:srgbClr val="475569"/>
                </a:solidFill>
                <a:latin typeface="Arial"/>
              </a:rPr>
              <a:t>A deterministic Loop records zero physical model calls.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"/>
          <p:cNvSpPr txBox="1"/>
          <p:nvPr/>
        </p:nvSpPr>
        <p:spPr>
          <a:xfrm>
            <a:off x="10561320" y="6291000"/>
            <a:ext cx="1005840" cy="54900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r"/>
            <a:r>
              <a:rPr b="1" lang="en-US" sz="1050" spc="-1" strike="noStrike">
                <a:solidFill>
                  <a:srgbClr val="64748b"/>
                </a:solidFill>
                <a:latin typeface="Arial"/>
              </a:rPr>
              <a:t>LOOP ENGINE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"/>
          <p:cNvSpPr/>
          <p:nvPr/>
        </p:nvSpPr>
        <p:spPr>
          <a:xfrm>
            <a:off x="868680" y="2139840"/>
            <a:ext cx="2331720" cy="1883520"/>
          </a:xfrm>
          <a:prstGeom prst="ellipse">
            <a:avLst/>
          </a:prstGeom>
          <a:solidFill>
            <a:srgbClr val="dbeafe"/>
          </a:solidFill>
          <a:ln w="21600">
            <a:solidFill>
              <a:srgbClr val="2563eb"/>
            </a:solidFill>
            <a:round/>
          </a:ln>
        </p:spPr>
        <p:txBody>
          <a:bodyPr lIns="100800" rIns="100800" tIns="55800" bIns="558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"/>
          <p:cNvSpPr txBox="1"/>
          <p:nvPr/>
        </p:nvSpPr>
        <p:spPr>
          <a:xfrm>
            <a:off x="978480" y="2249280"/>
            <a:ext cx="2112120" cy="54900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2000" spc="-1" strike="noStrike">
                <a:solidFill>
                  <a:srgbClr val="0f172a"/>
                </a:solidFill>
                <a:latin typeface="Arial"/>
              </a:rPr>
              <a:t>Schema validation Loop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"/>
          <p:cNvSpPr/>
          <p:nvPr/>
        </p:nvSpPr>
        <p:spPr>
          <a:xfrm>
            <a:off x="3794760" y="3090600"/>
            <a:ext cx="521280" cy="0"/>
          </a:xfrm>
          <a:prstGeom prst="line">
            <a:avLst/>
          </a:prstGeom>
          <a:ln w="16200">
            <a:solidFill>
              <a:srgbClr val="64748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7920" rIns="97920" tIns="-52920" bIns="-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"/>
          <p:cNvSpPr/>
          <p:nvPr/>
        </p:nvSpPr>
        <p:spPr>
          <a:xfrm>
            <a:off x="6190560" y="3090600"/>
            <a:ext cx="521280" cy="0"/>
          </a:xfrm>
          <a:prstGeom prst="line">
            <a:avLst/>
          </a:prstGeom>
          <a:ln w="16200">
            <a:solidFill>
              <a:srgbClr val="64748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7920" rIns="97920" tIns="-52920" bIns="-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"/>
          <p:cNvSpPr/>
          <p:nvPr/>
        </p:nvSpPr>
        <p:spPr>
          <a:xfrm>
            <a:off x="4343400" y="2606040"/>
            <a:ext cx="1874520" cy="932760"/>
          </a:xfrm>
          <a:prstGeom prst="roundRect">
            <a:avLst/>
          </a:prstGeom>
          <a:solidFill>
            <a:srgbClr val="ffffff"/>
          </a:solidFill>
          <a:ln w="12960">
            <a:solidFill>
              <a:srgbClr val="cbd5e1"/>
            </a:solidFill>
            <a:round/>
          </a:ln>
        </p:spPr>
        <p:txBody>
          <a:bodyPr lIns="96480" rIns="96480" tIns="51480" bIns="5148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"/>
          <p:cNvSpPr txBox="1"/>
          <p:nvPr/>
        </p:nvSpPr>
        <p:spPr>
          <a:xfrm>
            <a:off x="4389120" y="2633400"/>
            <a:ext cx="178308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0" lang="en-US" sz="1700" spc="-1" strike="noStrike">
                <a:solidFill>
                  <a:srgbClr val="0f172a"/>
                </a:solidFill>
                <a:latin typeface="Arial"/>
              </a:rPr>
              <a:t>read typed input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"/>
          <p:cNvSpPr txBox="1"/>
          <p:nvPr/>
        </p:nvSpPr>
        <p:spPr>
          <a:xfrm>
            <a:off x="5020200" y="2359080"/>
            <a:ext cx="52128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1400" spc="-1" strike="noStrike">
                <a:solidFill>
                  <a:srgbClr val="2563eb"/>
                </a:solidFill>
                <a:latin typeface="Arial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"/>
          <p:cNvSpPr/>
          <p:nvPr/>
        </p:nvSpPr>
        <p:spPr>
          <a:xfrm>
            <a:off x="6739200" y="2606040"/>
            <a:ext cx="1874520" cy="932760"/>
          </a:xfrm>
          <a:prstGeom prst="roundRect">
            <a:avLst/>
          </a:prstGeom>
          <a:solidFill>
            <a:srgbClr val="ffffff"/>
          </a:solidFill>
          <a:ln w="12960">
            <a:solidFill>
              <a:srgbClr val="cbd5e1"/>
            </a:solidFill>
            <a:round/>
          </a:ln>
        </p:spPr>
        <p:txBody>
          <a:bodyPr lIns="96480" rIns="96480" tIns="51480" bIns="5148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"/>
          <p:cNvSpPr txBox="1"/>
          <p:nvPr/>
        </p:nvSpPr>
        <p:spPr>
          <a:xfrm>
            <a:off x="6784920" y="2633400"/>
            <a:ext cx="178308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0" lang="en-US" sz="1700" spc="-1" strike="noStrike">
                <a:solidFill>
                  <a:srgbClr val="0f172a"/>
                </a:solidFill>
                <a:latin typeface="Arial"/>
              </a:rPr>
              <a:t>apply rules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"/>
          <p:cNvSpPr txBox="1"/>
          <p:nvPr/>
        </p:nvSpPr>
        <p:spPr>
          <a:xfrm>
            <a:off x="7415640" y="2359080"/>
            <a:ext cx="52128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1400" spc="-1" strike="noStrike">
                <a:solidFill>
                  <a:srgbClr val="2563eb"/>
                </a:solidFill>
                <a:latin typeface="Arial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"/>
          <p:cNvSpPr/>
          <p:nvPr/>
        </p:nvSpPr>
        <p:spPr>
          <a:xfrm>
            <a:off x="9135000" y="2606040"/>
            <a:ext cx="1874520" cy="932760"/>
          </a:xfrm>
          <a:prstGeom prst="roundRect">
            <a:avLst/>
          </a:prstGeom>
          <a:solidFill>
            <a:srgbClr val="ffffff"/>
          </a:solidFill>
          <a:ln w="12960">
            <a:solidFill>
              <a:srgbClr val="cbd5e1"/>
            </a:solidFill>
            <a:round/>
          </a:ln>
        </p:spPr>
        <p:txBody>
          <a:bodyPr lIns="96480" rIns="96480" tIns="51480" bIns="5148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"/>
          <p:cNvSpPr txBox="1"/>
          <p:nvPr/>
        </p:nvSpPr>
        <p:spPr>
          <a:xfrm>
            <a:off x="9180720" y="2633400"/>
            <a:ext cx="1783080" cy="54900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0" lang="en-US" sz="1700" spc="-1" strike="noStrike">
                <a:solidFill>
                  <a:srgbClr val="0f172a"/>
                </a:solidFill>
                <a:latin typeface="Arial"/>
              </a:rPr>
              <a:t>return typed result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"/>
          <p:cNvSpPr txBox="1"/>
          <p:nvPr/>
        </p:nvSpPr>
        <p:spPr>
          <a:xfrm>
            <a:off x="9811440" y="2359080"/>
            <a:ext cx="52128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1400" spc="-1" strike="noStrike">
                <a:solidFill>
                  <a:srgbClr val="2563eb"/>
                </a:solidFill>
                <a:latin typeface="Arial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"/>
          <p:cNvSpPr/>
          <p:nvPr/>
        </p:nvSpPr>
        <p:spPr>
          <a:xfrm>
            <a:off x="1481400" y="4709160"/>
            <a:ext cx="9235440" cy="585360"/>
          </a:xfrm>
          <a:prstGeom prst="roundRect">
            <a:avLst/>
          </a:prstGeom>
          <a:solidFill>
            <a:srgbClr val="f1f5f9"/>
          </a:solidFill>
          <a:ln w="12960">
            <a:solidFill>
              <a:srgbClr val="64748b"/>
            </a:solidFill>
            <a:round/>
          </a:ln>
        </p:spPr>
        <p:txBody>
          <a:bodyPr lIns="96480" rIns="96480" tIns="51480" bIns="5148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"/>
          <p:cNvSpPr txBox="1"/>
          <p:nvPr/>
        </p:nvSpPr>
        <p:spPr>
          <a:xfrm>
            <a:off x="1527120" y="4736520"/>
            <a:ext cx="914400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0" lang="en-US" sz="1700" spc="-1" strike="noStrike">
                <a:solidFill>
                  <a:srgbClr val="64748b"/>
                </a:solidFill>
                <a:latin typeface="Arial"/>
              </a:rPr>
              <a:t>Loop Engine controls permissions, budget, logging, and verification.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8fafc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"/>
          <p:cNvSpPr/>
          <p:nvPr/>
        </p:nvSpPr>
        <p:spPr>
          <a:xfrm>
            <a:off x="0" y="0"/>
            <a:ext cx="12192120" cy="73080"/>
          </a:xfrm>
          <a:prstGeom prst="rect">
            <a:avLst/>
          </a:prstGeom>
          <a:solidFill>
            <a:srgbClr val="2563eb"/>
          </a:solidFill>
          <a:ln w="0">
            <a:noFill/>
          </a:ln>
        </p:spPr>
        <p:txBody>
          <a:bodyPr lIns="90000" rIns="90000" tIns="28080" bIns="2808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" name=""/>
          <p:cNvSpPr txBox="1"/>
          <p:nvPr/>
        </p:nvSpPr>
        <p:spPr>
          <a:xfrm>
            <a:off x="621720" y="210240"/>
            <a:ext cx="804672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1" lang="en-US" sz="1100" spc="-1" strike="noStrike">
                <a:solidFill>
                  <a:srgbClr val="2563eb"/>
                </a:solidFill>
                <a:latin typeface="Arial"/>
              </a:rPr>
              <a:t>RUN MODE 2 OF 3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"/>
          <p:cNvSpPr txBox="1"/>
          <p:nvPr/>
        </p:nvSpPr>
        <p:spPr>
          <a:xfrm>
            <a:off x="10698480" y="201240"/>
            <a:ext cx="86868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r"/>
            <a:r>
              <a:rPr b="1" lang="en-US" sz="1100" spc="-1" strike="noStrike">
                <a:solidFill>
                  <a:srgbClr val="475569"/>
                </a:solidFill>
                <a:latin typeface="Arial"/>
              </a:rPr>
              <a:t>07 / 26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"/>
          <p:cNvSpPr txBox="1"/>
          <p:nvPr/>
        </p:nvSpPr>
        <p:spPr>
          <a:xfrm>
            <a:off x="621720" y="438840"/>
            <a:ext cx="1024128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t">
            <a:noAutofit/>
          </a:bodyPr>
          <a:p>
            <a:r>
              <a:rPr b="1" lang="en-US" sz="3200" spc="-1" strike="noStrike">
                <a:solidFill>
                  <a:srgbClr val="0f172a"/>
                </a:solidFill>
                <a:latin typeface="Arial"/>
              </a:rPr>
              <a:t>Hybrid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"/>
          <p:cNvSpPr txBox="1"/>
          <p:nvPr/>
        </p:nvSpPr>
        <p:spPr>
          <a:xfrm>
            <a:off x="621720" y="969120"/>
            <a:ext cx="1097280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0" lang="en-US" sz="1700" spc="-1" strike="noStrike">
                <a:solidFill>
                  <a:srgbClr val="475569"/>
                </a:solidFill>
                <a:latin typeface="Arial"/>
              </a:rPr>
              <a:t>Code leads. A real model may resolve one bounded semantic step.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"/>
          <p:cNvSpPr/>
          <p:nvPr/>
        </p:nvSpPr>
        <p:spPr>
          <a:xfrm>
            <a:off x="621720" y="5843160"/>
            <a:ext cx="10945440" cy="393120"/>
          </a:xfrm>
          <a:prstGeom prst="roundRect">
            <a:avLst/>
          </a:prstGeom>
          <a:solidFill>
            <a:srgbClr val="f1f5f9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"/>
          <p:cNvSpPr txBox="1"/>
          <p:nvPr/>
        </p:nvSpPr>
        <p:spPr>
          <a:xfrm>
            <a:off x="731520" y="5879520"/>
            <a:ext cx="1071684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0" lang="en-US" sz="1300" spc="-1" strike="noStrike">
                <a:solidFill>
                  <a:srgbClr val="475569"/>
                </a:solidFill>
                <a:latin typeface="Arial"/>
              </a:rPr>
              <a:t>Example: code extracts a table and a model resolves one ambiguous column heading.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"/>
          <p:cNvSpPr txBox="1"/>
          <p:nvPr/>
        </p:nvSpPr>
        <p:spPr>
          <a:xfrm>
            <a:off x="621720" y="6291000"/>
            <a:ext cx="992124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0" lang="en-US" sz="1050" spc="-1" strike="noStrike">
                <a:solidFill>
                  <a:srgbClr val="475569"/>
                </a:solidFill>
                <a:latin typeface="Arial"/>
              </a:rPr>
              <a:t>The model path is optional. If used, its physical call and usage must be recorded.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"/>
          <p:cNvSpPr txBox="1"/>
          <p:nvPr/>
        </p:nvSpPr>
        <p:spPr>
          <a:xfrm>
            <a:off x="10561320" y="6291000"/>
            <a:ext cx="1005840" cy="54900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r"/>
            <a:r>
              <a:rPr b="1" lang="en-US" sz="1050" spc="-1" strike="noStrike">
                <a:solidFill>
                  <a:srgbClr val="64748b"/>
                </a:solidFill>
                <a:latin typeface="Arial"/>
              </a:rPr>
              <a:t>LOOP ENGINE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"/>
          <p:cNvSpPr/>
          <p:nvPr/>
        </p:nvSpPr>
        <p:spPr>
          <a:xfrm>
            <a:off x="868680" y="2139840"/>
            <a:ext cx="2331720" cy="1883520"/>
          </a:xfrm>
          <a:prstGeom prst="ellipse">
            <a:avLst/>
          </a:prstGeom>
          <a:solidFill>
            <a:srgbClr val="f8fafc"/>
          </a:solidFill>
          <a:ln w="23400">
            <a:solidFill>
              <a:srgbClr val="2563eb"/>
            </a:solidFill>
            <a:round/>
          </a:ln>
        </p:spPr>
        <p:txBody>
          <a:bodyPr lIns="101520" rIns="101520" tIns="56520" bIns="565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"/>
          <p:cNvSpPr/>
          <p:nvPr/>
        </p:nvSpPr>
        <p:spPr>
          <a:xfrm>
            <a:off x="951120" y="2221920"/>
            <a:ext cx="2167200" cy="1719000"/>
          </a:xfrm>
          <a:prstGeom prst="ellipse">
            <a:avLst/>
          </a:prstGeom>
          <a:solidFill>
            <a:srgbClr val="dbeafe"/>
          </a:solidFill>
          <a:ln w="13680">
            <a:solidFill>
              <a:srgbClr val="2563eb"/>
            </a:solidFill>
            <a:round/>
          </a:ln>
        </p:spPr>
        <p:txBody>
          <a:bodyPr lIns="96840" rIns="96840" tIns="51840" bIns="518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"/>
          <p:cNvSpPr txBox="1"/>
          <p:nvPr/>
        </p:nvSpPr>
        <p:spPr>
          <a:xfrm>
            <a:off x="978480" y="2249280"/>
            <a:ext cx="2112120" cy="54900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2000" spc="-1" strike="noStrike">
                <a:solidFill>
                  <a:srgbClr val="0f172a"/>
                </a:solidFill>
                <a:latin typeface="Arial"/>
              </a:rPr>
              <a:t>Ambiguity resolution Loop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"/>
          <p:cNvSpPr/>
          <p:nvPr/>
        </p:nvSpPr>
        <p:spPr>
          <a:xfrm>
            <a:off x="3794760" y="3090600"/>
            <a:ext cx="521280" cy="0"/>
          </a:xfrm>
          <a:prstGeom prst="line">
            <a:avLst/>
          </a:prstGeom>
          <a:ln w="16200">
            <a:solidFill>
              <a:srgbClr val="64748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7920" rIns="97920" tIns="-52920" bIns="-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"/>
          <p:cNvSpPr/>
          <p:nvPr/>
        </p:nvSpPr>
        <p:spPr>
          <a:xfrm>
            <a:off x="6190560" y="3090600"/>
            <a:ext cx="521280" cy="0"/>
          </a:xfrm>
          <a:prstGeom prst="line">
            <a:avLst/>
          </a:prstGeom>
          <a:ln w="16200">
            <a:solidFill>
              <a:srgbClr val="64748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7920" rIns="97920" tIns="-52920" bIns="-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"/>
          <p:cNvSpPr/>
          <p:nvPr/>
        </p:nvSpPr>
        <p:spPr>
          <a:xfrm>
            <a:off x="4343400" y="2606040"/>
            <a:ext cx="1874520" cy="932760"/>
          </a:xfrm>
          <a:prstGeom prst="roundRect">
            <a:avLst/>
          </a:prstGeom>
          <a:solidFill>
            <a:srgbClr val="ffffff"/>
          </a:solidFill>
          <a:ln w="12960">
            <a:solidFill>
              <a:srgbClr val="cbd5e1"/>
            </a:solidFill>
            <a:round/>
          </a:ln>
        </p:spPr>
        <p:txBody>
          <a:bodyPr lIns="96480" rIns="96480" tIns="51480" bIns="5148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"/>
          <p:cNvSpPr txBox="1"/>
          <p:nvPr/>
        </p:nvSpPr>
        <p:spPr>
          <a:xfrm>
            <a:off x="4389120" y="2633400"/>
            <a:ext cx="1783080" cy="54900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0" lang="en-US" sz="1700" spc="-1" strike="noStrike">
                <a:solidFill>
                  <a:srgbClr val="0f172a"/>
                </a:solidFill>
                <a:latin typeface="Arial"/>
              </a:rPr>
              <a:t>run deterministic extraction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"/>
          <p:cNvSpPr txBox="1"/>
          <p:nvPr/>
        </p:nvSpPr>
        <p:spPr>
          <a:xfrm>
            <a:off x="5020200" y="2359080"/>
            <a:ext cx="52128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1400" spc="-1" strike="noStrike">
                <a:solidFill>
                  <a:srgbClr val="2563eb"/>
                </a:solidFill>
                <a:latin typeface="Arial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"/>
          <p:cNvSpPr/>
          <p:nvPr/>
        </p:nvSpPr>
        <p:spPr>
          <a:xfrm>
            <a:off x="6739200" y="2606040"/>
            <a:ext cx="1874520" cy="932760"/>
          </a:xfrm>
          <a:prstGeom prst="roundRect">
            <a:avLst/>
          </a:prstGeom>
          <a:solidFill>
            <a:srgbClr val="ffffff"/>
          </a:solidFill>
          <a:ln w="12960">
            <a:solidFill>
              <a:srgbClr val="cbd5e1"/>
            </a:solidFill>
            <a:round/>
          </a:ln>
        </p:spPr>
        <p:txBody>
          <a:bodyPr lIns="96480" rIns="96480" tIns="51480" bIns="5148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"/>
          <p:cNvSpPr txBox="1"/>
          <p:nvPr/>
        </p:nvSpPr>
        <p:spPr>
          <a:xfrm>
            <a:off x="6784920" y="2633400"/>
            <a:ext cx="1783080" cy="54900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0" lang="en-US" sz="1700" spc="-1" strike="noStrike">
                <a:solidFill>
                  <a:srgbClr val="0f172a"/>
                </a:solidFill>
                <a:latin typeface="Arial"/>
              </a:rPr>
              <a:t>resolve bounded ambiguity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"/>
          <p:cNvSpPr txBox="1"/>
          <p:nvPr/>
        </p:nvSpPr>
        <p:spPr>
          <a:xfrm>
            <a:off x="7415640" y="2359080"/>
            <a:ext cx="52128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1400" spc="-1" strike="noStrike">
                <a:solidFill>
                  <a:srgbClr val="2563eb"/>
                </a:solidFill>
                <a:latin typeface="Arial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"/>
          <p:cNvSpPr/>
          <p:nvPr/>
        </p:nvSpPr>
        <p:spPr>
          <a:xfrm>
            <a:off x="9135000" y="2606040"/>
            <a:ext cx="1874520" cy="932760"/>
          </a:xfrm>
          <a:prstGeom prst="roundRect">
            <a:avLst/>
          </a:prstGeom>
          <a:solidFill>
            <a:srgbClr val="ffffff"/>
          </a:solidFill>
          <a:ln w="12960">
            <a:solidFill>
              <a:srgbClr val="cbd5e1"/>
            </a:solidFill>
            <a:round/>
          </a:ln>
        </p:spPr>
        <p:txBody>
          <a:bodyPr lIns="96480" rIns="96480" tIns="51480" bIns="5148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"/>
          <p:cNvSpPr txBox="1"/>
          <p:nvPr/>
        </p:nvSpPr>
        <p:spPr>
          <a:xfrm>
            <a:off x="9180720" y="2633400"/>
            <a:ext cx="1783080" cy="54900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0" lang="en-US" sz="1700" spc="-1" strike="noStrike">
                <a:solidFill>
                  <a:srgbClr val="0f172a"/>
                </a:solidFill>
                <a:latin typeface="Arial"/>
              </a:rPr>
              <a:t>validate the result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"/>
          <p:cNvSpPr txBox="1"/>
          <p:nvPr/>
        </p:nvSpPr>
        <p:spPr>
          <a:xfrm>
            <a:off x="9811440" y="2359080"/>
            <a:ext cx="52128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1400" spc="-1" strike="noStrike">
                <a:solidFill>
                  <a:srgbClr val="2563eb"/>
                </a:solidFill>
                <a:latin typeface="Arial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"/>
          <p:cNvSpPr/>
          <p:nvPr/>
        </p:nvSpPr>
        <p:spPr>
          <a:xfrm>
            <a:off x="1481400" y="4709160"/>
            <a:ext cx="9235440" cy="585360"/>
          </a:xfrm>
          <a:prstGeom prst="roundRect">
            <a:avLst/>
          </a:prstGeom>
          <a:solidFill>
            <a:srgbClr val="f1f5f9"/>
          </a:solidFill>
          <a:ln w="12960">
            <a:solidFill>
              <a:srgbClr val="64748b"/>
            </a:solidFill>
            <a:round/>
          </a:ln>
        </p:spPr>
        <p:txBody>
          <a:bodyPr lIns="96480" rIns="96480" tIns="51480" bIns="5148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"/>
          <p:cNvSpPr txBox="1"/>
          <p:nvPr/>
        </p:nvSpPr>
        <p:spPr>
          <a:xfrm>
            <a:off x="1527120" y="4736520"/>
            <a:ext cx="914400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0" lang="en-US" sz="1700" spc="-1" strike="noStrike">
                <a:solidFill>
                  <a:srgbClr val="64748b"/>
                </a:solidFill>
                <a:latin typeface="Arial"/>
              </a:rPr>
              <a:t>Model use does not grant file, network, secret, or spending permission.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8fafc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"/>
          <p:cNvSpPr/>
          <p:nvPr/>
        </p:nvSpPr>
        <p:spPr>
          <a:xfrm>
            <a:off x="0" y="0"/>
            <a:ext cx="12192120" cy="73080"/>
          </a:xfrm>
          <a:prstGeom prst="rect">
            <a:avLst/>
          </a:prstGeom>
          <a:solidFill>
            <a:srgbClr val="2563eb"/>
          </a:solidFill>
          <a:ln w="0">
            <a:noFill/>
          </a:ln>
        </p:spPr>
        <p:txBody>
          <a:bodyPr lIns="90000" rIns="90000" tIns="28080" bIns="2808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" name=""/>
          <p:cNvSpPr txBox="1"/>
          <p:nvPr/>
        </p:nvSpPr>
        <p:spPr>
          <a:xfrm>
            <a:off x="621720" y="210240"/>
            <a:ext cx="804672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1" lang="en-US" sz="1100" spc="-1" strike="noStrike">
                <a:solidFill>
                  <a:srgbClr val="2563eb"/>
                </a:solidFill>
                <a:latin typeface="Arial"/>
              </a:rPr>
              <a:t>RUN MODE 3 OF 3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"/>
          <p:cNvSpPr txBox="1"/>
          <p:nvPr/>
        </p:nvSpPr>
        <p:spPr>
          <a:xfrm>
            <a:off x="10698480" y="201240"/>
            <a:ext cx="86868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r"/>
            <a:r>
              <a:rPr b="1" lang="en-US" sz="1100" spc="-1" strike="noStrike">
                <a:solidFill>
                  <a:srgbClr val="475569"/>
                </a:solidFill>
                <a:latin typeface="Arial"/>
              </a:rPr>
              <a:t>08 / 26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"/>
          <p:cNvSpPr txBox="1"/>
          <p:nvPr/>
        </p:nvSpPr>
        <p:spPr>
          <a:xfrm>
            <a:off x="621720" y="438840"/>
            <a:ext cx="1024128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t">
            <a:noAutofit/>
          </a:bodyPr>
          <a:p>
            <a:r>
              <a:rPr b="1" lang="en-US" sz="3200" spc="-1" strike="noStrike">
                <a:solidFill>
                  <a:srgbClr val="0f172a"/>
                </a:solidFill>
                <a:latin typeface="Arial"/>
              </a:rPr>
              <a:t>Non-deterministic or LLM-driven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"/>
          <p:cNvSpPr txBox="1"/>
          <p:nvPr/>
        </p:nvSpPr>
        <p:spPr>
          <a:xfrm>
            <a:off x="621720" y="969120"/>
            <a:ext cx="1097280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0" lang="en-US" sz="1700" spc="-1" strike="noStrike">
                <a:solidFill>
                  <a:srgbClr val="475569"/>
                </a:solidFill>
                <a:latin typeface="Arial"/>
              </a:rPr>
              <a:t>A real model leads the semantic work while Loop Engine keeps control.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"/>
          <p:cNvSpPr/>
          <p:nvPr/>
        </p:nvSpPr>
        <p:spPr>
          <a:xfrm>
            <a:off x="621720" y="5843160"/>
            <a:ext cx="10945440" cy="393120"/>
          </a:xfrm>
          <a:prstGeom prst="roundRect">
            <a:avLst/>
          </a:prstGeom>
          <a:solidFill>
            <a:srgbClr val="f1f5f9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"/>
          <p:cNvSpPr txBox="1"/>
          <p:nvPr/>
        </p:nvSpPr>
        <p:spPr>
          <a:xfrm>
            <a:off x="731520" y="5879520"/>
            <a:ext cx="1071684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0" lang="en-US" sz="1300" spc="-1" strike="noStrike">
                <a:solidFill>
                  <a:srgbClr val="475569"/>
                </a:solidFill>
                <a:latin typeface="Arial"/>
              </a:rPr>
              <a:t>Example: compare competing research plans, then return a structured recommendation for verification.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"/>
          <p:cNvSpPr txBox="1"/>
          <p:nvPr/>
        </p:nvSpPr>
        <p:spPr>
          <a:xfrm>
            <a:off x="621720" y="6291000"/>
            <a:ext cx="992124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0" lang="en-US" sz="1050" spc="-1" strike="noStrike">
                <a:solidFill>
                  <a:srgbClr val="475569"/>
                </a:solidFill>
                <a:latin typeface="Arial"/>
              </a:rPr>
              <a:t>A mode label without a physical model attempt is not model-led execution.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"/>
          <p:cNvSpPr txBox="1"/>
          <p:nvPr/>
        </p:nvSpPr>
        <p:spPr>
          <a:xfrm>
            <a:off x="10561320" y="6291000"/>
            <a:ext cx="1005840" cy="54900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r"/>
            <a:r>
              <a:rPr b="1" lang="en-US" sz="1050" spc="-1" strike="noStrike">
                <a:solidFill>
                  <a:srgbClr val="64748b"/>
                </a:solidFill>
                <a:latin typeface="Arial"/>
              </a:rPr>
              <a:t>LOOP ENGINE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"/>
          <p:cNvSpPr/>
          <p:nvPr/>
        </p:nvSpPr>
        <p:spPr>
          <a:xfrm>
            <a:off x="868680" y="2139840"/>
            <a:ext cx="2331720" cy="1883520"/>
          </a:xfrm>
          <a:prstGeom prst="ellipse">
            <a:avLst/>
          </a:prstGeom>
          <a:solidFill>
            <a:srgbClr val="dbeafe"/>
          </a:solidFill>
          <a:ln w="21600">
            <a:solidFill>
              <a:srgbClr val="2563eb"/>
            </a:solidFill>
            <a:custDash>
              <a:ds d="33333" sp="33333"/>
              <a:ds d="33333" sp="33333"/>
            </a:custDash>
            <a:round/>
          </a:ln>
        </p:spPr>
        <p:txBody>
          <a:bodyPr lIns="100800" rIns="100800" tIns="55800" bIns="558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"/>
          <p:cNvSpPr txBox="1"/>
          <p:nvPr/>
        </p:nvSpPr>
        <p:spPr>
          <a:xfrm>
            <a:off x="978480" y="2249280"/>
            <a:ext cx="2112120" cy="54900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2000" spc="-1" strike="noStrike">
                <a:solidFill>
                  <a:srgbClr val="0f172a"/>
                </a:solidFill>
                <a:latin typeface="Arial"/>
              </a:rPr>
              <a:t>Research planning Loop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"/>
          <p:cNvSpPr/>
          <p:nvPr/>
        </p:nvSpPr>
        <p:spPr>
          <a:xfrm>
            <a:off x="3794760" y="3090600"/>
            <a:ext cx="521280" cy="0"/>
          </a:xfrm>
          <a:prstGeom prst="line">
            <a:avLst/>
          </a:prstGeom>
          <a:ln w="16200">
            <a:solidFill>
              <a:srgbClr val="64748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7920" rIns="97920" tIns="-52920" bIns="-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"/>
          <p:cNvSpPr/>
          <p:nvPr/>
        </p:nvSpPr>
        <p:spPr>
          <a:xfrm>
            <a:off x="6190560" y="3090600"/>
            <a:ext cx="521280" cy="0"/>
          </a:xfrm>
          <a:prstGeom prst="line">
            <a:avLst/>
          </a:prstGeom>
          <a:ln w="16200">
            <a:solidFill>
              <a:srgbClr val="64748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7920" rIns="97920" tIns="-52920" bIns="-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"/>
          <p:cNvSpPr/>
          <p:nvPr/>
        </p:nvSpPr>
        <p:spPr>
          <a:xfrm>
            <a:off x="4343400" y="2606040"/>
            <a:ext cx="1874520" cy="932760"/>
          </a:xfrm>
          <a:prstGeom prst="roundRect">
            <a:avLst/>
          </a:prstGeom>
          <a:solidFill>
            <a:srgbClr val="ffffff"/>
          </a:solidFill>
          <a:ln w="12960">
            <a:solidFill>
              <a:srgbClr val="cbd5e1"/>
            </a:solidFill>
            <a:round/>
          </a:ln>
        </p:spPr>
        <p:txBody>
          <a:bodyPr lIns="96480" rIns="96480" tIns="51480" bIns="5148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"/>
          <p:cNvSpPr txBox="1"/>
          <p:nvPr/>
        </p:nvSpPr>
        <p:spPr>
          <a:xfrm>
            <a:off x="4389120" y="2633400"/>
            <a:ext cx="1783080" cy="54900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0" lang="en-US" sz="1700" spc="-1" strike="noStrike">
                <a:solidFill>
                  <a:srgbClr val="0f172a"/>
                </a:solidFill>
                <a:latin typeface="Arial"/>
              </a:rPr>
              <a:t>read bounded context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"/>
          <p:cNvSpPr txBox="1"/>
          <p:nvPr/>
        </p:nvSpPr>
        <p:spPr>
          <a:xfrm>
            <a:off x="5020200" y="2359080"/>
            <a:ext cx="52128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1400" spc="-1" strike="noStrike">
                <a:solidFill>
                  <a:srgbClr val="2563eb"/>
                </a:solidFill>
                <a:latin typeface="Arial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"/>
          <p:cNvSpPr/>
          <p:nvPr/>
        </p:nvSpPr>
        <p:spPr>
          <a:xfrm>
            <a:off x="6739200" y="2606040"/>
            <a:ext cx="1874520" cy="932760"/>
          </a:xfrm>
          <a:prstGeom prst="roundRect">
            <a:avLst/>
          </a:prstGeom>
          <a:solidFill>
            <a:srgbClr val="ffffff"/>
          </a:solidFill>
          <a:ln w="12960">
            <a:solidFill>
              <a:srgbClr val="cbd5e1"/>
            </a:solidFill>
            <a:round/>
          </a:ln>
        </p:spPr>
        <p:txBody>
          <a:bodyPr lIns="96480" rIns="96480" tIns="51480" bIns="5148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"/>
          <p:cNvSpPr txBox="1"/>
          <p:nvPr/>
        </p:nvSpPr>
        <p:spPr>
          <a:xfrm>
            <a:off x="6784920" y="2633400"/>
            <a:ext cx="1783080" cy="54900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0" lang="en-US" sz="1700" spc="-1" strike="noStrike">
                <a:solidFill>
                  <a:srgbClr val="0f172a"/>
                </a:solidFill>
                <a:latin typeface="Arial"/>
              </a:rPr>
              <a:t>deliberate with a real model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"/>
          <p:cNvSpPr txBox="1"/>
          <p:nvPr/>
        </p:nvSpPr>
        <p:spPr>
          <a:xfrm>
            <a:off x="7415640" y="2359080"/>
            <a:ext cx="52128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1400" spc="-1" strike="noStrike">
                <a:solidFill>
                  <a:srgbClr val="2563eb"/>
                </a:solidFill>
                <a:latin typeface="Arial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"/>
          <p:cNvSpPr/>
          <p:nvPr/>
        </p:nvSpPr>
        <p:spPr>
          <a:xfrm>
            <a:off x="9135000" y="2606040"/>
            <a:ext cx="1874520" cy="932760"/>
          </a:xfrm>
          <a:prstGeom prst="roundRect">
            <a:avLst/>
          </a:prstGeom>
          <a:solidFill>
            <a:srgbClr val="ffffff"/>
          </a:solidFill>
          <a:ln w="12960">
            <a:solidFill>
              <a:srgbClr val="cbd5e1"/>
            </a:solidFill>
            <a:round/>
          </a:ln>
        </p:spPr>
        <p:txBody>
          <a:bodyPr lIns="96480" rIns="96480" tIns="51480" bIns="5148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"/>
          <p:cNvSpPr txBox="1"/>
          <p:nvPr/>
        </p:nvSpPr>
        <p:spPr>
          <a:xfrm>
            <a:off x="9180720" y="2633400"/>
            <a:ext cx="1783080" cy="54900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0" lang="en-US" sz="1700" spc="-1" strike="noStrike">
                <a:solidFill>
                  <a:srgbClr val="0f172a"/>
                </a:solidFill>
                <a:latin typeface="Arial"/>
              </a:rPr>
              <a:t>return typed proposal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"/>
          <p:cNvSpPr txBox="1"/>
          <p:nvPr/>
        </p:nvSpPr>
        <p:spPr>
          <a:xfrm>
            <a:off x="9811440" y="2359080"/>
            <a:ext cx="52128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1400" spc="-1" strike="noStrike">
                <a:solidFill>
                  <a:srgbClr val="2563eb"/>
                </a:solidFill>
                <a:latin typeface="Arial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"/>
          <p:cNvSpPr/>
          <p:nvPr/>
        </p:nvSpPr>
        <p:spPr>
          <a:xfrm>
            <a:off x="1481400" y="4709160"/>
            <a:ext cx="9235440" cy="585360"/>
          </a:xfrm>
          <a:prstGeom prst="roundRect">
            <a:avLst/>
          </a:prstGeom>
          <a:solidFill>
            <a:srgbClr val="f1f5f9"/>
          </a:solidFill>
          <a:ln w="12960">
            <a:solidFill>
              <a:srgbClr val="64748b"/>
            </a:solidFill>
            <a:round/>
          </a:ln>
        </p:spPr>
        <p:txBody>
          <a:bodyPr lIns="96480" rIns="96480" tIns="51480" bIns="5148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"/>
          <p:cNvSpPr txBox="1"/>
          <p:nvPr/>
        </p:nvSpPr>
        <p:spPr>
          <a:xfrm>
            <a:off x="1527120" y="4736520"/>
            <a:ext cx="914400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0" lang="en-US" sz="1700" spc="-1" strike="noStrike">
                <a:solidFill>
                  <a:srgbClr val="64748b"/>
                </a:solidFill>
                <a:latin typeface="Arial"/>
              </a:rPr>
              <a:t>Tools, limits, approvals, history, and verification remain explicit.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8fafc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"/>
          <p:cNvSpPr/>
          <p:nvPr/>
        </p:nvSpPr>
        <p:spPr>
          <a:xfrm>
            <a:off x="0" y="0"/>
            <a:ext cx="12192120" cy="73080"/>
          </a:xfrm>
          <a:prstGeom prst="rect">
            <a:avLst/>
          </a:prstGeom>
          <a:solidFill>
            <a:srgbClr val="2563eb"/>
          </a:solidFill>
          <a:ln w="0">
            <a:noFill/>
          </a:ln>
        </p:spPr>
        <p:txBody>
          <a:bodyPr lIns="90000" rIns="90000" tIns="28080" bIns="2808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" name=""/>
          <p:cNvSpPr txBox="1"/>
          <p:nvPr/>
        </p:nvSpPr>
        <p:spPr>
          <a:xfrm>
            <a:off x="621720" y="210240"/>
            <a:ext cx="804672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1" lang="en-US" sz="1100" spc="-1" strike="noStrike">
                <a:solidFill>
                  <a:srgbClr val="2563eb"/>
                </a:solidFill>
                <a:latin typeface="Arial"/>
              </a:rPr>
              <a:t>ONE CHOICE PER RUN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"/>
          <p:cNvSpPr txBox="1"/>
          <p:nvPr/>
        </p:nvSpPr>
        <p:spPr>
          <a:xfrm>
            <a:off x="10698480" y="201240"/>
            <a:ext cx="86868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r"/>
            <a:r>
              <a:rPr b="1" lang="en-US" sz="1100" spc="-1" strike="noStrike">
                <a:solidFill>
                  <a:srgbClr val="475569"/>
                </a:solidFill>
                <a:latin typeface="Arial"/>
              </a:rPr>
              <a:t>09 / 26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"/>
          <p:cNvSpPr txBox="1"/>
          <p:nvPr/>
        </p:nvSpPr>
        <p:spPr>
          <a:xfrm>
            <a:off x="621720" y="438840"/>
            <a:ext cx="1024128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t">
            <a:noAutofit/>
          </a:bodyPr>
          <a:p>
            <a:r>
              <a:rPr b="1" lang="en-US" sz="3200" spc="-1" strike="noStrike">
                <a:solidFill>
                  <a:srgbClr val="0f172a"/>
                </a:solidFill>
                <a:latin typeface="Arial"/>
              </a:rPr>
              <a:t>Each Loop instance selects one mode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"/>
          <p:cNvSpPr txBox="1"/>
          <p:nvPr/>
        </p:nvSpPr>
        <p:spPr>
          <a:xfrm>
            <a:off x="621720" y="969120"/>
            <a:ext cx="1097280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0" lang="en-US" sz="1700" spc="-1" strike="noStrike">
                <a:solidFill>
                  <a:srgbClr val="475569"/>
                </a:solidFill>
                <a:latin typeface="Arial"/>
              </a:rPr>
              <a:t>The graph and Canvas do not inherit one mode. Connected Loops may select different permitted modes.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"/>
          <p:cNvSpPr/>
          <p:nvPr/>
        </p:nvSpPr>
        <p:spPr>
          <a:xfrm>
            <a:off x="621720" y="5843160"/>
            <a:ext cx="10945440" cy="393120"/>
          </a:xfrm>
          <a:prstGeom prst="roundRect">
            <a:avLst/>
          </a:prstGeom>
          <a:solidFill>
            <a:srgbClr val="f1f5f9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"/>
          <p:cNvSpPr txBox="1"/>
          <p:nvPr/>
        </p:nvSpPr>
        <p:spPr>
          <a:xfrm>
            <a:off x="731520" y="5879520"/>
            <a:ext cx="10716840" cy="54900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0" lang="en-US" sz="1300" spc="-1" strike="noStrike">
                <a:solidFill>
                  <a:srgbClr val="475569"/>
                </a:solidFill>
                <a:latin typeface="Arial"/>
              </a:rPr>
              <a:t>Current Solution Canvas execution supports deterministic components. Other Solution modes fail preflight.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"/>
          <p:cNvSpPr txBox="1"/>
          <p:nvPr/>
        </p:nvSpPr>
        <p:spPr>
          <a:xfrm>
            <a:off x="621720" y="6291000"/>
            <a:ext cx="9921240" cy="54900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0" lang="en-US" sz="1050" spc="-1" strike="noStrike">
                <a:solidFill>
                  <a:srgbClr val="475569"/>
                </a:solidFill>
                <a:latin typeface="Arial"/>
              </a:rPr>
              <a:t>A deterministic Loop can spawn a non-deterministic Loop, and the reverse is also valid when permissions allow it.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"/>
          <p:cNvSpPr txBox="1"/>
          <p:nvPr/>
        </p:nvSpPr>
        <p:spPr>
          <a:xfrm>
            <a:off x="10561320" y="6291000"/>
            <a:ext cx="1005840" cy="54900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r"/>
            <a:r>
              <a:rPr b="1" lang="en-US" sz="1050" spc="-1" strike="noStrike">
                <a:solidFill>
                  <a:srgbClr val="64748b"/>
                </a:solidFill>
                <a:latin typeface="Arial"/>
              </a:rPr>
              <a:t>LOOP ENGINE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"/>
          <p:cNvSpPr/>
          <p:nvPr/>
        </p:nvSpPr>
        <p:spPr>
          <a:xfrm>
            <a:off x="713160" y="1627560"/>
            <a:ext cx="1965960" cy="658440"/>
          </a:xfrm>
          <a:prstGeom prst="roundRect">
            <a:avLst/>
          </a:prstGeom>
          <a:solidFill>
            <a:srgbClr val="f1f5f9"/>
          </a:solidFill>
          <a:ln w="12960">
            <a:solidFill>
              <a:srgbClr val="64748b"/>
            </a:solidFill>
            <a:round/>
          </a:ln>
        </p:spPr>
        <p:txBody>
          <a:bodyPr lIns="96480" rIns="96480" tIns="51480" bIns="5148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"/>
          <p:cNvSpPr txBox="1"/>
          <p:nvPr/>
        </p:nvSpPr>
        <p:spPr>
          <a:xfrm>
            <a:off x="758880" y="1654920"/>
            <a:ext cx="187452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1700" spc="-1" strike="noStrike">
                <a:solidFill>
                  <a:srgbClr val="0f172a"/>
                </a:solidFill>
                <a:latin typeface="Arial"/>
              </a:rPr>
              <a:t>Question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"/>
          <p:cNvSpPr/>
          <p:nvPr/>
        </p:nvSpPr>
        <p:spPr>
          <a:xfrm>
            <a:off x="2679120" y="1627560"/>
            <a:ext cx="2889360" cy="658440"/>
          </a:xfrm>
          <a:prstGeom prst="roundRect">
            <a:avLst/>
          </a:prstGeom>
          <a:solidFill>
            <a:srgbClr val="ffffff"/>
          </a:solidFill>
          <a:ln w="12960">
            <a:solidFill>
              <a:srgbClr val="2563eb"/>
            </a:solidFill>
            <a:round/>
          </a:ln>
        </p:spPr>
        <p:txBody>
          <a:bodyPr lIns="96480" rIns="96480" tIns="51480" bIns="5148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"/>
          <p:cNvSpPr txBox="1"/>
          <p:nvPr/>
        </p:nvSpPr>
        <p:spPr>
          <a:xfrm>
            <a:off x="2724840" y="1654920"/>
            <a:ext cx="279792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1700" spc="-1" strike="noStrike">
                <a:solidFill>
                  <a:srgbClr val="0f172a"/>
                </a:solidFill>
                <a:latin typeface="Arial"/>
              </a:rPr>
              <a:t>Deterministic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"/>
          <p:cNvSpPr/>
          <p:nvPr/>
        </p:nvSpPr>
        <p:spPr>
          <a:xfrm>
            <a:off x="5568840" y="1627560"/>
            <a:ext cx="2889360" cy="658440"/>
          </a:xfrm>
          <a:prstGeom prst="roundRect">
            <a:avLst/>
          </a:prstGeom>
          <a:solidFill>
            <a:srgbClr val="ffffff"/>
          </a:solidFill>
          <a:ln w="12960">
            <a:solidFill>
              <a:srgbClr val="2563eb"/>
            </a:solidFill>
            <a:round/>
          </a:ln>
        </p:spPr>
        <p:txBody>
          <a:bodyPr lIns="96480" rIns="96480" tIns="51480" bIns="5148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"/>
          <p:cNvSpPr txBox="1"/>
          <p:nvPr/>
        </p:nvSpPr>
        <p:spPr>
          <a:xfrm>
            <a:off x="5614560" y="1654920"/>
            <a:ext cx="279792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1700" spc="-1" strike="noStrike">
                <a:solidFill>
                  <a:srgbClr val="0f172a"/>
                </a:solidFill>
                <a:latin typeface="Arial"/>
              </a:rPr>
              <a:t>Hybrid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"/>
          <p:cNvSpPr/>
          <p:nvPr/>
        </p:nvSpPr>
        <p:spPr>
          <a:xfrm>
            <a:off x="8458200" y="1627560"/>
            <a:ext cx="2889360" cy="658440"/>
          </a:xfrm>
          <a:prstGeom prst="roundRect">
            <a:avLst/>
          </a:prstGeom>
          <a:solidFill>
            <a:srgbClr val="ffffff"/>
          </a:solidFill>
          <a:ln w="12960">
            <a:solidFill>
              <a:srgbClr val="2563eb"/>
            </a:solidFill>
            <a:round/>
          </a:ln>
        </p:spPr>
        <p:txBody>
          <a:bodyPr lIns="96480" rIns="96480" tIns="51480" bIns="5148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"/>
          <p:cNvSpPr txBox="1"/>
          <p:nvPr/>
        </p:nvSpPr>
        <p:spPr>
          <a:xfrm>
            <a:off x="8503920" y="1654920"/>
            <a:ext cx="279792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1700" spc="-1" strike="noStrike">
                <a:solidFill>
                  <a:srgbClr val="0f172a"/>
                </a:solidFill>
                <a:latin typeface="Arial"/>
              </a:rPr>
              <a:t>Non-deterministic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"/>
          <p:cNvSpPr/>
          <p:nvPr/>
        </p:nvSpPr>
        <p:spPr>
          <a:xfrm>
            <a:off x="713160" y="2286000"/>
            <a:ext cx="1965960" cy="749880"/>
          </a:xfrm>
          <a:prstGeom prst="rect">
            <a:avLst/>
          </a:prstGeom>
          <a:solidFill>
            <a:srgbClr val="f1f5f9"/>
          </a:solidFill>
          <a:ln w="9000">
            <a:solidFill>
              <a:srgbClr val="cbd5e1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"/>
          <p:cNvSpPr txBox="1"/>
          <p:nvPr/>
        </p:nvSpPr>
        <p:spPr>
          <a:xfrm>
            <a:off x="804600" y="2340720"/>
            <a:ext cx="178308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1600" spc="-1" strike="noStrike">
                <a:solidFill>
                  <a:srgbClr val="0f172a"/>
                </a:solidFill>
                <a:latin typeface="Arial"/>
              </a:rPr>
              <a:t>What leads?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"/>
          <p:cNvSpPr/>
          <p:nvPr/>
        </p:nvSpPr>
        <p:spPr>
          <a:xfrm>
            <a:off x="2679120" y="2286000"/>
            <a:ext cx="2889360" cy="749880"/>
          </a:xfrm>
          <a:prstGeom prst="rect">
            <a:avLst/>
          </a:prstGeom>
          <a:solidFill>
            <a:srgbClr val="ffffff"/>
          </a:solidFill>
          <a:ln w="9000">
            <a:solidFill>
              <a:srgbClr val="cbd5e1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"/>
          <p:cNvSpPr txBox="1"/>
          <p:nvPr/>
        </p:nvSpPr>
        <p:spPr>
          <a:xfrm>
            <a:off x="2770560" y="2340720"/>
            <a:ext cx="270648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0" lang="en-US" sz="1600" spc="-1" strike="noStrike">
                <a:solidFill>
                  <a:srgbClr val="0f172a"/>
                </a:solidFill>
                <a:latin typeface="Arial"/>
              </a:rPr>
              <a:t>code or rules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"/>
          <p:cNvSpPr/>
          <p:nvPr/>
        </p:nvSpPr>
        <p:spPr>
          <a:xfrm>
            <a:off x="5568840" y="2286000"/>
            <a:ext cx="2889360" cy="749880"/>
          </a:xfrm>
          <a:prstGeom prst="rect">
            <a:avLst/>
          </a:prstGeom>
          <a:solidFill>
            <a:srgbClr val="ffffff"/>
          </a:solidFill>
          <a:ln w="9000">
            <a:solidFill>
              <a:srgbClr val="cbd5e1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"/>
          <p:cNvSpPr txBox="1"/>
          <p:nvPr/>
        </p:nvSpPr>
        <p:spPr>
          <a:xfrm>
            <a:off x="5660280" y="2340720"/>
            <a:ext cx="270648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0" lang="en-US" sz="1600" spc="-1" strike="noStrike">
                <a:solidFill>
                  <a:srgbClr val="0f172a"/>
                </a:solidFill>
                <a:latin typeface="Arial"/>
              </a:rPr>
              <a:t>code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"/>
          <p:cNvSpPr/>
          <p:nvPr/>
        </p:nvSpPr>
        <p:spPr>
          <a:xfrm>
            <a:off x="8458200" y="2286000"/>
            <a:ext cx="2889360" cy="749880"/>
          </a:xfrm>
          <a:prstGeom prst="rect">
            <a:avLst/>
          </a:prstGeom>
          <a:solidFill>
            <a:srgbClr val="ffffff"/>
          </a:solidFill>
          <a:ln w="9000">
            <a:solidFill>
              <a:srgbClr val="cbd5e1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"/>
          <p:cNvSpPr txBox="1"/>
          <p:nvPr/>
        </p:nvSpPr>
        <p:spPr>
          <a:xfrm>
            <a:off x="8549640" y="2340720"/>
            <a:ext cx="270648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0" lang="en-US" sz="1600" spc="-1" strike="noStrike">
                <a:solidFill>
                  <a:srgbClr val="0f172a"/>
                </a:solidFill>
                <a:latin typeface="Arial"/>
              </a:rPr>
              <a:t>real model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"/>
          <p:cNvSpPr/>
          <p:nvPr/>
        </p:nvSpPr>
        <p:spPr>
          <a:xfrm>
            <a:off x="713160" y="3035880"/>
            <a:ext cx="1965960" cy="749880"/>
          </a:xfrm>
          <a:prstGeom prst="rect">
            <a:avLst/>
          </a:prstGeom>
          <a:solidFill>
            <a:srgbClr val="f1f5f9"/>
          </a:solidFill>
          <a:ln w="9000">
            <a:solidFill>
              <a:srgbClr val="cbd5e1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"/>
          <p:cNvSpPr txBox="1"/>
          <p:nvPr/>
        </p:nvSpPr>
        <p:spPr>
          <a:xfrm>
            <a:off x="804600" y="3090600"/>
            <a:ext cx="178308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1600" spc="-1" strike="noStrike">
                <a:solidFill>
                  <a:srgbClr val="0f172a"/>
                </a:solidFill>
                <a:latin typeface="Arial"/>
              </a:rPr>
              <a:t>Model involved?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"/>
          <p:cNvSpPr/>
          <p:nvPr/>
        </p:nvSpPr>
        <p:spPr>
          <a:xfrm>
            <a:off x="2679120" y="3035880"/>
            <a:ext cx="2889360" cy="749880"/>
          </a:xfrm>
          <a:prstGeom prst="rect">
            <a:avLst/>
          </a:prstGeom>
          <a:solidFill>
            <a:srgbClr val="ffffff"/>
          </a:solidFill>
          <a:ln w="9000">
            <a:solidFill>
              <a:srgbClr val="cbd5e1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"/>
          <p:cNvSpPr txBox="1"/>
          <p:nvPr/>
        </p:nvSpPr>
        <p:spPr>
          <a:xfrm>
            <a:off x="2770560" y="3090600"/>
            <a:ext cx="270648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0" lang="en-US" sz="1600" spc="-1" strike="noStrike">
                <a:solidFill>
                  <a:srgbClr val="0f172a"/>
                </a:solidFill>
                <a:latin typeface="Arial"/>
              </a:rPr>
              <a:t>no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"/>
          <p:cNvSpPr/>
          <p:nvPr/>
        </p:nvSpPr>
        <p:spPr>
          <a:xfrm>
            <a:off x="5568840" y="3035880"/>
            <a:ext cx="2889360" cy="749880"/>
          </a:xfrm>
          <a:prstGeom prst="rect">
            <a:avLst/>
          </a:prstGeom>
          <a:solidFill>
            <a:srgbClr val="ffffff"/>
          </a:solidFill>
          <a:ln w="9000">
            <a:solidFill>
              <a:srgbClr val="cbd5e1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"/>
          <p:cNvSpPr txBox="1"/>
          <p:nvPr/>
        </p:nvSpPr>
        <p:spPr>
          <a:xfrm>
            <a:off x="5660280" y="3090600"/>
            <a:ext cx="270648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0" lang="en-US" sz="1600" spc="-1" strike="noStrike">
                <a:solidFill>
                  <a:srgbClr val="0f172a"/>
                </a:solidFill>
                <a:latin typeface="Arial"/>
              </a:rPr>
              <a:t>only if needed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"/>
          <p:cNvSpPr/>
          <p:nvPr/>
        </p:nvSpPr>
        <p:spPr>
          <a:xfrm>
            <a:off x="8458200" y="3035880"/>
            <a:ext cx="2889360" cy="749880"/>
          </a:xfrm>
          <a:prstGeom prst="rect">
            <a:avLst/>
          </a:prstGeom>
          <a:solidFill>
            <a:srgbClr val="ffffff"/>
          </a:solidFill>
          <a:ln w="9000">
            <a:solidFill>
              <a:srgbClr val="cbd5e1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"/>
          <p:cNvSpPr txBox="1"/>
          <p:nvPr/>
        </p:nvSpPr>
        <p:spPr>
          <a:xfrm>
            <a:off x="8549640" y="3090600"/>
            <a:ext cx="270648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0" lang="en-US" sz="1600" spc="-1" strike="noStrike">
                <a:solidFill>
                  <a:srgbClr val="0f172a"/>
                </a:solidFill>
                <a:latin typeface="Arial"/>
              </a:rPr>
              <a:t>yes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"/>
          <p:cNvSpPr/>
          <p:nvPr/>
        </p:nvSpPr>
        <p:spPr>
          <a:xfrm>
            <a:off x="713160" y="3785760"/>
            <a:ext cx="1965960" cy="749880"/>
          </a:xfrm>
          <a:prstGeom prst="rect">
            <a:avLst/>
          </a:prstGeom>
          <a:solidFill>
            <a:srgbClr val="f1f5f9"/>
          </a:solidFill>
          <a:ln w="9000">
            <a:solidFill>
              <a:srgbClr val="cbd5e1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"/>
          <p:cNvSpPr txBox="1"/>
          <p:nvPr/>
        </p:nvSpPr>
        <p:spPr>
          <a:xfrm>
            <a:off x="804600" y="3840480"/>
            <a:ext cx="178308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1600" spc="-1" strike="noStrike">
                <a:solidFill>
                  <a:srgbClr val="0f172a"/>
                </a:solidFill>
                <a:latin typeface="Arial"/>
              </a:rPr>
              <a:t>Best fit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"/>
          <p:cNvSpPr/>
          <p:nvPr/>
        </p:nvSpPr>
        <p:spPr>
          <a:xfrm>
            <a:off x="2679120" y="3785760"/>
            <a:ext cx="2889360" cy="749880"/>
          </a:xfrm>
          <a:prstGeom prst="rect">
            <a:avLst/>
          </a:prstGeom>
          <a:solidFill>
            <a:srgbClr val="ffffff"/>
          </a:solidFill>
          <a:ln w="9000">
            <a:solidFill>
              <a:srgbClr val="cbd5e1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"/>
          <p:cNvSpPr txBox="1"/>
          <p:nvPr/>
        </p:nvSpPr>
        <p:spPr>
          <a:xfrm>
            <a:off x="2770560" y="3840480"/>
            <a:ext cx="270648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0" lang="en-US" sz="1600" spc="-1" strike="noStrike">
                <a:solidFill>
                  <a:srgbClr val="0f172a"/>
                </a:solidFill>
                <a:latin typeface="Arial"/>
              </a:rPr>
              <a:t>repeatable work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"/>
          <p:cNvSpPr/>
          <p:nvPr/>
        </p:nvSpPr>
        <p:spPr>
          <a:xfrm>
            <a:off x="5568840" y="3785760"/>
            <a:ext cx="2889360" cy="749880"/>
          </a:xfrm>
          <a:prstGeom prst="rect">
            <a:avLst/>
          </a:prstGeom>
          <a:solidFill>
            <a:srgbClr val="ffffff"/>
          </a:solidFill>
          <a:ln w="9000">
            <a:solidFill>
              <a:srgbClr val="cbd5e1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"/>
          <p:cNvSpPr txBox="1"/>
          <p:nvPr/>
        </p:nvSpPr>
        <p:spPr>
          <a:xfrm>
            <a:off x="5660280" y="3840480"/>
            <a:ext cx="270648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0" lang="en-US" sz="1600" spc="-1" strike="noStrike">
                <a:solidFill>
                  <a:srgbClr val="0f172a"/>
                </a:solidFill>
                <a:latin typeface="Arial"/>
              </a:rPr>
              <a:t>bounded ambiguity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"/>
          <p:cNvSpPr/>
          <p:nvPr/>
        </p:nvSpPr>
        <p:spPr>
          <a:xfrm>
            <a:off x="8458200" y="3785760"/>
            <a:ext cx="2889360" cy="749880"/>
          </a:xfrm>
          <a:prstGeom prst="rect">
            <a:avLst/>
          </a:prstGeom>
          <a:solidFill>
            <a:srgbClr val="ffffff"/>
          </a:solidFill>
          <a:ln w="9000">
            <a:solidFill>
              <a:srgbClr val="cbd5e1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"/>
          <p:cNvSpPr txBox="1"/>
          <p:nvPr/>
        </p:nvSpPr>
        <p:spPr>
          <a:xfrm>
            <a:off x="8549640" y="3840480"/>
            <a:ext cx="270648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0" lang="en-US" sz="1600" spc="-1" strike="noStrike">
                <a:solidFill>
                  <a:srgbClr val="0f172a"/>
                </a:solidFill>
                <a:latin typeface="Arial"/>
              </a:rPr>
              <a:t>open semantic work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"/>
          <p:cNvSpPr/>
          <p:nvPr/>
        </p:nvSpPr>
        <p:spPr>
          <a:xfrm>
            <a:off x="713160" y="4535280"/>
            <a:ext cx="1965960" cy="749880"/>
          </a:xfrm>
          <a:prstGeom prst="rect">
            <a:avLst/>
          </a:prstGeom>
          <a:solidFill>
            <a:srgbClr val="f1f5f9"/>
          </a:solidFill>
          <a:ln w="9000">
            <a:solidFill>
              <a:srgbClr val="cbd5e1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"/>
          <p:cNvSpPr txBox="1"/>
          <p:nvPr/>
        </p:nvSpPr>
        <p:spPr>
          <a:xfrm>
            <a:off x="804600" y="4590360"/>
            <a:ext cx="178308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1600" spc="-1" strike="noStrike">
                <a:solidFill>
                  <a:srgbClr val="0f172a"/>
                </a:solidFill>
                <a:latin typeface="Arial"/>
              </a:rPr>
              <a:t>Still controlled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"/>
          <p:cNvSpPr/>
          <p:nvPr/>
        </p:nvSpPr>
        <p:spPr>
          <a:xfrm>
            <a:off x="2679120" y="4535280"/>
            <a:ext cx="2889360" cy="749880"/>
          </a:xfrm>
          <a:prstGeom prst="rect">
            <a:avLst/>
          </a:prstGeom>
          <a:solidFill>
            <a:srgbClr val="ffffff"/>
          </a:solidFill>
          <a:ln w="9000">
            <a:solidFill>
              <a:srgbClr val="cbd5e1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"/>
          <p:cNvSpPr txBox="1"/>
          <p:nvPr/>
        </p:nvSpPr>
        <p:spPr>
          <a:xfrm>
            <a:off x="2770560" y="4590360"/>
            <a:ext cx="270648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0" lang="en-US" sz="1600" spc="-1" strike="noStrike">
                <a:solidFill>
                  <a:srgbClr val="0f172a"/>
                </a:solidFill>
                <a:latin typeface="Arial"/>
              </a:rPr>
              <a:t>effects and limits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"/>
          <p:cNvSpPr/>
          <p:nvPr/>
        </p:nvSpPr>
        <p:spPr>
          <a:xfrm>
            <a:off x="5568840" y="4535280"/>
            <a:ext cx="2889360" cy="749880"/>
          </a:xfrm>
          <a:prstGeom prst="rect">
            <a:avLst/>
          </a:prstGeom>
          <a:solidFill>
            <a:srgbClr val="ffffff"/>
          </a:solidFill>
          <a:ln w="9000">
            <a:solidFill>
              <a:srgbClr val="cbd5e1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"/>
          <p:cNvSpPr txBox="1"/>
          <p:nvPr/>
        </p:nvSpPr>
        <p:spPr>
          <a:xfrm>
            <a:off x="5660280" y="4590360"/>
            <a:ext cx="270648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0" lang="en-US" sz="1600" spc="-1" strike="noStrike">
                <a:solidFill>
                  <a:srgbClr val="0f172a"/>
                </a:solidFill>
                <a:latin typeface="Arial"/>
              </a:rPr>
              <a:t>effects and limits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"/>
          <p:cNvSpPr/>
          <p:nvPr/>
        </p:nvSpPr>
        <p:spPr>
          <a:xfrm>
            <a:off x="8458200" y="4535280"/>
            <a:ext cx="2889360" cy="749880"/>
          </a:xfrm>
          <a:prstGeom prst="rect">
            <a:avLst/>
          </a:prstGeom>
          <a:solidFill>
            <a:srgbClr val="ffffff"/>
          </a:solidFill>
          <a:ln w="9000">
            <a:solidFill>
              <a:srgbClr val="cbd5e1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"/>
          <p:cNvSpPr txBox="1"/>
          <p:nvPr/>
        </p:nvSpPr>
        <p:spPr>
          <a:xfrm>
            <a:off x="8549640" y="4590360"/>
            <a:ext cx="270648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0" lang="en-US" sz="1600" spc="-1" strike="noStrike">
                <a:solidFill>
                  <a:srgbClr val="0f172a"/>
                </a:solidFill>
                <a:latin typeface="Arial"/>
              </a:rPr>
              <a:t>effects and limits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8fafc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"/>
          <p:cNvSpPr/>
          <p:nvPr/>
        </p:nvSpPr>
        <p:spPr>
          <a:xfrm>
            <a:off x="0" y="0"/>
            <a:ext cx="12192120" cy="73080"/>
          </a:xfrm>
          <a:prstGeom prst="rect">
            <a:avLst/>
          </a:prstGeom>
          <a:solidFill>
            <a:srgbClr val="2563eb"/>
          </a:solidFill>
          <a:ln w="0">
            <a:noFill/>
          </a:ln>
        </p:spPr>
        <p:txBody>
          <a:bodyPr lIns="90000" rIns="90000" tIns="28080" bIns="2808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9" name=""/>
          <p:cNvSpPr txBox="1"/>
          <p:nvPr/>
        </p:nvSpPr>
        <p:spPr>
          <a:xfrm>
            <a:off x="621720" y="210240"/>
            <a:ext cx="804672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1" lang="en-US" sz="1100" spc="-1" strike="noStrike">
                <a:solidFill>
                  <a:srgbClr val="2563eb"/>
                </a:solidFill>
                <a:latin typeface="Arial"/>
              </a:rPr>
              <a:t>PROFILES ORGANIZE PURPOSE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"/>
          <p:cNvSpPr txBox="1"/>
          <p:nvPr/>
        </p:nvSpPr>
        <p:spPr>
          <a:xfrm>
            <a:off x="10698480" y="201240"/>
            <a:ext cx="86868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r"/>
            <a:r>
              <a:rPr b="1" lang="en-US" sz="1100" spc="-1" strike="noStrike">
                <a:solidFill>
                  <a:srgbClr val="475569"/>
                </a:solidFill>
                <a:latin typeface="Arial"/>
              </a:rPr>
              <a:t>10 / 26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"/>
          <p:cNvSpPr txBox="1"/>
          <p:nvPr/>
        </p:nvSpPr>
        <p:spPr>
          <a:xfrm>
            <a:off x="621720" y="438840"/>
            <a:ext cx="1024128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t">
            <a:noAutofit/>
          </a:bodyPr>
          <a:p>
            <a:r>
              <a:rPr b="1" lang="en-US" sz="3200" spc="-1" strike="noStrike">
                <a:solidFill>
                  <a:srgbClr val="0f172a"/>
                </a:solidFill>
                <a:latin typeface="Arial"/>
              </a:rPr>
              <a:t>One Loop runtime, three role branches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"/>
          <p:cNvSpPr txBox="1"/>
          <p:nvPr/>
        </p:nvSpPr>
        <p:spPr>
          <a:xfrm>
            <a:off x="621720" y="969120"/>
            <a:ext cx="1097280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0" lang="en-US" sz="1700" spc="-1" strike="noStrike">
                <a:solidFill>
                  <a:srgbClr val="475569"/>
                </a:solidFill>
                <a:latin typeface="Arial"/>
              </a:rPr>
              <a:t>Role, mode, profile, category, and graph relationship stay separate.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"/>
          <p:cNvSpPr/>
          <p:nvPr/>
        </p:nvSpPr>
        <p:spPr>
          <a:xfrm>
            <a:off x="621720" y="5843160"/>
            <a:ext cx="10945440" cy="393120"/>
          </a:xfrm>
          <a:prstGeom prst="roundRect">
            <a:avLst/>
          </a:prstGeom>
          <a:solidFill>
            <a:srgbClr val="f1f5f9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"/>
          <p:cNvSpPr txBox="1"/>
          <p:nvPr/>
        </p:nvSpPr>
        <p:spPr>
          <a:xfrm>
            <a:off x="731520" y="5879520"/>
            <a:ext cx="1071684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0" lang="en-US" sz="1300" spc="-1" strike="noStrike">
                <a:solidFill>
                  <a:srgbClr val="475569"/>
                </a:solidFill>
                <a:latin typeface="Arial"/>
              </a:rPr>
              <a:t>Profiles are versioned behavior presets. They do not create another runtime class.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"/>
          <p:cNvSpPr txBox="1"/>
          <p:nvPr/>
        </p:nvSpPr>
        <p:spPr>
          <a:xfrm>
            <a:off x="621720" y="6291000"/>
            <a:ext cx="992124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0" lang="en-US" sz="1050" spc="-1" strike="noStrike">
                <a:solidFill>
                  <a:srgbClr val="475569"/>
                </a:solidFill>
                <a:latin typeface="Arial"/>
              </a:rPr>
              <a:t>A spawned Loop is still the same runtime type. Its role profile states why it exists.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"/>
          <p:cNvSpPr txBox="1"/>
          <p:nvPr/>
        </p:nvSpPr>
        <p:spPr>
          <a:xfrm>
            <a:off x="10561320" y="6291000"/>
            <a:ext cx="1005840" cy="54900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r"/>
            <a:r>
              <a:rPr b="1" lang="en-US" sz="1050" spc="-1" strike="noStrike">
                <a:solidFill>
                  <a:srgbClr val="64748b"/>
                </a:solidFill>
                <a:latin typeface="Arial"/>
              </a:rPr>
              <a:t>LOOP ENGINE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"/>
          <p:cNvSpPr/>
          <p:nvPr/>
        </p:nvSpPr>
        <p:spPr>
          <a:xfrm flipH="1">
            <a:off x="2331720" y="2487240"/>
            <a:ext cx="3767400" cy="576000"/>
          </a:xfrm>
          <a:prstGeom prst="line">
            <a:avLst/>
          </a:prstGeom>
          <a:ln w="16200">
            <a:solidFill>
              <a:srgbClr val="64748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7920" rIns="97920" tIns="52920" bIns="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"/>
          <p:cNvSpPr/>
          <p:nvPr/>
        </p:nvSpPr>
        <p:spPr>
          <a:xfrm>
            <a:off x="6099120" y="2487240"/>
            <a:ext cx="0" cy="576000"/>
          </a:xfrm>
          <a:prstGeom prst="line">
            <a:avLst/>
          </a:prstGeom>
          <a:ln w="16200">
            <a:solidFill>
              <a:srgbClr val="64748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7920" rIns="97920" tIns="52920" bIns="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"/>
          <p:cNvSpPr/>
          <p:nvPr/>
        </p:nvSpPr>
        <p:spPr>
          <a:xfrm>
            <a:off x="6099120" y="2487240"/>
            <a:ext cx="3749040" cy="576000"/>
          </a:xfrm>
          <a:prstGeom prst="line">
            <a:avLst/>
          </a:prstGeom>
          <a:ln w="16200">
            <a:solidFill>
              <a:srgbClr val="64748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7920" rIns="97920" tIns="52920" bIns="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"/>
          <p:cNvSpPr/>
          <p:nvPr/>
        </p:nvSpPr>
        <p:spPr>
          <a:xfrm>
            <a:off x="5120640" y="1572840"/>
            <a:ext cx="1956960" cy="1005840"/>
          </a:xfrm>
          <a:prstGeom prst="ellipse">
            <a:avLst/>
          </a:prstGeom>
          <a:solidFill>
            <a:srgbClr val="f1f5f9"/>
          </a:solidFill>
          <a:ln w="21600">
            <a:solidFill>
              <a:srgbClr val="64748b"/>
            </a:solidFill>
            <a:round/>
          </a:ln>
        </p:spPr>
        <p:txBody>
          <a:bodyPr lIns="100800" rIns="100800" tIns="55800" bIns="558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"/>
          <p:cNvSpPr txBox="1"/>
          <p:nvPr/>
        </p:nvSpPr>
        <p:spPr>
          <a:xfrm>
            <a:off x="5230440" y="1682640"/>
            <a:ext cx="173736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2400" spc="-1" strike="noStrike">
                <a:solidFill>
                  <a:srgbClr val="0f172a"/>
                </a:solidFill>
                <a:latin typeface="Arial"/>
              </a:rPr>
              <a:t>Loop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"/>
          <p:cNvSpPr/>
          <p:nvPr/>
        </p:nvSpPr>
        <p:spPr>
          <a:xfrm>
            <a:off x="1280160" y="2834640"/>
            <a:ext cx="2103120" cy="1097280"/>
          </a:xfrm>
          <a:prstGeom prst="ellipse">
            <a:avLst/>
          </a:prstGeom>
          <a:solidFill>
            <a:srgbClr val="dbeafe"/>
          </a:solidFill>
          <a:ln w="21600">
            <a:solidFill>
              <a:srgbClr val="2563eb"/>
            </a:solidFill>
            <a:round/>
          </a:ln>
        </p:spPr>
        <p:txBody>
          <a:bodyPr lIns="100800" rIns="100800" tIns="55800" bIns="558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"/>
          <p:cNvSpPr txBox="1"/>
          <p:nvPr/>
        </p:nvSpPr>
        <p:spPr>
          <a:xfrm>
            <a:off x="1389960" y="2944440"/>
            <a:ext cx="188352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1900" spc="-1" strike="noStrike">
                <a:solidFill>
                  <a:srgbClr val="0f172a"/>
                </a:solidFill>
                <a:latin typeface="Arial"/>
              </a:rPr>
              <a:t>Practitioner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"/>
          <p:cNvSpPr txBox="1"/>
          <p:nvPr/>
        </p:nvSpPr>
        <p:spPr>
          <a:xfrm>
            <a:off x="978480" y="4114800"/>
            <a:ext cx="2706480" cy="15728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t">
            <a:noAutofit/>
          </a:bodyPr>
          <a:p>
            <a:r>
              <a:rPr b="0" lang="en-US" sz="1600" spc="-1" strike="noStrike">
                <a:solidFill>
                  <a:srgbClr val="475569"/>
                </a:solidFill>
                <a:latin typeface="Arial"/>
              </a:rPr>
              <a:t>• </a:t>
            </a:r>
            <a:r>
              <a:rPr b="0" lang="en-US" sz="1600" spc="-1" strike="noStrike">
                <a:solidFill>
                  <a:srgbClr val="475569"/>
                </a:solidFill>
                <a:latin typeface="Arial"/>
              </a:rPr>
              <a:t>reference and compact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475569"/>
                </a:solidFill>
                <a:latin typeface="Arial"/>
              </a:rPr>
              <a:t>• </a:t>
            </a:r>
            <a:r>
              <a:rPr b="0" lang="en-US" sz="1600" spc="-1" strike="noStrike">
                <a:solidFill>
                  <a:srgbClr val="475569"/>
                </a:solidFill>
                <a:latin typeface="Arial"/>
              </a:rPr>
              <a:t>research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475569"/>
                </a:solidFill>
                <a:latin typeface="Arial"/>
              </a:rPr>
              <a:t>• </a:t>
            </a:r>
            <a:r>
              <a:rPr b="0" lang="en-US" sz="1600" spc="-1" strike="noStrike">
                <a:solidFill>
                  <a:srgbClr val="475569"/>
                </a:solidFill>
                <a:latin typeface="Arial"/>
              </a:rPr>
              <a:t>solver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475569"/>
                </a:solidFill>
                <a:latin typeface="Arial"/>
              </a:rPr>
              <a:t>• </a:t>
            </a:r>
            <a:r>
              <a:rPr b="0" lang="en-US" sz="1600" spc="-1" strike="noStrike">
                <a:solidFill>
                  <a:srgbClr val="475569"/>
                </a:solidFill>
                <a:latin typeface="Arial"/>
              </a:rPr>
              <a:t>verifier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475569"/>
                </a:solidFill>
                <a:latin typeface="Arial"/>
              </a:rPr>
              <a:t>• </a:t>
            </a:r>
            <a:r>
              <a:rPr b="0" lang="en-US" sz="1600" spc="-1" strike="noStrike">
                <a:solidFill>
                  <a:srgbClr val="475569"/>
                </a:solidFill>
                <a:latin typeface="Arial"/>
              </a:rPr>
              <a:t>self-improvement and code execution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"/>
          <p:cNvSpPr/>
          <p:nvPr/>
        </p:nvSpPr>
        <p:spPr>
          <a:xfrm>
            <a:off x="5047560" y="2834640"/>
            <a:ext cx="2103120" cy="1097280"/>
          </a:xfrm>
          <a:prstGeom prst="ellipse">
            <a:avLst/>
          </a:prstGeom>
          <a:solidFill>
            <a:srgbClr val="ede9fe"/>
          </a:solidFill>
          <a:ln w="21600">
            <a:solidFill>
              <a:srgbClr val="7c3aed"/>
            </a:solidFill>
            <a:round/>
          </a:ln>
        </p:spPr>
        <p:txBody>
          <a:bodyPr lIns="100800" rIns="100800" tIns="55800" bIns="558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"/>
          <p:cNvSpPr txBox="1"/>
          <p:nvPr/>
        </p:nvSpPr>
        <p:spPr>
          <a:xfrm>
            <a:off x="5157360" y="2944440"/>
            <a:ext cx="188352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1900" spc="-1" strike="noStrike">
                <a:solidFill>
                  <a:srgbClr val="0f172a"/>
                </a:solidFill>
                <a:latin typeface="Arial"/>
              </a:rPr>
              <a:t>Intelligence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"/>
          <p:cNvSpPr txBox="1"/>
          <p:nvPr/>
        </p:nvSpPr>
        <p:spPr>
          <a:xfrm>
            <a:off x="4745880" y="4114800"/>
            <a:ext cx="2706480" cy="131688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t">
            <a:noAutofit/>
          </a:bodyPr>
          <a:p>
            <a:r>
              <a:rPr b="0" lang="en-US" sz="1600" spc="-1" strike="noStrike">
                <a:solidFill>
                  <a:srgbClr val="475569"/>
                </a:solidFill>
                <a:latin typeface="Arial"/>
              </a:rPr>
              <a:t>• </a:t>
            </a:r>
            <a:r>
              <a:rPr b="0" lang="en-US" sz="1600" spc="-1" strike="noStrike">
                <a:solidFill>
                  <a:srgbClr val="475569"/>
                </a:solidFill>
                <a:latin typeface="Arial"/>
              </a:rPr>
              <a:t>Context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475569"/>
                </a:solidFill>
                <a:latin typeface="Arial"/>
              </a:rPr>
              <a:t>• </a:t>
            </a:r>
            <a:r>
              <a:rPr b="0" lang="en-US" sz="1600" spc="-1" strike="noStrike">
                <a:solidFill>
                  <a:srgbClr val="475569"/>
                </a:solidFill>
                <a:latin typeface="Arial"/>
              </a:rPr>
              <a:t>Code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475569"/>
                </a:solidFill>
                <a:latin typeface="Arial"/>
              </a:rPr>
              <a:t>• </a:t>
            </a:r>
            <a:r>
              <a:rPr b="0" lang="en-US" sz="1600" spc="-1" strike="noStrike">
                <a:solidFill>
                  <a:srgbClr val="475569"/>
                </a:solidFill>
                <a:latin typeface="Arial"/>
              </a:rPr>
              <a:t>Runtime History and Solution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475569"/>
                </a:solidFill>
                <a:latin typeface="Arial"/>
              </a:rPr>
              <a:t>• </a:t>
            </a:r>
            <a:r>
              <a:rPr b="0" lang="en-US" sz="1600" spc="-1" strike="noStrike">
                <a:solidFill>
                  <a:srgbClr val="475569"/>
                </a:solidFill>
                <a:latin typeface="Arial"/>
              </a:rPr>
              <a:t>User Feedback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"/>
          <p:cNvSpPr/>
          <p:nvPr/>
        </p:nvSpPr>
        <p:spPr>
          <a:xfrm>
            <a:off x="8796600" y="2834640"/>
            <a:ext cx="2103120" cy="1097280"/>
          </a:xfrm>
          <a:prstGeom prst="ellipse">
            <a:avLst/>
          </a:prstGeom>
          <a:solidFill>
            <a:srgbClr val="dcfce7"/>
          </a:solidFill>
          <a:ln w="21600">
            <a:solidFill>
              <a:srgbClr val="15803d"/>
            </a:solidFill>
            <a:round/>
          </a:ln>
        </p:spPr>
        <p:txBody>
          <a:bodyPr lIns="100800" rIns="100800" tIns="55800" bIns="558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"/>
          <p:cNvSpPr txBox="1"/>
          <p:nvPr/>
        </p:nvSpPr>
        <p:spPr>
          <a:xfrm>
            <a:off x="8906400" y="2944440"/>
            <a:ext cx="188352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1900" spc="-1" strike="noStrike">
                <a:solidFill>
                  <a:srgbClr val="0f172a"/>
                </a:solidFill>
                <a:latin typeface="Arial"/>
              </a:rPr>
              <a:t>Solution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"/>
          <p:cNvSpPr txBox="1"/>
          <p:nvPr/>
        </p:nvSpPr>
        <p:spPr>
          <a:xfrm>
            <a:off x="8494920" y="4114800"/>
            <a:ext cx="2706480" cy="131688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t">
            <a:noAutofit/>
          </a:bodyPr>
          <a:p>
            <a:r>
              <a:rPr b="0" lang="en-US" sz="1600" spc="-1" strike="noStrike">
                <a:solidFill>
                  <a:srgbClr val="475569"/>
                </a:solidFill>
                <a:latin typeface="Arial"/>
              </a:rPr>
              <a:t>• </a:t>
            </a:r>
            <a:r>
              <a:rPr b="0" lang="en-US" sz="1600" spc="-1" strike="noStrike">
                <a:solidFill>
                  <a:srgbClr val="475569"/>
                </a:solidFill>
                <a:latin typeface="Arial"/>
              </a:rPr>
              <a:t>atomic component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475569"/>
                </a:solidFill>
                <a:latin typeface="Arial"/>
              </a:rPr>
              <a:t>• </a:t>
            </a:r>
            <a:r>
              <a:rPr b="0" lang="en-US" sz="1600" spc="-1" strike="noStrike">
                <a:solidFill>
                  <a:srgbClr val="475569"/>
                </a:solidFill>
                <a:latin typeface="Arial"/>
              </a:rPr>
              <a:t>pipeline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475569"/>
                </a:solidFill>
                <a:latin typeface="Arial"/>
              </a:rPr>
              <a:t>• </a:t>
            </a:r>
            <a:r>
              <a:rPr b="0" lang="en-US" sz="1600" spc="-1" strike="noStrike">
                <a:solidFill>
                  <a:srgbClr val="475569"/>
                </a:solidFill>
                <a:latin typeface="Arial"/>
              </a:rPr>
              <a:t>router and fallback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475569"/>
                </a:solidFill>
                <a:latin typeface="Arial"/>
              </a:rPr>
              <a:t>• </a:t>
            </a:r>
            <a:r>
              <a:rPr b="0" lang="en-US" sz="1600" spc="-1" strike="noStrike">
                <a:solidFill>
                  <a:srgbClr val="475569"/>
                </a:solidFill>
                <a:latin typeface="Arial"/>
              </a:rPr>
              <a:t>ensemble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475569"/>
                </a:solidFill>
                <a:latin typeface="Arial"/>
              </a:rPr>
              <a:t>• </a:t>
            </a:r>
            <a:r>
              <a:rPr b="0" lang="en-US" sz="1600" spc="-1" strike="noStrike">
                <a:solidFill>
                  <a:srgbClr val="475569"/>
                </a:solidFill>
                <a:latin typeface="Arial"/>
              </a:rPr>
              <a:t>validator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8fafc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"/>
          <p:cNvSpPr/>
          <p:nvPr/>
        </p:nvSpPr>
        <p:spPr>
          <a:xfrm>
            <a:off x="0" y="0"/>
            <a:ext cx="12192120" cy="73080"/>
          </a:xfrm>
          <a:prstGeom prst="rect">
            <a:avLst/>
          </a:prstGeom>
          <a:solidFill>
            <a:srgbClr val="2563eb"/>
          </a:solidFill>
          <a:ln w="0">
            <a:noFill/>
          </a:ln>
        </p:spPr>
        <p:txBody>
          <a:bodyPr lIns="90000" rIns="90000" tIns="28080" bIns="2808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5" name=""/>
          <p:cNvSpPr txBox="1"/>
          <p:nvPr/>
        </p:nvSpPr>
        <p:spPr>
          <a:xfrm>
            <a:off x="621720" y="210240"/>
            <a:ext cx="804672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1" lang="en-US" sz="1100" spc="-1" strike="noStrike">
                <a:solidFill>
                  <a:srgbClr val="2563eb"/>
                </a:solidFill>
                <a:latin typeface="Arial"/>
              </a:rPr>
              <a:t>PRACTITIONER PROFILE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"/>
          <p:cNvSpPr txBox="1"/>
          <p:nvPr/>
        </p:nvSpPr>
        <p:spPr>
          <a:xfrm>
            <a:off x="10698480" y="201240"/>
            <a:ext cx="86868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r"/>
            <a:r>
              <a:rPr b="1" lang="en-US" sz="1100" spc="-1" strike="noStrike">
                <a:solidFill>
                  <a:srgbClr val="475569"/>
                </a:solidFill>
                <a:latin typeface="Arial"/>
              </a:rPr>
              <a:t>11 / 26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"/>
          <p:cNvSpPr txBox="1"/>
          <p:nvPr/>
        </p:nvSpPr>
        <p:spPr>
          <a:xfrm>
            <a:off x="621720" y="438840"/>
            <a:ext cx="1024128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t">
            <a:noAutofit/>
          </a:bodyPr>
          <a:p>
            <a:r>
              <a:rPr b="1" lang="en-US" sz="2800" spc="-1" strike="noStrike">
                <a:solidFill>
                  <a:srgbClr val="0f172a"/>
                </a:solidFill>
                <a:latin typeface="Arial"/>
              </a:rPr>
              <a:t>A Practitioner Loop decides what work is useful next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"/>
          <p:cNvSpPr txBox="1"/>
          <p:nvPr/>
        </p:nvSpPr>
        <p:spPr>
          <a:xfrm>
            <a:off x="621720" y="969120"/>
            <a:ext cx="1097280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0" lang="en-US" sz="1700" spc="-1" strike="noStrike">
                <a:solidFill>
                  <a:srgbClr val="475569"/>
                </a:solidFill>
                <a:latin typeface="Arial"/>
              </a:rPr>
              <a:t>A simple presentation profile uses five steps. Runtime profiles may contain different steps.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"/>
          <p:cNvSpPr/>
          <p:nvPr/>
        </p:nvSpPr>
        <p:spPr>
          <a:xfrm>
            <a:off x="621720" y="5843160"/>
            <a:ext cx="10945440" cy="393120"/>
          </a:xfrm>
          <a:prstGeom prst="roundRect">
            <a:avLst/>
          </a:prstGeom>
          <a:solidFill>
            <a:srgbClr val="f1f5f9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"/>
          <p:cNvSpPr txBox="1"/>
          <p:nvPr/>
        </p:nvSpPr>
        <p:spPr>
          <a:xfrm>
            <a:off x="731520" y="5879520"/>
            <a:ext cx="10716840" cy="54900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0" lang="en-US" sz="1300" spc="-1" strike="noStrike">
                <a:solidFill>
                  <a:srgbClr val="475569"/>
                </a:solidFill>
                <a:latin typeface="Arial"/>
              </a:rPr>
              <a:t>The reference nine-step profile remains available. Custom profiles are valid when bounded and versioned.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"/>
          <p:cNvSpPr txBox="1"/>
          <p:nvPr/>
        </p:nvSpPr>
        <p:spPr>
          <a:xfrm>
            <a:off x="621720" y="6291000"/>
            <a:ext cx="992124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0" lang="en-US" sz="1050" spc="-1" strike="noStrike">
                <a:solidFill>
                  <a:srgbClr val="475569"/>
                </a:solidFill>
                <a:latin typeface="Arial"/>
              </a:rPr>
              <a:t>The Loop repeats only while its loop condition is true and its budget allows more work.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"/>
          <p:cNvSpPr txBox="1"/>
          <p:nvPr/>
        </p:nvSpPr>
        <p:spPr>
          <a:xfrm>
            <a:off x="10561320" y="6291000"/>
            <a:ext cx="1005840" cy="54900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r"/>
            <a:r>
              <a:rPr b="1" lang="en-US" sz="1050" spc="-1" strike="noStrike">
                <a:solidFill>
                  <a:srgbClr val="64748b"/>
                </a:solidFill>
                <a:latin typeface="Arial"/>
              </a:rPr>
              <a:t>LOOP ENGINE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"/>
          <p:cNvSpPr/>
          <p:nvPr/>
        </p:nvSpPr>
        <p:spPr>
          <a:xfrm>
            <a:off x="2231280" y="2898720"/>
            <a:ext cx="694800" cy="0"/>
          </a:xfrm>
          <a:prstGeom prst="line">
            <a:avLst/>
          </a:prstGeom>
          <a:ln w="16200">
            <a:solidFill>
              <a:srgbClr val="2563e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7920" rIns="97920" tIns="-52920" bIns="-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"/>
          <p:cNvSpPr/>
          <p:nvPr/>
        </p:nvSpPr>
        <p:spPr>
          <a:xfrm>
            <a:off x="4370760" y="2898720"/>
            <a:ext cx="694800" cy="0"/>
          </a:xfrm>
          <a:prstGeom prst="line">
            <a:avLst/>
          </a:prstGeom>
          <a:ln w="16200">
            <a:solidFill>
              <a:srgbClr val="2563e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7920" rIns="97920" tIns="-52920" bIns="-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"/>
          <p:cNvSpPr/>
          <p:nvPr/>
        </p:nvSpPr>
        <p:spPr>
          <a:xfrm>
            <a:off x="6510600" y="2898720"/>
            <a:ext cx="694800" cy="0"/>
          </a:xfrm>
          <a:prstGeom prst="line">
            <a:avLst/>
          </a:prstGeom>
          <a:ln w="16200">
            <a:solidFill>
              <a:srgbClr val="2563e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7920" rIns="97920" tIns="-52920" bIns="-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"/>
          <p:cNvSpPr/>
          <p:nvPr/>
        </p:nvSpPr>
        <p:spPr>
          <a:xfrm>
            <a:off x="8650080" y="2898720"/>
            <a:ext cx="694800" cy="0"/>
          </a:xfrm>
          <a:prstGeom prst="line">
            <a:avLst/>
          </a:prstGeom>
          <a:ln w="16200">
            <a:solidFill>
              <a:srgbClr val="2563e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7920" rIns="97920" tIns="-52920" bIns="-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"/>
          <p:cNvSpPr/>
          <p:nvPr/>
        </p:nvSpPr>
        <p:spPr>
          <a:xfrm>
            <a:off x="786240" y="2240280"/>
            <a:ext cx="1444680" cy="1298520"/>
          </a:xfrm>
          <a:prstGeom prst="ellipse">
            <a:avLst/>
          </a:prstGeom>
          <a:solidFill>
            <a:srgbClr val="dbeafe"/>
          </a:solidFill>
          <a:ln w="21600">
            <a:solidFill>
              <a:srgbClr val="2563eb"/>
            </a:solidFill>
            <a:round/>
          </a:ln>
        </p:spPr>
        <p:txBody>
          <a:bodyPr lIns="100800" rIns="100800" tIns="55800" bIns="558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"/>
          <p:cNvSpPr txBox="1"/>
          <p:nvPr/>
        </p:nvSpPr>
        <p:spPr>
          <a:xfrm>
            <a:off x="896040" y="2350080"/>
            <a:ext cx="122544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1700" spc="-1" strike="noStrike">
                <a:solidFill>
                  <a:srgbClr val="0f172a"/>
                </a:solidFill>
                <a:latin typeface="Arial"/>
              </a:rPr>
              <a:t>Orient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"/>
          <p:cNvSpPr/>
          <p:nvPr/>
        </p:nvSpPr>
        <p:spPr>
          <a:xfrm>
            <a:off x="2926080" y="2240280"/>
            <a:ext cx="1444680" cy="1298520"/>
          </a:xfrm>
          <a:prstGeom prst="ellipse">
            <a:avLst/>
          </a:prstGeom>
          <a:solidFill>
            <a:srgbClr val="dbeafe"/>
          </a:solidFill>
          <a:ln w="21600">
            <a:solidFill>
              <a:srgbClr val="2563eb"/>
            </a:solidFill>
            <a:round/>
          </a:ln>
        </p:spPr>
        <p:txBody>
          <a:bodyPr lIns="100800" rIns="100800" tIns="55800" bIns="558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"/>
          <p:cNvSpPr txBox="1"/>
          <p:nvPr/>
        </p:nvSpPr>
        <p:spPr>
          <a:xfrm>
            <a:off x="3035880" y="2350080"/>
            <a:ext cx="1225440" cy="54900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1700" spc="-1" strike="noStrike">
                <a:solidFill>
                  <a:srgbClr val="0f172a"/>
                </a:solidFill>
                <a:latin typeface="Arial"/>
              </a:rPr>
              <a:t>Decide next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"/>
          <p:cNvSpPr/>
          <p:nvPr/>
        </p:nvSpPr>
        <p:spPr>
          <a:xfrm>
            <a:off x="5065920" y="2240280"/>
            <a:ext cx="1444680" cy="1298520"/>
          </a:xfrm>
          <a:prstGeom prst="ellipse">
            <a:avLst/>
          </a:prstGeom>
          <a:solidFill>
            <a:srgbClr val="dbeafe"/>
          </a:solidFill>
          <a:ln w="21600">
            <a:solidFill>
              <a:srgbClr val="2563eb"/>
            </a:solidFill>
            <a:round/>
          </a:ln>
        </p:spPr>
        <p:txBody>
          <a:bodyPr lIns="100800" rIns="100800" tIns="55800" bIns="558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"/>
          <p:cNvSpPr txBox="1"/>
          <p:nvPr/>
        </p:nvSpPr>
        <p:spPr>
          <a:xfrm>
            <a:off x="5175360" y="2350080"/>
            <a:ext cx="122544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1700" spc="-1" strike="noStrike">
                <a:solidFill>
                  <a:srgbClr val="0f172a"/>
                </a:solidFill>
                <a:latin typeface="Arial"/>
              </a:rPr>
              <a:t>Plan how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"/>
          <p:cNvSpPr/>
          <p:nvPr/>
        </p:nvSpPr>
        <p:spPr>
          <a:xfrm>
            <a:off x="7205400" y="2240280"/>
            <a:ext cx="1444680" cy="1298520"/>
          </a:xfrm>
          <a:prstGeom prst="ellipse">
            <a:avLst/>
          </a:prstGeom>
          <a:solidFill>
            <a:srgbClr val="dbeafe"/>
          </a:solidFill>
          <a:ln w="21600">
            <a:solidFill>
              <a:srgbClr val="2563eb"/>
            </a:solidFill>
            <a:round/>
          </a:ln>
        </p:spPr>
        <p:txBody>
          <a:bodyPr lIns="100800" rIns="100800" tIns="55800" bIns="558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"/>
          <p:cNvSpPr txBox="1"/>
          <p:nvPr/>
        </p:nvSpPr>
        <p:spPr>
          <a:xfrm>
            <a:off x="7315200" y="2350080"/>
            <a:ext cx="122544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1700" spc="-1" strike="noStrike">
                <a:solidFill>
                  <a:srgbClr val="0f172a"/>
                </a:solidFill>
                <a:latin typeface="Arial"/>
              </a:rPr>
              <a:t>Act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"/>
          <p:cNvSpPr/>
          <p:nvPr/>
        </p:nvSpPr>
        <p:spPr>
          <a:xfrm>
            <a:off x="9345240" y="2240280"/>
            <a:ext cx="1444680" cy="1298520"/>
          </a:xfrm>
          <a:prstGeom prst="ellipse">
            <a:avLst/>
          </a:prstGeom>
          <a:solidFill>
            <a:srgbClr val="dbeafe"/>
          </a:solidFill>
          <a:ln w="21600">
            <a:solidFill>
              <a:srgbClr val="2563eb"/>
            </a:solidFill>
            <a:round/>
          </a:ln>
        </p:spPr>
        <p:txBody>
          <a:bodyPr lIns="100800" rIns="100800" tIns="55800" bIns="558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"/>
          <p:cNvSpPr txBox="1"/>
          <p:nvPr/>
        </p:nvSpPr>
        <p:spPr>
          <a:xfrm>
            <a:off x="9455040" y="2350080"/>
            <a:ext cx="122544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1700" spc="-1" strike="noStrike">
                <a:solidFill>
                  <a:srgbClr val="0f172a"/>
                </a:solidFill>
                <a:latin typeface="Arial"/>
              </a:rPr>
              <a:t>Verify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"/>
          <p:cNvSpPr/>
          <p:nvPr/>
        </p:nvSpPr>
        <p:spPr>
          <a:xfrm flipH="1">
            <a:off x="1508760" y="3794760"/>
            <a:ext cx="8549640" cy="731520"/>
          </a:xfrm>
          <a:prstGeom prst="line">
            <a:avLst/>
          </a:prstGeom>
          <a:ln w="16200">
            <a:solidFill>
              <a:srgbClr val="2563eb"/>
            </a:solidFill>
            <a:custDash>
              <a:ds d="44444" sp="44444"/>
              <a:ds d="44444" sp="44444"/>
            </a:custDash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7920" rIns="97920" tIns="52920" bIns="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"/>
          <p:cNvSpPr txBox="1"/>
          <p:nvPr/>
        </p:nvSpPr>
        <p:spPr>
          <a:xfrm>
            <a:off x="3886200" y="4242960"/>
            <a:ext cx="452628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1600" spc="-1" strike="noStrike">
                <a:solidFill>
                  <a:srgbClr val="2563eb"/>
                </a:solidFill>
                <a:latin typeface="Arial"/>
              </a:rPr>
              <a:t>not accepted: continue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"/>
          <p:cNvSpPr/>
          <p:nvPr/>
        </p:nvSpPr>
        <p:spPr>
          <a:xfrm>
            <a:off x="4608720" y="4864680"/>
            <a:ext cx="2926080" cy="530280"/>
          </a:xfrm>
          <a:prstGeom prst="roundRect">
            <a:avLst/>
          </a:prstGeom>
          <a:solidFill>
            <a:srgbClr val="dcfce7"/>
          </a:solidFill>
          <a:ln w="12960">
            <a:solidFill>
              <a:srgbClr val="15803d"/>
            </a:solidFill>
            <a:round/>
          </a:ln>
        </p:spPr>
        <p:txBody>
          <a:bodyPr lIns="96480" rIns="96480" tIns="51480" bIns="5148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"/>
          <p:cNvSpPr txBox="1"/>
          <p:nvPr/>
        </p:nvSpPr>
        <p:spPr>
          <a:xfrm>
            <a:off x="4654440" y="4892040"/>
            <a:ext cx="283464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1800" spc="-1" strike="noStrike">
                <a:solidFill>
                  <a:srgbClr val="15803d"/>
                </a:solidFill>
                <a:latin typeface="Arial"/>
              </a:rPr>
              <a:t>accepted: exit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8fafc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"/>
          <p:cNvSpPr/>
          <p:nvPr/>
        </p:nvSpPr>
        <p:spPr>
          <a:xfrm>
            <a:off x="0" y="0"/>
            <a:ext cx="12192120" cy="73080"/>
          </a:xfrm>
          <a:prstGeom prst="rect">
            <a:avLst/>
          </a:prstGeom>
          <a:solidFill>
            <a:srgbClr val="2563eb"/>
          </a:solidFill>
          <a:ln w="0">
            <a:noFill/>
          </a:ln>
        </p:spPr>
        <p:txBody>
          <a:bodyPr lIns="90000" rIns="90000" tIns="28080" bIns="2808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5" name=""/>
          <p:cNvSpPr txBox="1"/>
          <p:nvPr/>
        </p:nvSpPr>
        <p:spPr>
          <a:xfrm>
            <a:off x="621720" y="210240"/>
            <a:ext cx="804672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1" lang="en-US" sz="1100" spc="-1" strike="noStrike">
                <a:solidFill>
                  <a:srgbClr val="2563eb"/>
                </a:solidFill>
                <a:latin typeface="Arial"/>
              </a:rPr>
              <a:t>DELIBERATION AND DELEGATION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"/>
          <p:cNvSpPr txBox="1"/>
          <p:nvPr/>
        </p:nvSpPr>
        <p:spPr>
          <a:xfrm>
            <a:off x="10698480" y="201240"/>
            <a:ext cx="86868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r"/>
            <a:r>
              <a:rPr b="1" lang="en-US" sz="1100" spc="-1" strike="noStrike">
                <a:solidFill>
                  <a:srgbClr val="475569"/>
                </a:solidFill>
                <a:latin typeface="Arial"/>
              </a:rPr>
              <a:t>12 / 26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"/>
          <p:cNvSpPr txBox="1"/>
          <p:nvPr/>
        </p:nvSpPr>
        <p:spPr>
          <a:xfrm>
            <a:off x="621720" y="438840"/>
            <a:ext cx="1024128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t">
            <a:noAutofit/>
          </a:bodyPr>
          <a:p>
            <a:r>
              <a:rPr b="1" lang="en-US" sz="3200" spc="-1" strike="noStrike">
                <a:solidFill>
                  <a:srgbClr val="0f172a"/>
                </a:solidFill>
                <a:latin typeface="Arial"/>
              </a:rPr>
              <a:t>A Practitioner can spawn focused Loops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"/>
          <p:cNvSpPr txBox="1"/>
          <p:nvPr/>
        </p:nvSpPr>
        <p:spPr>
          <a:xfrm>
            <a:off x="621720" y="969120"/>
            <a:ext cx="1097280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0" lang="en-US" sz="1700" spc="-1" strike="noStrike">
                <a:solidFill>
                  <a:srgbClr val="475569"/>
                </a:solidFill>
                <a:latin typeface="Arial"/>
              </a:rPr>
              <a:t>Each spawned Loop has its own profile, mode, typed contract, budget, and exit condition.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"/>
          <p:cNvSpPr/>
          <p:nvPr/>
        </p:nvSpPr>
        <p:spPr>
          <a:xfrm>
            <a:off x="621720" y="5843160"/>
            <a:ext cx="10945440" cy="393120"/>
          </a:xfrm>
          <a:prstGeom prst="roundRect">
            <a:avLst/>
          </a:prstGeom>
          <a:solidFill>
            <a:srgbClr val="f1f5f9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"/>
          <p:cNvSpPr txBox="1"/>
          <p:nvPr/>
        </p:nvSpPr>
        <p:spPr>
          <a:xfrm>
            <a:off x="731520" y="5879520"/>
            <a:ext cx="10716840" cy="54900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0" lang="en-US" sz="1300" spc="-1" strike="noStrike">
                <a:solidFill>
                  <a:srgbClr val="475569"/>
                </a:solidFill>
                <a:latin typeface="Arial"/>
              </a:rPr>
              <a:t>The typed lifecycle manager exists. Standard hybrid and non-deterministic spawned executors are not complete.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"/>
          <p:cNvSpPr txBox="1"/>
          <p:nvPr/>
        </p:nvSpPr>
        <p:spPr>
          <a:xfrm>
            <a:off x="621720" y="6291000"/>
            <a:ext cx="992124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0" lang="en-US" sz="1050" spc="-1" strike="noStrike">
                <a:solidFill>
                  <a:srgbClr val="475569"/>
                </a:solidFill>
                <a:latin typeface="Arial"/>
              </a:rPr>
              <a:t>Private context stays isolated. Typed results return to the Loop that requested the work.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"/>
          <p:cNvSpPr txBox="1"/>
          <p:nvPr/>
        </p:nvSpPr>
        <p:spPr>
          <a:xfrm>
            <a:off x="10561320" y="6291000"/>
            <a:ext cx="1005840" cy="54900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r"/>
            <a:r>
              <a:rPr b="1" lang="en-US" sz="1050" spc="-1" strike="noStrike">
                <a:solidFill>
                  <a:srgbClr val="64748b"/>
                </a:solidFill>
                <a:latin typeface="Arial"/>
              </a:rPr>
              <a:t>LOOP ENGINE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"/>
          <p:cNvSpPr/>
          <p:nvPr/>
        </p:nvSpPr>
        <p:spPr>
          <a:xfrm flipV="1">
            <a:off x="3840480" y="2322720"/>
            <a:ext cx="2971800" cy="987480"/>
          </a:xfrm>
          <a:prstGeom prst="line">
            <a:avLst/>
          </a:prstGeom>
          <a:ln w="16200">
            <a:solidFill>
              <a:srgbClr val="2563e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7920" rIns="97920" tIns="52920" bIns="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"/>
          <p:cNvSpPr/>
          <p:nvPr/>
        </p:nvSpPr>
        <p:spPr>
          <a:xfrm>
            <a:off x="3840480" y="3310200"/>
            <a:ext cx="2971800" cy="356760"/>
          </a:xfrm>
          <a:prstGeom prst="line">
            <a:avLst/>
          </a:prstGeom>
          <a:ln w="16200">
            <a:solidFill>
              <a:srgbClr val="2563e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7920" rIns="97920" tIns="52920" bIns="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"/>
          <p:cNvSpPr/>
          <p:nvPr/>
        </p:nvSpPr>
        <p:spPr>
          <a:xfrm>
            <a:off x="3840480" y="3310200"/>
            <a:ext cx="2971800" cy="1700640"/>
          </a:xfrm>
          <a:prstGeom prst="line">
            <a:avLst/>
          </a:prstGeom>
          <a:ln w="16200">
            <a:solidFill>
              <a:srgbClr val="2563e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7920" rIns="97920" tIns="52920" bIns="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"/>
          <p:cNvSpPr/>
          <p:nvPr/>
        </p:nvSpPr>
        <p:spPr>
          <a:xfrm>
            <a:off x="1051560" y="2359080"/>
            <a:ext cx="2797920" cy="1874520"/>
          </a:xfrm>
          <a:prstGeom prst="ellipse">
            <a:avLst/>
          </a:prstGeom>
          <a:solidFill>
            <a:srgbClr val="dbeafe"/>
          </a:solidFill>
          <a:ln w="21600">
            <a:solidFill>
              <a:srgbClr val="2563eb"/>
            </a:solidFill>
            <a:custDash>
              <a:ds d="33333" sp="33333"/>
              <a:ds d="33333" sp="33333"/>
            </a:custDash>
            <a:round/>
          </a:ln>
        </p:spPr>
        <p:txBody>
          <a:bodyPr lIns="100800" rIns="100800" tIns="55800" bIns="558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"/>
          <p:cNvSpPr txBox="1"/>
          <p:nvPr/>
        </p:nvSpPr>
        <p:spPr>
          <a:xfrm>
            <a:off x="1161360" y="2468880"/>
            <a:ext cx="257868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2100" spc="-1" strike="noStrike">
                <a:solidFill>
                  <a:srgbClr val="0f172a"/>
                </a:solidFill>
                <a:latin typeface="Arial"/>
              </a:rPr>
              <a:t>Starting Practitioner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"/>
          <p:cNvSpPr/>
          <p:nvPr/>
        </p:nvSpPr>
        <p:spPr>
          <a:xfrm>
            <a:off x="6812280" y="1810440"/>
            <a:ext cx="2560320" cy="1024200"/>
          </a:xfrm>
          <a:prstGeom prst="ellipse">
            <a:avLst/>
          </a:prstGeom>
          <a:solidFill>
            <a:srgbClr val="dbeafe"/>
          </a:solidFill>
          <a:ln w="21600">
            <a:solidFill>
              <a:srgbClr val="2563eb"/>
            </a:solidFill>
            <a:custDash>
              <a:ds d="33333" sp="33333"/>
              <a:ds d="33333" sp="33333"/>
            </a:custDash>
            <a:round/>
          </a:ln>
        </p:spPr>
        <p:txBody>
          <a:bodyPr lIns="100800" rIns="100800" tIns="55800" bIns="558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"/>
          <p:cNvSpPr txBox="1"/>
          <p:nvPr/>
        </p:nvSpPr>
        <p:spPr>
          <a:xfrm>
            <a:off x="6922080" y="1920240"/>
            <a:ext cx="234072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1700" spc="-1" strike="noStrike">
                <a:solidFill>
                  <a:srgbClr val="0f172a"/>
                </a:solidFill>
                <a:latin typeface="Arial"/>
              </a:rPr>
              <a:t>Source research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"/>
          <p:cNvSpPr txBox="1"/>
          <p:nvPr/>
        </p:nvSpPr>
        <p:spPr>
          <a:xfrm>
            <a:off x="4754880" y="2057400"/>
            <a:ext cx="1627560" cy="54900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1600" spc="-1" strike="noStrike">
                <a:solidFill>
                  <a:srgbClr val="475569"/>
                </a:solidFill>
                <a:latin typeface="Arial"/>
              </a:rPr>
              <a:t>SPAWNED_BY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"/>
          <p:cNvSpPr/>
          <p:nvPr/>
        </p:nvSpPr>
        <p:spPr>
          <a:xfrm>
            <a:off x="6812280" y="3154680"/>
            <a:ext cx="2560320" cy="1024200"/>
          </a:xfrm>
          <a:prstGeom prst="ellipse">
            <a:avLst/>
          </a:prstGeom>
          <a:solidFill>
            <a:srgbClr val="dbeafe"/>
          </a:solidFill>
          <a:ln w="21600">
            <a:solidFill>
              <a:srgbClr val="2563eb"/>
            </a:solidFill>
            <a:round/>
          </a:ln>
        </p:spPr>
        <p:txBody>
          <a:bodyPr lIns="100800" rIns="100800" tIns="55800" bIns="558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"/>
          <p:cNvSpPr txBox="1"/>
          <p:nvPr/>
        </p:nvSpPr>
        <p:spPr>
          <a:xfrm>
            <a:off x="6922080" y="3264480"/>
            <a:ext cx="234072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1700" spc="-1" strike="noStrike">
                <a:solidFill>
                  <a:srgbClr val="0f172a"/>
                </a:solidFill>
                <a:latin typeface="Arial"/>
              </a:rPr>
              <a:t>Schema check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"/>
          <p:cNvSpPr txBox="1"/>
          <p:nvPr/>
        </p:nvSpPr>
        <p:spPr>
          <a:xfrm>
            <a:off x="4754880" y="3401640"/>
            <a:ext cx="1627560" cy="54900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1600" spc="-1" strike="noStrike">
                <a:solidFill>
                  <a:srgbClr val="475569"/>
                </a:solidFill>
                <a:latin typeface="Arial"/>
              </a:rPr>
              <a:t>SPAWNED_BY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"/>
          <p:cNvSpPr/>
          <p:nvPr/>
        </p:nvSpPr>
        <p:spPr>
          <a:xfrm>
            <a:off x="6812280" y="4498920"/>
            <a:ext cx="2560320" cy="1024200"/>
          </a:xfrm>
          <a:prstGeom prst="ellipse">
            <a:avLst/>
          </a:prstGeom>
          <a:solidFill>
            <a:srgbClr val="f8fafc"/>
          </a:solidFill>
          <a:ln w="23400">
            <a:solidFill>
              <a:srgbClr val="2563eb"/>
            </a:solidFill>
            <a:round/>
          </a:ln>
        </p:spPr>
        <p:txBody>
          <a:bodyPr lIns="101520" rIns="101520" tIns="56520" bIns="565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"/>
          <p:cNvSpPr/>
          <p:nvPr/>
        </p:nvSpPr>
        <p:spPr>
          <a:xfrm>
            <a:off x="6894720" y="4581000"/>
            <a:ext cx="2395800" cy="859680"/>
          </a:xfrm>
          <a:prstGeom prst="ellipse">
            <a:avLst/>
          </a:prstGeom>
          <a:solidFill>
            <a:srgbClr val="dbeafe"/>
          </a:solidFill>
          <a:ln w="13680">
            <a:solidFill>
              <a:srgbClr val="2563eb"/>
            </a:solidFill>
            <a:round/>
          </a:ln>
        </p:spPr>
        <p:txBody>
          <a:bodyPr lIns="96840" rIns="96840" tIns="51840" bIns="518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"/>
          <p:cNvSpPr txBox="1"/>
          <p:nvPr/>
        </p:nvSpPr>
        <p:spPr>
          <a:xfrm>
            <a:off x="6922080" y="4608720"/>
            <a:ext cx="234072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1700" spc="-1" strike="noStrike">
                <a:solidFill>
                  <a:srgbClr val="0f172a"/>
                </a:solidFill>
                <a:latin typeface="Arial"/>
              </a:rPr>
              <a:t>Failure repair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"/>
          <p:cNvSpPr txBox="1"/>
          <p:nvPr/>
        </p:nvSpPr>
        <p:spPr>
          <a:xfrm>
            <a:off x="4754880" y="4745880"/>
            <a:ext cx="1627560" cy="54900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1600" spc="-1" strike="noStrike">
                <a:solidFill>
                  <a:srgbClr val="475569"/>
                </a:solidFill>
                <a:latin typeface="Arial"/>
              </a:rPr>
              <a:t>SPAWNED_BY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"/>
          <p:cNvSpPr/>
          <p:nvPr/>
        </p:nvSpPr>
        <p:spPr>
          <a:xfrm flipH="1" flipV="1">
            <a:off x="3218760" y="4965120"/>
            <a:ext cx="5696640" cy="594360"/>
          </a:xfrm>
          <a:prstGeom prst="line">
            <a:avLst/>
          </a:prstGeom>
          <a:ln w="16200">
            <a:solidFill>
              <a:srgbClr val="15803d"/>
            </a:solidFill>
            <a:custDash>
              <a:ds d="44444" sp="44444"/>
              <a:ds d="44444" sp="44444"/>
            </a:custDash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7920" rIns="97920" tIns="52920" bIns="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"/>
          <p:cNvSpPr txBox="1"/>
          <p:nvPr/>
        </p:nvSpPr>
        <p:spPr>
          <a:xfrm>
            <a:off x="4983480" y="5239440"/>
            <a:ext cx="292608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1600" spc="-1" strike="noStrike">
                <a:solidFill>
                  <a:srgbClr val="15803d"/>
                </a:solidFill>
                <a:latin typeface="Arial"/>
              </a:rPr>
              <a:t>typed results return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8fafc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"/>
          <p:cNvSpPr/>
          <p:nvPr/>
        </p:nvSpPr>
        <p:spPr>
          <a:xfrm>
            <a:off x="0" y="0"/>
            <a:ext cx="12192120" cy="73080"/>
          </a:xfrm>
          <a:prstGeom prst="rect">
            <a:avLst/>
          </a:prstGeom>
          <a:solidFill>
            <a:srgbClr val="2563eb"/>
          </a:solidFill>
          <a:ln w="0">
            <a:noFill/>
          </a:ln>
        </p:spPr>
        <p:txBody>
          <a:bodyPr lIns="90000" rIns="90000" tIns="28080" bIns="2808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4" name=""/>
          <p:cNvSpPr txBox="1"/>
          <p:nvPr/>
        </p:nvSpPr>
        <p:spPr>
          <a:xfrm>
            <a:off x="621720" y="210240"/>
            <a:ext cx="804672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1" lang="en-US" sz="1100" spc="-1" strike="noStrike">
                <a:solidFill>
                  <a:srgbClr val="2563eb"/>
                </a:solidFill>
                <a:latin typeface="Arial"/>
              </a:rPr>
              <a:t>SHARED ACCESS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"/>
          <p:cNvSpPr txBox="1"/>
          <p:nvPr/>
        </p:nvSpPr>
        <p:spPr>
          <a:xfrm>
            <a:off x="10698480" y="201240"/>
            <a:ext cx="86868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r"/>
            <a:r>
              <a:rPr b="1" lang="en-US" sz="1100" spc="-1" strike="noStrike">
                <a:solidFill>
                  <a:srgbClr val="475569"/>
                </a:solidFill>
                <a:latin typeface="Arial"/>
              </a:rPr>
              <a:t>13 / 26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"/>
          <p:cNvSpPr txBox="1"/>
          <p:nvPr/>
        </p:nvSpPr>
        <p:spPr>
          <a:xfrm>
            <a:off x="621720" y="438840"/>
            <a:ext cx="1024128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t">
            <a:noAutofit/>
          </a:bodyPr>
          <a:p>
            <a:r>
              <a:rPr b="1" lang="en-US" sz="2800" spc="-1" strike="noStrike">
                <a:solidFill>
                  <a:srgbClr val="0f172a"/>
                </a:solidFill>
                <a:latin typeface="Arial"/>
              </a:rPr>
              <a:t>Every Loop should access the same three shared groups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"/>
          <p:cNvSpPr txBox="1"/>
          <p:nvPr/>
        </p:nvSpPr>
        <p:spPr>
          <a:xfrm>
            <a:off x="621720" y="969120"/>
            <a:ext cx="1097280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0" lang="en-US" sz="1700" spc="-1" strike="noStrike">
                <a:solidFill>
                  <a:srgbClr val="475569"/>
                </a:solidFill>
                <a:latin typeface="Arial"/>
              </a:rPr>
              <a:t>Typed service ports provide Intelligence Search and Retrieval, Web Research, and Custom Plugins.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"/>
          <p:cNvSpPr/>
          <p:nvPr/>
        </p:nvSpPr>
        <p:spPr>
          <a:xfrm>
            <a:off x="621720" y="5843160"/>
            <a:ext cx="10945440" cy="393120"/>
          </a:xfrm>
          <a:prstGeom prst="roundRect">
            <a:avLst/>
          </a:prstGeom>
          <a:solidFill>
            <a:srgbClr val="f1f5f9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"/>
          <p:cNvSpPr txBox="1"/>
          <p:nvPr/>
        </p:nvSpPr>
        <p:spPr>
          <a:xfrm>
            <a:off x="731520" y="5879520"/>
            <a:ext cx="10716840" cy="54900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0" lang="en-US" sz="1300" spc="-1" strike="noStrike">
                <a:solidFill>
                  <a:srgbClr val="475569"/>
                </a:solidFill>
                <a:latin typeface="Arial"/>
              </a:rPr>
              <a:t>Implemented. Each Loop carries a permission-limited LoopRuntimeContext with exactly these three public groups.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"/>
          <p:cNvSpPr txBox="1"/>
          <p:nvPr/>
        </p:nvSpPr>
        <p:spPr>
          <a:xfrm>
            <a:off x="621720" y="6291000"/>
            <a:ext cx="992124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0" lang="en-US" sz="1050" spc="-1" strike="noStrike">
                <a:solidFill>
                  <a:srgbClr val="475569"/>
                </a:solidFill>
                <a:latin typeface="Arial"/>
              </a:rPr>
              <a:t>Permissions decide which service operations are available. A run mode never expands authority.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"/>
          <p:cNvSpPr txBox="1"/>
          <p:nvPr/>
        </p:nvSpPr>
        <p:spPr>
          <a:xfrm>
            <a:off x="10561320" y="6291000"/>
            <a:ext cx="1005840" cy="54900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r"/>
            <a:r>
              <a:rPr b="1" lang="en-US" sz="1050" spc="-1" strike="noStrike">
                <a:solidFill>
                  <a:srgbClr val="64748b"/>
                </a:solidFill>
                <a:latin typeface="Arial"/>
              </a:rPr>
              <a:t>LOOP ENGINE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"/>
          <p:cNvSpPr/>
          <p:nvPr/>
        </p:nvSpPr>
        <p:spPr>
          <a:xfrm>
            <a:off x="3246120" y="2231280"/>
            <a:ext cx="2606040" cy="1197720"/>
          </a:xfrm>
          <a:prstGeom prst="line">
            <a:avLst/>
          </a:prstGeom>
          <a:ln w="16200">
            <a:solidFill>
              <a:srgbClr val="64748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7920" rIns="97920" tIns="52920" bIns="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"/>
          <p:cNvSpPr/>
          <p:nvPr/>
        </p:nvSpPr>
        <p:spPr>
          <a:xfrm flipV="1">
            <a:off x="3246120" y="3429000"/>
            <a:ext cx="2606040" cy="155520"/>
          </a:xfrm>
          <a:prstGeom prst="line">
            <a:avLst/>
          </a:prstGeom>
          <a:ln w="16200">
            <a:solidFill>
              <a:srgbClr val="64748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7920" rIns="97920" tIns="52920" bIns="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"/>
          <p:cNvSpPr/>
          <p:nvPr/>
        </p:nvSpPr>
        <p:spPr>
          <a:xfrm flipV="1">
            <a:off x="3246120" y="3429000"/>
            <a:ext cx="2606040" cy="1508760"/>
          </a:xfrm>
          <a:prstGeom prst="line">
            <a:avLst/>
          </a:prstGeom>
          <a:ln w="16200">
            <a:solidFill>
              <a:srgbClr val="64748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7920" rIns="97920" tIns="52920" bIns="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"/>
          <p:cNvSpPr/>
          <p:nvPr/>
        </p:nvSpPr>
        <p:spPr>
          <a:xfrm>
            <a:off x="914400" y="1774080"/>
            <a:ext cx="2340720" cy="914400"/>
          </a:xfrm>
          <a:prstGeom prst="ellipse">
            <a:avLst/>
          </a:prstGeom>
          <a:solidFill>
            <a:srgbClr val="dbeafe"/>
          </a:solidFill>
          <a:ln w="21600">
            <a:solidFill>
              <a:srgbClr val="2563eb"/>
            </a:solidFill>
            <a:round/>
          </a:ln>
        </p:spPr>
        <p:txBody>
          <a:bodyPr lIns="100800" rIns="100800" tIns="55800" bIns="558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"/>
          <p:cNvSpPr txBox="1"/>
          <p:nvPr/>
        </p:nvSpPr>
        <p:spPr>
          <a:xfrm>
            <a:off x="1024200" y="1883520"/>
            <a:ext cx="212148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1800" spc="-1" strike="noStrike">
                <a:solidFill>
                  <a:srgbClr val="0f172a"/>
                </a:solidFill>
                <a:latin typeface="Arial"/>
              </a:rPr>
              <a:t>Practitioner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"/>
          <p:cNvSpPr/>
          <p:nvPr/>
        </p:nvSpPr>
        <p:spPr>
          <a:xfrm>
            <a:off x="914400" y="3127320"/>
            <a:ext cx="2340720" cy="914400"/>
          </a:xfrm>
          <a:prstGeom prst="ellipse">
            <a:avLst/>
          </a:prstGeom>
          <a:solidFill>
            <a:srgbClr val="ede9fe"/>
          </a:solidFill>
          <a:ln w="21600">
            <a:solidFill>
              <a:srgbClr val="7c3aed"/>
            </a:solidFill>
            <a:round/>
          </a:ln>
        </p:spPr>
        <p:txBody>
          <a:bodyPr lIns="100800" rIns="100800" tIns="55800" bIns="558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"/>
          <p:cNvSpPr txBox="1"/>
          <p:nvPr/>
        </p:nvSpPr>
        <p:spPr>
          <a:xfrm>
            <a:off x="1024200" y="3237120"/>
            <a:ext cx="212148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1800" spc="-1" strike="noStrike">
                <a:solidFill>
                  <a:srgbClr val="0f172a"/>
                </a:solidFill>
                <a:latin typeface="Arial"/>
              </a:rPr>
              <a:t>Intelligence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"/>
          <p:cNvSpPr/>
          <p:nvPr/>
        </p:nvSpPr>
        <p:spPr>
          <a:xfrm>
            <a:off x="914400" y="4480560"/>
            <a:ext cx="2340720" cy="914400"/>
          </a:xfrm>
          <a:prstGeom prst="ellipse">
            <a:avLst/>
          </a:prstGeom>
          <a:solidFill>
            <a:srgbClr val="dcfce7"/>
          </a:solidFill>
          <a:ln w="21600">
            <a:solidFill>
              <a:srgbClr val="15803d"/>
            </a:solidFill>
            <a:round/>
          </a:ln>
        </p:spPr>
        <p:txBody>
          <a:bodyPr lIns="100800" rIns="100800" tIns="55800" bIns="558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"/>
          <p:cNvSpPr txBox="1"/>
          <p:nvPr/>
        </p:nvSpPr>
        <p:spPr>
          <a:xfrm>
            <a:off x="1024200" y="4590360"/>
            <a:ext cx="212148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1800" spc="-1" strike="noStrike">
                <a:solidFill>
                  <a:srgbClr val="0f172a"/>
                </a:solidFill>
                <a:latin typeface="Arial"/>
              </a:rPr>
              <a:t>Solution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"/>
          <p:cNvSpPr/>
          <p:nvPr/>
        </p:nvSpPr>
        <p:spPr>
          <a:xfrm>
            <a:off x="5852160" y="1673280"/>
            <a:ext cx="4883040" cy="3858840"/>
          </a:xfrm>
          <a:prstGeom prst="roundRect">
            <a:avLst/>
          </a:prstGeom>
          <a:solidFill>
            <a:srgbClr val="f1f5f9"/>
          </a:solidFill>
          <a:ln w="19800">
            <a:solidFill>
              <a:srgbClr val="64748b"/>
            </a:solidFill>
            <a:round/>
          </a:ln>
        </p:spPr>
        <p:txBody>
          <a:bodyPr lIns="99720" rIns="99720" tIns="54720" bIns="547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"/>
          <p:cNvSpPr txBox="1"/>
          <p:nvPr/>
        </p:nvSpPr>
        <p:spPr>
          <a:xfrm>
            <a:off x="6144840" y="1920240"/>
            <a:ext cx="431604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2600" spc="-1" strike="noStrike">
                <a:solidFill>
                  <a:srgbClr val="64748b"/>
                </a:solidFill>
                <a:latin typeface="Arial"/>
              </a:rPr>
              <a:t>Static Architecture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"/>
          <p:cNvSpPr/>
          <p:nvPr/>
        </p:nvSpPr>
        <p:spPr>
          <a:xfrm>
            <a:off x="6236280" y="2670120"/>
            <a:ext cx="1847160" cy="475560"/>
          </a:xfrm>
          <a:prstGeom prst="roundRect">
            <a:avLst/>
          </a:prstGeom>
          <a:solidFill>
            <a:srgbClr val="ffffff"/>
          </a:solidFill>
          <a:ln w="12960">
            <a:solidFill>
              <a:srgbClr val="cbd5e1"/>
            </a:solidFill>
            <a:round/>
          </a:ln>
        </p:spPr>
        <p:txBody>
          <a:bodyPr lIns="96480" rIns="96480" tIns="51480" bIns="5148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"/>
          <p:cNvSpPr txBox="1"/>
          <p:nvPr/>
        </p:nvSpPr>
        <p:spPr>
          <a:xfrm>
            <a:off x="6282000" y="2697480"/>
            <a:ext cx="1755720" cy="80496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0" lang="en-US" sz="1600" spc="-1" strike="noStrike">
                <a:solidFill>
                  <a:srgbClr val="0f172a"/>
                </a:solidFill>
                <a:latin typeface="Arial"/>
              </a:rPr>
              <a:t>Intelligence Search and Retrieval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"/>
          <p:cNvSpPr/>
          <p:nvPr/>
        </p:nvSpPr>
        <p:spPr>
          <a:xfrm>
            <a:off x="8293680" y="2670120"/>
            <a:ext cx="1847160" cy="475560"/>
          </a:xfrm>
          <a:prstGeom prst="roundRect">
            <a:avLst/>
          </a:prstGeom>
          <a:solidFill>
            <a:srgbClr val="ffffff"/>
          </a:solidFill>
          <a:ln w="12960">
            <a:solidFill>
              <a:srgbClr val="cbd5e1"/>
            </a:solidFill>
            <a:round/>
          </a:ln>
        </p:spPr>
        <p:txBody>
          <a:bodyPr lIns="96480" rIns="96480" tIns="51480" bIns="5148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"/>
          <p:cNvSpPr txBox="1"/>
          <p:nvPr/>
        </p:nvSpPr>
        <p:spPr>
          <a:xfrm>
            <a:off x="8339400" y="2697480"/>
            <a:ext cx="175572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0" lang="en-US" sz="1600" spc="-1" strike="noStrike">
                <a:solidFill>
                  <a:srgbClr val="0f172a"/>
                </a:solidFill>
                <a:latin typeface="Arial"/>
              </a:rPr>
              <a:t>Web Research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"/>
          <p:cNvSpPr/>
          <p:nvPr/>
        </p:nvSpPr>
        <p:spPr>
          <a:xfrm>
            <a:off x="6236280" y="3310200"/>
            <a:ext cx="1847160" cy="475560"/>
          </a:xfrm>
          <a:prstGeom prst="roundRect">
            <a:avLst/>
          </a:prstGeom>
          <a:solidFill>
            <a:srgbClr val="ffffff"/>
          </a:solidFill>
          <a:ln w="12960">
            <a:solidFill>
              <a:srgbClr val="cbd5e1"/>
            </a:solidFill>
            <a:round/>
          </a:ln>
        </p:spPr>
        <p:txBody>
          <a:bodyPr lIns="96480" rIns="96480" tIns="51480" bIns="5148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"/>
          <p:cNvSpPr txBox="1"/>
          <p:nvPr/>
        </p:nvSpPr>
        <p:spPr>
          <a:xfrm>
            <a:off x="6282000" y="3337560"/>
            <a:ext cx="175572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0" lang="en-US" sz="1600" spc="-1" strike="noStrike">
                <a:solidFill>
                  <a:srgbClr val="0f172a"/>
                </a:solidFill>
                <a:latin typeface="Arial"/>
              </a:rPr>
              <a:t>Custom Plugins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8fafc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" name=""/>
          <p:cNvSpPr/>
          <p:nvPr/>
        </p:nvSpPr>
        <p:spPr>
          <a:xfrm>
            <a:off x="0" y="0"/>
            <a:ext cx="12192120" cy="73080"/>
          </a:xfrm>
          <a:prstGeom prst="rect">
            <a:avLst/>
          </a:prstGeom>
          <a:solidFill>
            <a:srgbClr val="2563eb"/>
          </a:solidFill>
          <a:ln w="0">
            <a:noFill/>
          </a:ln>
        </p:spPr>
        <p:txBody>
          <a:bodyPr lIns="90000" rIns="90000" tIns="28080" bIns="2808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3" name=""/>
          <p:cNvSpPr txBox="1"/>
          <p:nvPr/>
        </p:nvSpPr>
        <p:spPr>
          <a:xfrm>
            <a:off x="621720" y="210240"/>
            <a:ext cx="804672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1" lang="en-US" sz="1100" spc="-1" strike="noStrike">
                <a:solidFill>
                  <a:srgbClr val="2563eb"/>
                </a:solidFill>
                <a:latin typeface="Arial"/>
              </a:rPr>
              <a:t>FOUR PERSISTENT LAYERS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"/>
          <p:cNvSpPr txBox="1"/>
          <p:nvPr/>
        </p:nvSpPr>
        <p:spPr>
          <a:xfrm>
            <a:off x="10698480" y="201240"/>
            <a:ext cx="86868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r"/>
            <a:r>
              <a:rPr b="1" lang="en-US" sz="1100" spc="-1" strike="noStrike">
                <a:solidFill>
                  <a:srgbClr val="475569"/>
                </a:solidFill>
                <a:latin typeface="Arial"/>
              </a:rPr>
              <a:t>14 / 26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" name=""/>
          <p:cNvSpPr txBox="1"/>
          <p:nvPr/>
        </p:nvSpPr>
        <p:spPr>
          <a:xfrm>
            <a:off x="621720" y="438840"/>
            <a:ext cx="1024128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t">
            <a:noAutofit/>
          </a:bodyPr>
          <a:p>
            <a:r>
              <a:rPr b="1" lang="en-US" sz="3200" spc="-1" strike="noStrike">
                <a:solidFill>
                  <a:srgbClr val="0f172a"/>
                </a:solidFill>
                <a:latin typeface="Arial"/>
              </a:rPr>
              <a:t>Intelligence is organized by what it contributes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"/>
          <p:cNvSpPr txBox="1"/>
          <p:nvPr/>
        </p:nvSpPr>
        <p:spPr>
          <a:xfrm>
            <a:off x="621720" y="969120"/>
            <a:ext cx="10972800" cy="54900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0" lang="en-US" sz="1700" spc="-1" strike="noStrike">
                <a:solidFill>
                  <a:srgbClr val="475569"/>
                </a:solidFill>
                <a:latin typeface="Arial"/>
              </a:rPr>
              <a:t>Every intelligence operation is a Loop. Passive content is materialized only after selection and permission checks.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7" name=""/>
          <p:cNvSpPr/>
          <p:nvPr/>
        </p:nvSpPr>
        <p:spPr>
          <a:xfrm>
            <a:off x="621720" y="5843160"/>
            <a:ext cx="10945440" cy="393120"/>
          </a:xfrm>
          <a:prstGeom prst="roundRect">
            <a:avLst/>
          </a:prstGeom>
          <a:solidFill>
            <a:srgbClr val="f1f5f9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8" name=""/>
          <p:cNvSpPr txBox="1"/>
          <p:nvPr/>
        </p:nvSpPr>
        <p:spPr>
          <a:xfrm>
            <a:off x="731520" y="5879520"/>
            <a:ext cx="1071684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0" lang="en-US" sz="1300" spc="-1" strike="noStrike">
                <a:solidFill>
                  <a:srgbClr val="475569"/>
                </a:solidFill>
                <a:latin typeface="Arial"/>
              </a:rPr>
              <a:t>Search, select, retrieve, frame, invoke, replay, compare, and interpret are Intelligence Loop profiles.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"/>
          <p:cNvSpPr txBox="1"/>
          <p:nvPr/>
        </p:nvSpPr>
        <p:spPr>
          <a:xfrm>
            <a:off x="621720" y="6291000"/>
            <a:ext cx="992124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0" lang="en-US" sz="1050" spc="-1" strike="noStrike">
                <a:solidFill>
                  <a:srgbClr val="475569"/>
                </a:solidFill>
                <a:latin typeface="Arial"/>
              </a:rPr>
              <a:t>Runtime Memory is separate. It is temporary and lasts only for the current run.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"/>
          <p:cNvSpPr txBox="1"/>
          <p:nvPr/>
        </p:nvSpPr>
        <p:spPr>
          <a:xfrm>
            <a:off x="10561320" y="6291000"/>
            <a:ext cx="1005840" cy="54900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r"/>
            <a:r>
              <a:rPr b="1" lang="en-US" sz="1050" spc="-1" strike="noStrike">
                <a:solidFill>
                  <a:srgbClr val="64748b"/>
                </a:solidFill>
                <a:latin typeface="Arial"/>
              </a:rPr>
              <a:t>LOOP ENGINE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1" name=""/>
          <p:cNvSpPr/>
          <p:nvPr/>
        </p:nvSpPr>
        <p:spPr>
          <a:xfrm>
            <a:off x="713160" y="1719000"/>
            <a:ext cx="2532960" cy="3794760"/>
          </a:xfrm>
          <a:prstGeom prst="roundRect">
            <a:avLst/>
          </a:prstGeom>
          <a:solidFill>
            <a:srgbClr val="ede9fe"/>
          </a:solidFill>
          <a:ln w="17280">
            <a:solidFill>
              <a:srgbClr val="7c3aed"/>
            </a:solidFill>
            <a:round/>
          </a:ln>
        </p:spPr>
        <p:txBody>
          <a:bodyPr lIns="98640" rIns="98640" tIns="53640" bIns="536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2" name=""/>
          <p:cNvSpPr txBox="1"/>
          <p:nvPr/>
        </p:nvSpPr>
        <p:spPr>
          <a:xfrm>
            <a:off x="914400" y="1956960"/>
            <a:ext cx="38412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1" lang="en-US" sz="1600" spc="-1" strike="noStrike">
                <a:solidFill>
                  <a:srgbClr val="7c3aed"/>
                </a:solidFill>
                <a:latin typeface="Arial"/>
              </a:rPr>
              <a:t>01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"/>
          <p:cNvSpPr txBox="1"/>
          <p:nvPr/>
        </p:nvSpPr>
        <p:spPr>
          <a:xfrm>
            <a:off x="932760" y="2432160"/>
            <a:ext cx="209412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2200" spc="-1" strike="noStrike">
                <a:solidFill>
                  <a:srgbClr val="7c3aed"/>
                </a:solidFill>
                <a:latin typeface="Arial"/>
              </a:rPr>
              <a:t>Context Intelligence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4" name=""/>
          <p:cNvSpPr txBox="1"/>
          <p:nvPr/>
        </p:nvSpPr>
        <p:spPr>
          <a:xfrm>
            <a:off x="951120" y="3794760"/>
            <a:ext cx="2057400" cy="80496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0" lang="en-US" sz="1700" spc="-1" strike="noStrike">
                <a:solidFill>
                  <a:srgbClr val="0f172a"/>
                </a:solidFill>
                <a:latin typeface="Arial"/>
              </a:rPr>
              <a:t>questions, methods, checks, formats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5" name=""/>
          <p:cNvSpPr txBox="1"/>
          <p:nvPr/>
        </p:nvSpPr>
        <p:spPr>
          <a:xfrm>
            <a:off x="969120" y="5102280"/>
            <a:ext cx="201168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1600" spc="-1" strike="noStrike">
                <a:solidFill>
                  <a:srgbClr val="7c3aed"/>
                </a:solidFill>
                <a:latin typeface="Arial"/>
              </a:rPr>
              <a:t>Intelligence Loop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6" name=""/>
          <p:cNvSpPr/>
          <p:nvPr/>
        </p:nvSpPr>
        <p:spPr>
          <a:xfrm>
            <a:off x="3547800" y="1719000"/>
            <a:ext cx="2532960" cy="3794760"/>
          </a:xfrm>
          <a:prstGeom prst="roundRect">
            <a:avLst/>
          </a:prstGeom>
          <a:solidFill>
            <a:srgbClr val="ede9fe"/>
          </a:solidFill>
          <a:ln w="17280">
            <a:solidFill>
              <a:srgbClr val="7c3aed"/>
            </a:solidFill>
            <a:round/>
          </a:ln>
        </p:spPr>
        <p:txBody>
          <a:bodyPr lIns="98640" rIns="98640" tIns="53640" bIns="536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7" name=""/>
          <p:cNvSpPr txBox="1"/>
          <p:nvPr/>
        </p:nvSpPr>
        <p:spPr>
          <a:xfrm>
            <a:off x="3749040" y="1956960"/>
            <a:ext cx="38412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1" lang="en-US" sz="1600" spc="-1" strike="noStrike">
                <a:solidFill>
                  <a:srgbClr val="7c3aed"/>
                </a:solidFill>
                <a:latin typeface="Arial"/>
              </a:rPr>
              <a:t>02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8" name=""/>
          <p:cNvSpPr txBox="1"/>
          <p:nvPr/>
        </p:nvSpPr>
        <p:spPr>
          <a:xfrm>
            <a:off x="3767400" y="2432160"/>
            <a:ext cx="209412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2200" spc="-1" strike="noStrike">
                <a:solidFill>
                  <a:srgbClr val="7c3aed"/>
                </a:solidFill>
                <a:latin typeface="Arial"/>
              </a:rPr>
              <a:t>Code Intelligence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9" name=""/>
          <p:cNvSpPr txBox="1"/>
          <p:nvPr/>
        </p:nvSpPr>
        <p:spPr>
          <a:xfrm>
            <a:off x="3785760" y="3794760"/>
            <a:ext cx="2057400" cy="80496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0" lang="en-US" sz="1700" spc="-1" strike="noStrike">
                <a:solidFill>
                  <a:srgbClr val="0f172a"/>
                </a:solidFill>
                <a:latin typeface="Arial"/>
              </a:rPr>
              <a:t>versioned executable capability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0" name=""/>
          <p:cNvSpPr txBox="1"/>
          <p:nvPr/>
        </p:nvSpPr>
        <p:spPr>
          <a:xfrm>
            <a:off x="3803760" y="5102280"/>
            <a:ext cx="201168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1600" spc="-1" strike="noStrike">
                <a:solidFill>
                  <a:srgbClr val="7c3aed"/>
                </a:solidFill>
                <a:latin typeface="Arial"/>
              </a:rPr>
              <a:t>Intelligence Loop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" name=""/>
          <p:cNvSpPr/>
          <p:nvPr/>
        </p:nvSpPr>
        <p:spPr>
          <a:xfrm>
            <a:off x="6382440" y="1719000"/>
            <a:ext cx="2532960" cy="3794760"/>
          </a:xfrm>
          <a:prstGeom prst="roundRect">
            <a:avLst/>
          </a:prstGeom>
          <a:solidFill>
            <a:srgbClr val="ede9fe"/>
          </a:solidFill>
          <a:ln w="17280">
            <a:solidFill>
              <a:srgbClr val="7c3aed"/>
            </a:solidFill>
            <a:round/>
          </a:ln>
        </p:spPr>
        <p:txBody>
          <a:bodyPr lIns="98640" rIns="98640" tIns="53640" bIns="536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2" name=""/>
          <p:cNvSpPr txBox="1"/>
          <p:nvPr/>
        </p:nvSpPr>
        <p:spPr>
          <a:xfrm>
            <a:off x="6583680" y="1956960"/>
            <a:ext cx="38412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1" lang="en-US" sz="1600" spc="-1" strike="noStrike">
                <a:solidFill>
                  <a:srgbClr val="7c3aed"/>
                </a:solidFill>
                <a:latin typeface="Arial"/>
              </a:rPr>
              <a:t>03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"/>
          <p:cNvSpPr txBox="1"/>
          <p:nvPr/>
        </p:nvSpPr>
        <p:spPr>
          <a:xfrm>
            <a:off x="6602040" y="2432160"/>
            <a:ext cx="2094120" cy="54900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2200" spc="-1" strike="noStrike">
                <a:solidFill>
                  <a:srgbClr val="7c3aed"/>
                </a:solidFill>
                <a:latin typeface="Arial"/>
              </a:rPr>
              <a:t>Run and Solution Intelligence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4" name=""/>
          <p:cNvSpPr txBox="1"/>
          <p:nvPr/>
        </p:nvSpPr>
        <p:spPr>
          <a:xfrm>
            <a:off x="6620400" y="3794760"/>
            <a:ext cx="2057400" cy="80496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0" lang="en-US" sz="1700" spc="-1" strike="noStrike">
                <a:solidFill>
                  <a:srgbClr val="0f172a"/>
                </a:solidFill>
                <a:latin typeface="Arial"/>
              </a:rPr>
              <a:t>saved work, failures, comparisons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5" name=""/>
          <p:cNvSpPr txBox="1"/>
          <p:nvPr/>
        </p:nvSpPr>
        <p:spPr>
          <a:xfrm>
            <a:off x="6638400" y="5102280"/>
            <a:ext cx="201168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1600" spc="-1" strike="noStrike">
                <a:solidFill>
                  <a:srgbClr val="7c3aed"/>
                </a:solidFill>
                <a:latin typeface="Arial"/>
              </a:rPr>
              <a:t>Intelligence Loop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6" name=""/>
          <p:cNvSpPr/>
          <p:nvPr/>
        </p:nvSpPr>
        <p:spPr>
          <a:xfrm>
            <a:off x="9217080" y="1719000"/>
            <a:ext cx="2532960" cy="3794760"/>
          </a:xfrm>
          <a:prstGeom prst="roundRect">
            <a:avLst/>
          </a:prstGeom>
          <a:solidFill>
            <a:srgbClr val="ede9fe"/>
          </a:solidFill>
          <a:ln w="17280">
            <a:solidFill>
              <a:srgbClr val="7c3aed"/>
            </a:solidFill>
            <a:round/>
          </a:ln>
        </p:spPr>
        <p:txBody>
          <a:bodyPr lIns="98640" rIns="98640" tIns="53640" bIns="536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"/>
          <p:cNvSpPr txBox="1"/>
          <p:nvPr/>
        </p:nvSpPr>
        <p:spPr>
          <a:xfrm>
            <a:off x="9418320" y="1956960"/>
            <a:ext cx="38412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1" lang="en-US" sz="1600" spc="-1" strike="noStrike">
                <a:solidFill>
                  <a:srgbClr val="7c3aed"/>
                </a:solidFill>
                <a:latin typeface="Arial"/>
              </a:rPr>
              <a:t>04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8" name=""/>
          <p:cNvSpPr txBox="1"/>
          <p:nvPr/>
        </p:nvSpPr>
        <p:spPr>
          <a:xfrm>
            <a:off x="9436680" y="2432160"/>
            <a:ext cx="2094120" cy="54900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2200" spc="-1" strike="noStrike">
                <a:solidFill>
                  <a:srgbClr val="7c3aed"/>
                </a:solidFill>
                <a:latin typeface="Arial"/>
              </a:rPr>
              <a:t>User Feedback Intelligence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9" name=""/>
          <p:cNvSpPr txBox="1"/>
          <p:nvPr/>
        </p:nvSpPr>
        <p:spPr>
          <a:xfrm>
            <a:off x="9455040" y="3794760"/>
            <a:ext cx="2057400" cy="54900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0" lang="en-US" sz="1700" spc="-1" strike="noStrike">
                <a:solidFill>
                  <a:srgbClr val="0f172a"/>
                </a:solidFill>
                <a:latin typeface="Arial"/>
              </a:rPr>
              <a:t>advice, corrections, constraints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0" name=""/>
          <p:cNvSpPr txBox="1"/>
          <p:nvPr/>
        </p:nvSpPr>
        <p:spPr>
          <a:xfrm>
            <a:off x="9473040" y="5102280"/>
            <a:ext cx="201168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1600" spc="-1" strike="noStrike">
                <a:solidFill>
                  <a:srgbClr val="7c3aed"/>
                </a:solidFill>
                <a:latin typeface="Arial"/>
              </a:rPr>
              <a:t>Intelligence Loop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2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8fafc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4" name=""/>
          <p:cNvSpPr/>
          <p:nvPr/>
        </p:nvSpPr>
        <p:spPr>
          <a:xfrm>
            <a:off x="0" y="0"/>
            <a:ext cx="12192120" cy="73080"/>
          </a:xfrm>
          <a:prstGeom prst="rect">
            <a:avLst/>
          </a:prstGeom>
          <a:solidFill>
            <a:srgbClr val="2563eb"/>
          </a:solidFill>
          <a:ln w="0">
            <a:noFill/>
          </a:ln>
        </p:spPr>
        <p:txBody>
          <a:bodyPr lIns="90000" rIns="90000" tIns="28080" bIns="2808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5" name=""/>
          <p:cNvSpPr txBox="1"/>
          <p:nvPr/>
        </p:nvSpPr>
        <p:spPr>
          <a:xfrm>
            <a:off x="621720" y="210240"/>
            <a:ext cx="804672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1" lang="en-US" sz="1100" spc="-1" strike="noStrike">
                <a:solidFill>
                  <a:srgbClr val="2563eb"/>
                </a:solidFill>
                <a:latin typeface="Arial"/>
              </a:rPr>
              <a:t>INTELLIGENCE BRANCH 1 OF 4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6" name=""/>
          <p:cNvSpPr txBox="1"/>
          <p:nvPr/>
        </p:nvSpPr>
        <p:spPr>
          <a:xfrm>
            <a:off x="10698480" y="201240"/>
            <a:ext cx="86868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r"/>
            <a:r>
              <a:rPr b="1" lang="en-US" sz="1100" spc="-1" strike="noStrike">
                <a:solidFill>
                  <a:srgbClr val="475569"/>
                </a:solidFill>
                <a:latin typeface="Arial"/>
              </a:rPr>
              <a:t>15 / 26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7" name=""/>
          <p:cNvSpPr txBox="1"/>
          <p:nvPr/>
        </p:nvSpPr>
        <p:spPr>
          <a:xfrm>
            <a:off x="621720" y="438840"/>
            <a:ext cx="1024128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t">
            <a:noAutofit/>
          </a:bodyPr>
          <a:p>
            <a:r>
              <a:rPr b="1" lang="en-US" sz="3200" spc="-1" strike="noStrike">
                <a:solidFill>
                  <a:srgbClr val="0f172a"/>
                </a:solidFill>
                <a:latin typeface="Arial"/>
              </a:rPr>
              <a:t>Context Intelligence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8" name=""/>
          <p:cNvSpPr txBox="1"/>
          <p:nvPr/>
        </p:nvSpPr>
        <p:spPr>
          <a:xfrm>
            <a:off x="621720" y="969120"/>
            <a:ext cx="1097280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0" lang="en-US" sz="1700" spc="-1" strike="noStrike">
                <a:solidFill>
                  <a:srgbClr val="475569"/>
                </a:solidFill>
                <a:latin typeface="Arial"/>
              </a:rPr>
              <a:t>Reusable questions and ways of thinking help a Loop examine the task from several angles.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"/>
          <p:cNvSpPr/>
          <p:nvPr/>
        </p:nvSpPr>
        <p:spPr>
          <a:xfrm>
            <a:off x="621720" y="5843160"/>
            <a:ext cx="10945440" cy="393120"/>
          </a:xfrm>
          <a:prstGeom prst="roundRect">
            <a:avLst/>
          </a:prstGeom>
          <a:solidFill>
            <a:srgbClr val="f1f5f9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0" name=""/>
          <p:cNvSpPr txBox="1"/>
          <p:nvPr/>
        </p:nvSpPr>
        <p:spPr>
          <a:xfrm>
            <a:off x="731520" y="5879520"/>
            <a:ext cx="1071684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0" lang="en-US" sz="1300" spc="-1" strike="noStrike">
                <a:solidFill>
                  <a:srgbClr val="475569"/>
                </a:solidFill>
                <a:latin typeface="Arial"/>
              </a:rPr>
              <a:t>Imported prompts and skills remain candidates until independent review approves them.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1" name=""/>
          <p:cNvSpPr txBox="1"/>
          <p:nvPr/>
        </p:nvSpPr>
        <p:spPr>
          <a:xfrm>
            <a:off x="621720" y="6291000"/>
            <a:ext cx="9921240" cy="54900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0" lang="en-US" sz="1050" spc="-1" strike="noStrike">
                <a:solidFill>
                  <a:srgbClr val="475569"/>
                </a:solidFill>
                <a:latin typeface="Arial"/>
              </a:rPr>
              <a:t>Search returns a small typed reference. A Retrieved Context Intelligence Loop materializes the selected content.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"/>
          <p:cNvSpPr txBox="1"/>
          <p:nvPr/>
        </p:nvSpPr>
        <p:spPr>
          <a:xfrm>
            <a:off x="10561320" y="6291000"/>
            <a:ext cx="1005840" cy="54900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r"/>
            <a:r>
              <a:rPr b="1" lang="en-US" sz="1050" spc="-1" strike="noStrike">
                <a:solidFill>
                  <a:srgbClr val="64748b"/>
                </a:solidFill>
                <a:latin typeface="Arial"/>
              </a:rPr>
              <a:t>LOOP ENGINE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3" name=""/>
          <p:cNvSpPr/>
          <p:nvPr/>
        </p:nvSpPr>
        <p:spPr>
          <a:xfrm>
            <a:off x="3044880" y="2907720"/>
            <a:ext cx="384120" cy="0"/>
          </a:xfrm>
          <a:prstGeom prst="line">
            <a:avLst/>
          </a:prstGeom>
          <a:ln w="16200">
            <a:solidFill>
              <a:srgbClr val="7c3aed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7920" rIns="97920" tIns="-52920" bIns="-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4" name=""/>
          <p:cNvSpPr/>
          <p:nvPr/>
        </p:nvSpPr>
        <p:spPr>
          <a:xfrm>
            <a:off x="4709160" y="2907720"/>
            <a:ext cx="708840" cy="0"/>
          </a:xfrm>
          <a:prstGeom prst="line">
            <a:avLst/>
          </a:prstGeom>
          <a:ln w="16200">
            <a:solidFill>
              <a:srgbClr val="7c3aed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7920" rIns="97920" tIns="-52920" bIns="-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5" name=""/>
          <p:cNvSpPr/>
          <p:nvPr/>
        </p:nvSpPr>
        <p:spPr>
          <a:xfrm>
            <a:off x="6698160" y="2907720"/>
            <a:ext cx="708840" cy="0"/>
          </a:xfrm>
          <a:prstGeom prst="line">
            <a:avLst/>
          </a:prstGeom>
          <a:ln w="16200">
            <a:solidFill>
              <a:srgbClr val="7c3aed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7920" rIns="97920" tIns="-52920" bIns="-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6" name=""/>
          <p:cNvSpPr/>
          <p:nvPr/>
        </p:nvSpPr>
        <p:spPr>
          <a:xfrm>
            <a:off x="749880" y="2148840"/>
            <a:ext cx="2331720" cy="1572840"/>
          </a:xfrm>
          <a:prstGeom prst="ellipse">
            <a:avLst/>
          </a:prstGeom>
          <a:solidFill>
            <a:srgbClr val="ede9fe"/>
          </a:solidFill>
          <a:ln w="21600">
            <a:solidFill>
              <a:srgbClr val="7c3aed"/>
            </a:solidFill>
            <a:round/>
          </a:ln>
        </p:spPr>
        <p:txBody>
          <a:bodyPr lIns="100800" rIns="100800" tIns="55800" bIns="558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7" name=""/>
          <p:cNvSpPr txBox="1"/>
          <p:nvPr/>
        </p:nvSpPr>
        <p:spPr>
          <a:xfrm>
            <a:off x="859680" y="2258640"/>
            <a:ext cx="2112120" cy="54900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1900" spc="-1" strike="noStrike">
                <a:solidFill>
                  <a:srgbClr val="0f172a"/>
                </a:solidFill>
                <a:latin typeface="Arial"/>
              </a:rPr>
              <a:t>Context Intelligence Loop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8" name=""/>
          <p:cNvSpPr/>
          <p:nvPr/>
        </p:nvSpPr>
        <p:spPr>
          <a:xfrm>
            <a:off x="3429000" y="2514600"/>
            <a:ext cx="1280160" cy="786240"/>
          </a:xfrm>
          <a:prstGeom prst="roundRect">
            <a:avLst/>
          </a:prstGeom>
          <a:solidFill>
            <a:srgbClr val="ede9fe"/>
          </a:solidFill>
          <a:ln w="12960">
            <a:solidFill>
              <a:srgbClr val="7c3aed"/>
            </a:solidFill>
            <a:round/>
          </a:ln>
        </p:spPr>
        <p:txBody>
          <a:bodyPr lIns="96480" rIns="96480" tIns="51480" bIns="5148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9" name=""/>
          <p:cNvSpPr txBox="1"/>
          <p:nvPr/>
        </p:nvSpPr>
        <p:spPr>
          <a:xfrm>
            <a:off x="3474720" y="2541960"/>
            <a:ext cx="1188720" cy="54900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1600" spc="-1" strike="noStrike">
                <a:solidFill>
                  <a:srgbClr val="0f172a"/>
                </a:solidFill>
                <a:latin typeface="Arial"/>
              </a:rPr>
              <a:t>search and rank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0" name=""/>
          <p:cNvSpPr/>
          <p:nvPr/>
        </p:nvSpPr>
        <p:spPr>
          <a:xfrm>
            <a:off x="5418000" y="2514600"/>
            <a:ext cx="1280160" cy="786240"/>
          </a:xfrm>
          <a:prstGeom prst="roundRect">
            <a:avLst/>
          </a:prstGeom>
          <a:solidFill>
            <a:srgbClr val="ede9fe"/>
          </a:solidFill>
          <a:ln w="12960">
            <a:solidFill>
              <a:srgbClr val="7c3aed"/>
            </a:solidFill>
            <a:round/>
          </a:ln>
        </p:spPr>
        <p:txBody>
          <a:bodyPr lIns="96480" rIns="96480" tIns="51480" bIns="5148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1" name=""/>
          <p:cNvSpPr txBox="1"/>
          <p:nvPr/>
        </p:nvSpPr>
        <p:spPr>
          <a:xfrm>
            <a:off x="5463720" y="2541960"/>
            <a:ext cx="118872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1600" spc="-1" strike="noStrike">
                <a:solidFill>
                  <a:srgbClr val="0f172a"/>
                </a:solidFill>
                <a:latin typeface="Arial"/>
              </a:rPr>
              <a:t>retrieve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2" name=""/>
          <p:cNvSpPr/>
          <p:nvPr/>
        </p:nvSpPr>
        <p:spPr>
          <a:xfrm>
            <a:off x="7406640" y="2514600"/>
            <a:ext cx="1280160" cy="786240"/>
          </a:xfrm>
          <a:prstGeom prst="roundRect">
            <a:avLst/>
          </a:prstGeom>
          <a:solidFill>
            <a:srgbClr val="ede9fe"/>
          </a:solidFill>
          <a:ln w="12960">
            <a:solidFill>
              <a:srgbClr val="7c3aed"/>
            </a:solidFill>
            <a:round/>
          </a:ln>
        </p:spPr>
        <p:txBody>
          <a:bodyPr lIns="96480" rIns="96480" tIns="51480" bIns="5148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3" name=""/>
          <p:cNvSpPr txBox="1"/>
          <p:nvPr/>
        </p:nvSpPr>
        <p:spPr>
          <a:xfrm>
            <a:off x="7452360" y="2541960"/>
            <a:ext cx="1188720" cy="54900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1600" spc="-1" strike="noStrike">
                <a:solidFill>
                  <a:srgbClr val="0f172a"/>
                </a:solidFill>
                <a:latin typeface="Arial"/>
              </a:rPr>
              <a:t>frame for this task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4" name=""/>
          <p:cNvSpPr/>
          <p:nvPr/>
        </p:nvSpPr>
        <p:spPr>
          <a:xfrm>
            <a:off x="9015840" y="1700640"/>
            <a:ext cx="2157840" cy="3895200"/>
          </a:xfrm>
          <a:prstGeom prst="roundRect">
            <a:avLst/>
          </a:prstGeom>
          <a:solidFill>
            <a:srgbClr val="ffffff"/>
          </a:solidFill>
          <a:ln w="12600">
            <a:solidFill>
              <a:srgbClr val="cbd5e1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5" name=""/>
          <p:cNvSpPr txBox="1"/>
          <p:nvPr/>
        </p:nvSpPr>
        <p:spPr>
          <a:xfrm>
            <a:off x="9189720" y="1920240"/>
            <a:ext cx="181044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1800" spc="-1" strike="noStrike">
                <a:solidFill>
                  <a:srgbClr val="7c3aed"/>
                </a:solidFill>
                <a:latin typeface="Arial"/>
              </a:rPr>
              <a:t>Selected details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6" name=""/>
          <p:cNvSpPr txBox="1"/>
          <p:nvPr/>
        </p:nvSpPr>
        <p:spPr>
          <a:xfrm>
            <a:off x="9180720" y="2450520"/>
            <a:ext cx="1810440" cy="208476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t">
            <a:noAutofit/>
          </a:bodyPr>
          <a:p>
            <a:r>
              <a:rPr b="0" lang="en-US" sz="1600" spc="-1" strike="noStrike">
                <a:solidFill>
                  <a:srgbClr val="0f172a"/>
                </a:solidFill>
                <a:latin typeface="Arial"/>
              </a:rPr>
              <a:t>• </a:t>
            </a:r>
            <a:r>
              <a:rPr b="0" lang="en-US" sz="1600" spc="-1" strike="noStrike">
                <a:solidFill>
                  <a:srgbClr val="0f172a"/>
                </a:solidFill>
                <a:latin typeface="Arial"/>
              </a:rPr>
              <a:t>first principles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0f172a"/>
                </a:solidFill>
                <a:latin typeface="Arial"/>
              </a:rPr>
              <a:t>• </a:t>
            </a:r>
            <a:r>
              <a:rPr b="0" lang="en-US" sz="1600" spc="-1" strike="noStrike">
                <a:solidFill>
                  <a:srgbClr val="0f172a"/>
                </a:solidFill>
                <a:latin typeface="Arial"/>
              </a:rPr>
              <a:t>missing information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0f172a"/>
                </a:solidFill>
                <a:latin typeface="Arial"/>
              </a:rPr>
              <a:t>• </a:t>
            </a:r>
            <a:r>
              <a:rPr b="0" lang="en-US" sz="1600" spc="-1" strike="noStrike">
                <a:solidFill>
                  <a:srgbClr val="0f172a"/>
                </a:solidFill>
                <a:latin typeface="Arial"/>
              </a:rPr>
              <a:t>failure risks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0f172a"/>
                </a:solidFill>
                <a:latin typeface="Arial"/>
              </a:rPr>
              <a:t>• </a:t>
            </a:r>
            <a:r>
              <a:rPr b="0" lang="en-US" sz="1600" spc="-1" strike="noStrike">
                <a:solidFill>
                  <a:srgbClr val="0f172a"/>
                </a:solidFill>
                <a:latin typeface="Arial"/>
              </a:rPr>
              <a:t>evaluation questions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0f172a"/>
                </a:solidFill>
                <a:latin typeface="Arial"/>
              </a:rPr>
              <a:t>• </a:t>
            </a:r>
            <a:r>
              <a:rPr b="0" lang="en-US" sz="1600" spc="-1" strike="noStrike">
                <a:solidFill>
                  <a:srgbClr val="0f172a"/>
                </a:solidFill>
                <a:latin typeface="Arial"/>
              </a:rPr>
              <a:t>output contracts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9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8fafc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0" name=""/>
          <p:cNvSpPr/>
          <p:nvPr/>
        </p:nvSpPr>
        <p:spPr>
          <a:xfrm>
            <a:off x="0" y="0"/>
            <a:ext cx="12192120" cy="73080"/>
          </a:xfrm>
          <a:prstGeom prst="rect">
            <a:avLst/>
          </a:prstGeom>
          <a:solidFill>
            <a:srgbClr val="2563eb"/>
          </a:solidFill>
          <a:ln w="0">
            <a:noFill/>
          </a:ln>
        </p:spPr>
        <p:txBody>
          <a:bodyPr lIns="90000" rIns="90000" tIns="28080" bIns="2808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1" name=""/>
          <p:cNvSpPr txBox="1"/>
          <p:nvPr/>
        </p:nvSpPr>
        <p:spPr>
          <a:xfrm>
            <a:off x="621720" y="210240"/>
            <a:ext cx="804672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1" lang="en-US" sz="1100" spc="-1" strike="noStrike">
                <a:solidFill>
                  <a:srgbClr val="2563eb"/>
                </a:solidFill>
                <a:latin typeface="Arial"/>
              </a:rPr>
              <a:t>INTELLIGENCE BRANCH 2 OF 4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2" name=""/>
          <p:cNvSpPr txBox="1"/>
          <p:nvPr/>
        </p:nvSpPr>
        <p:spPr>
          <a:xfrm>
            <a:off x="10698480" y="201240"/>
            <a:ext cx="86868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r"/>
            <a:r>
              <a:rPr b="1" lang="en-US" sz="1100" spc="-1" strike="noStrike">
                <a:solidFill>
                  <a:srgbClr val="475569"/>
                </a:solidFill>
                <a:latin typeface="Arial"/>
              </a:rPr>
              <a:t>16 / 26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3" name=""/>
          <p:cNvSpPr txBox="1"/>
          <p:nvPr/>
        </p:nvSpPr>
        <p:spPr>
          <a:xfrm>
            <a:off x="621720" y="438840"/>
            <a:ext cx="1024128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t">
            <a:noAutofit/>
          </a:bodyPr>
          <a:p>
            <a:r>
              <a:rPr b="1" lang="en-US" sz="3200" spc="-1" strike="noStrike">
                <a:solidFill>
                  <a:srgbClr val="0f172a"/>
                </a:solidFill>
                <a:latin typeface="Arial"/>
              </a:rPr>
              <a:t>Code Intelligence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4" name=""/>
          <p:cNvSpPr txBox="1"/>
          <p:nvPr/>
        </p:nvSpPr>
        <p:spPr>
          <a:xfrm>
            <a:off x="621720" y="969120"/>
            <a:ext cx="1097280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0" lang="en-US" sz="1700" spc="-1" strike="noStrike">
                <a:solidFill>
                  <a:srgbClr val="475569"/>
                </a:solidFill>
                <a:latin typeface="Arial"/>
              </a:rPr>
              <a:t>A callable, package, repository, or tool becomes usable only through an exact versioned contract.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5" name=""/>
          <p:cNvSpPr/>
          <p:nvPr/>
        </p:nvSpPr>
        <p:spPr>
          <a:xfrm>
            <a:off x="621720" y="5843160"/>
            <a:ext cx="10945440" cy="393120"/>
          </a:xfrm>
          <a:prstGeom prst="roundRect">
            <a:avLst/>
          </a:prstGeom>
          <a:solidFill>
            <a:srgbClr val="f1f5f9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6" name=""/>
          <p:cNvSpPr txBox="1"/>
          <p:nvPr/>
        </p:nvSpPr>
        <p:spPr>
          <a:xfrm>
            <a:off x="731520" y="5879520"/>
            <a:ext cx="1071684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0" lang="en-US" sz="1300" spc="-1" strike="noStrike">
                <a:solidFill>
                  <a:srgbClr val="475569"/>
                </a:solidFill>
                <a:latin typeface="Arial"/>
              </a:rPr>
              <a:t>Large bodies stay behind references until the selected Code Intelligence Loop needs them.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7" name=""/>
          <p:cNvSpPr txBox="1"/>
          <p:nvPr/>
        </p:nvSpPr>
        <p:spPr>
          <a:xfrm>
            <a:off x="621720" y="6291000"/>
            <a:ext cx="9921240" cy="54900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0" lang="en-US" sz="1050" spc="-1" strike="noStrike">
                <a:solidFill>
                  <a:srgbClr val="475569"/>
                </a:solidFill>
                <a:latin typeface="Arial"/>
              </a:rPr>
              <a:t>Discovery is effect-free. Invocation begins after selection, compatibility checks, and permission checks.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8" name=""/>
          <p:cNvSpPr txBox="1"/>
          <p:nvPr/>
        </p:nvSpPr>
        <p:spPr>
          <a:xfrm>
            <a:off x="10561320" y="6291000"/>
            <a:ext cx="1005840" cy="54900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r"/>
            <a:r>
              <a:rPr b="1" lang="en-US" sz="1050" spc="-1" strike="noStrike">
                <a:solidFill>
                  <a:srgbClr val="64748b"/>
                </a:solidFill>
                <a:latin typeface="Arial"/>
              </a:rPr>
              <a:t>LOOP ENGINE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9" name=""/>
          <p:cNvSpPr/>
          <p:nvPr/>
        </p:nvSpPr>
        <p:spPr>
          <a:xfrm>
            <a:off x="3044880" y="2907720"/>
            <a:ext cx="384120" cy="0"/>
          </a:xfrm>
          <a:prstGeom prst="line">
            <a:avLst/>
          </a:prstGeom>
          <a:ln w="16200">
            <a:solidFill>
              <a:srgbClr val="7c3aed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7920" rIns="97920" tIns="-52920" bIns="-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0" name=""/>
          <p:cNvSpPr/>
          <p:nvPr/>
        </p:nvSpPr>
        <p:spPr>
          <a:xfrm>
            <a:off x="4480560" y="2907720"/>
            <a:ext cx="350640" cy="0"/>
          </a:xfrm>
          <a:prstGeom prst="line">
            <a:avLst/>
          </a:prstGeom>
          <a:ln w="16200">
            <a:solidFill>
              <a:srgbClr val="7c3aed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7920" rIns="97920" tIns="-52920" bIns="-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1" name=""/>
          <p:cNvSpPr/>
          <p:nvPr/>
        </p:nvSpPr>
        <p:spPr>
          <a:xfrm>
            <a:off x="5882760" y="2907720"/>
            <a:ext cx="350640" cy="0"/>
          </a:xfrm>
          <a:prstGeom prst="line">
            <a:avLst/>
          </a:prstGeom>
          <a:ln w="16200">
            <a:solidFill>
              <a:srgbClr val="7c3aed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7920" rIns="97920" tIns="-52920" bIns="-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2" name=""/>
          <p:cNvSpPr/>
          <p:nvPr/>
        </p:nvSpPr>
        <p:spPr>
          <a:xfrm>
            <a:off x="7284600" y="2907720"/>
            <a:ext cx="350640" cy="0"/>
          </a:xfrm>
          <a:prstGeom prst="line">
            <a:avLst/>
          </a:prstGeom>
          <a:ln w="16200">
            <a:solidFill>
              <a:srgbClr val="7c3aed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7920" rIns="97920" tIns="-52920" bIns="-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3" name=""/>
          <p:cNvSpPr/>
          <p:nvPr/>
        </p:nvSpPr>
        <p:spPr>
          <a:xfrm>
            <a:off x="749880" y="2148840"/>
            <a:ext cx="2331720" cy="1572840"/>
          </a:xfrm>
          <a:prstGeom prst="ellipse">
            <a:avLst/>
          </a:prstGeom>
          <a:solidFill>
            <a:srgbClr val="ede9fe"/>
          </a:solidFill>
          <a:ln w="21600">
            <a:solidFill>
              <a:srgbClr val="7c3aed"/>
            </a:solidFill>
            <a:round/>
          </a:ln>
        </p:spPr>
        <p:txBody>
          <a:bodyPr lIns="100800" rIns="100800" tIns="55800" bIns="558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4" name=""/>
          <p:cNvSpPr txBox="1"/>
          <p:nvPr/>
        </p:nvSpPr>
        <p:spPr>
          <a:xfrm>
            <a:off x="859680" y="2258640"/>
            <a:ext cx="2112120" cy="54900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1900" spc="-1" strike="noStrike">
                <a:solidFill>
                  <a:srgbClr val="0f172a"/>
                </a:solidFill>
                <a:latin typeface="Arial"/>
              </a:rPr>
              <a:t>Code Intelligence Loop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5" name=""/>
          <p:cNvSpPr/>
          <p:nvPr/>
        </p:nvSpPr>
        <p:spPr>
          <a:xfrm>
            <a:off x="3429000" y="2514600"/>
            <a:ext cx="1051560" cy="786240"/>
          </a:xfrm>
          <a:prstGeom prst="roundRect">
            <a:avLst/>
          </a:prstGeom>
          <a:solidFill>
            <a:srgbClr val="ede9fe"/>
          </a:solidFill>
          <a:ln w="12960">
            <a:solidFill>
              <a:srgbClr val="7c3aed"/>
            </a:solidFill>
            <a:round/>
          </a:ln>
        </p:spPr>
        <p:txBody>
          <a:bodyPr lIns="96480" rIns="96480" tIns="51480" bIns="5148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6" name=""/>
          <p:cNvSpPr txBox="1"/>
          <p:nvPr/>
        </p:nvSpPr>
        <p:spPr>
          <a:xfrm>
            <a:off x="3474720" y="2541960"/>
            <a:ext cx="96012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1600" spc="-1" strike="noStrike">
                <a:solidFill>
                  <a:srgbClr val="0f172a"/>
                </a:solidFill>
                <a:latin typeface="Arial"/>
              </a:rPr>
              <a:t>search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7" name=""/>
          <p:cNvSpPr/>
          <p:nvPr/>
        </p:nvSpPr>
        <p:spPr>
          <a:xfrm>
            <a:off x="4831200" y="2514600"/>
            <a:ext cx="1051560" cy="786240"/>
          </a:xfrm>
          <a:prstGeom prst="roundRect">
            <a:avLst/>
          </a:prstGeom>
          <a:solidFill>
            <a:srgbClr val="ede9fe"/>
          </a:solidFill>
          <a:ln w="12960">
            <a:solidFill>
              <a:srgbClr val="7c3aed"/>
            </a:solidFill>
            <a:round/>
          </a:ln>
        </p:spPr>
        <p:txBody>
          <a:bodyPr lIns="96480" rIns="96480" tIns="51480" bIns="5148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8" name=""/>
          <p:cNvSpPr txBox="1"/>
          <p:nvPr/>
        </p:nvSpPr>
        <p:spPr>
          <a:xfrm>
            <a:off x="4876920" y="2541960"/>
            <a:ext cx="96012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1600" spc="-1" strike="noStrike">
                <a:solidFill>
                  <a:srgbClr val="0f172a"/>
                </a:solidFill>
                <a:latin typeface="Arial"/>
              </a:rPr>
              <a:t>select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9" name=""/>
          <p:cNvSpPr/>
          <p:nvPr/>
        </p:nvSpPr>
        <p:spPr>
          <a:xfrm>
            <a:off x="6233040" y="2514600"/>
            <a:ext cx="1051560" cy="786240"/>
          </a:xfrm>
          <a:prstGeom prst="roundRect">
            <a:avLst/>
          </a:prstGeom>
          <a:solidFill>
            <a:srgbClr val="ede9fe"/>
          </a:solidFill>
          <a:ln w="12960">
            <a:solidFill>
              <a:srgbClr val="7c3aed"/>
            </a:solidFill>
            <a:round/>
          </a:ln>
        </p:spPr>
        <p:txBody>
          <a:bodyPr lIns="96480" rIns="96480" tIns="51480" bIns="5148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0" name=""/>
          <p:cNvSpPr txBox="1"/>
          <p:nvPr/>
        </p:nvSpPr>
        <p:spPr>
          <a:xfrm>
            <a:off x="6278760" y="2541960"/>
            <a:ext cx="960120" cy="54900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1600" spc="-1" strike="noStrike">
                <a:solidFill>
                  <a:srgbClr val="0f172a"/>
                </a:solidFill>
                <a:latin typeface="Arial"/>
              </a:rPr>
              <a:t>materialize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1" name=""/>
          <p:cNvSpPr/>
          <p:nvPr/>
        </p:nvSpPr>
        <p:spPr>
          <a:xfrm>
            <a:off x="7635240" y="2514600"/>
            <a:ext cx="1051560" cy="786240"/>
          </a:xfrm>
          <a:prstGeom prst="roundRect">
            <a:avLst/>
          </a:prstGeom>
          <a:solidFill>
            <a:srgbClr val="ede9fe"/>
          </a:solidFill>
          <a:ln w="12960">
            <a:solidFill>
              <a:srgbClr val="7c3aed"/>
            </a:solidFill>
            <a:round/>
          </a:ln>
        </p:spPr>
        <p:txBody>
          <a:bodyPr lIns="96480" rIns="96480" tIns="51480" bIns="5148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2" name=""/>
          <p:cNvSpPr txBox="1"/>
          <p:nvPr/>
        </p:nvSpPr>
        <p:spPr>
          <a:xfrm>
            <a:off x="7680960" y="2541960"/>
            <a:ext cx="96012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1600" spc="-1" strike="noStrike">
                <a:solidFill>
                  <a:srgbClr val="0f172a"/>
                </a:solidFill>
                <a:latin typeface="Arial"/>
              </a:rPr>
              <a:t>invoke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3" name=""/>
          <p:cNvSpPr/>
          <p:nvPr/>
        </p:nvSpPr>
        <p:spPr>
          <a:xfrm>
            <a:off x="9015840" y="1700640"/>
            <a:ext cx="2157840" cy="3895200"/>
          </a:xfrm>
          <a:prstGeom prst="roundRect">
            <a:avLst/>
          </a:prstGeom>
          <a:solidFill>
            <a:srgbClr val="ffffff"/>
          </a:solidFill>
          <a:ln w="12600">
            <a:solidFill>
              <a:srgbClr val="cbd5e1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4" name=""/>
          <p:cNvSpPr txBox="1"/>
          <p:nvPr/>
        </p:nvSpPr>
        <p:spPr>
          <a:xfrm>
            <a:off x="9189720" y="1920240"/>
            <a:ext cx="181044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1800" spc="-1" strike="noStrike">
                <a:solidFill>
                  <a:srgbClr val="7c3aed"/>
                </a:solidFill>
                <a:latin typeface="Arial"/>
              </a:rPr>
              <a:t>Selected details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5" name=""/>
          <p:cNvSpPr txBox="1"/>
          <p:nvPr/>
        </p:nvSpPr>
        <p:spPr>
          <a:xfrm>
            <a:off x="9180720" y="2450520"/>
            <a:ext cx="1810440" cy="208476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t">
            <a:noAutofit/>
          </a:bodyPr>
          <a:p>
            <a:r>
              <a:rPr b="0" lang="en-US" sz="1600" spc="-1" strike="noStrike">
                <a:solidFill>
                  <a:srgbClr val="0f172a"/>
                </a:solidFill>
                <a:latin typeface="Arial"/>
              </a:rPr>
              <a:t>• </a:t>
            </a:r>
            <a:r>
              <a:rPr b="0" lang="en-US" sz="1600" spc="-1" strike="noStrike">
                <a:solidFill>
                  <a:srgbClr val="0f172a"/>
                </a:solidFill>
                <a:latin typeface="Arial"/>
              </a:rPr>
              <a:t>source identity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0f172a"/>
                </a:solidFill>
                <a:latin typeface="Arial"/>
              </a:rPr>
              <a:t>• </a:t>
            </a:r>
            <a:r>
              <a:rPr b="0" lang="en-US" sz="1600" spc="-1" strike="noStrike">
                <a:solidFill>
                  <a:srgbClr val="0f172a"/>
                </a:solidFill>
                <a:latin typeface="Arial"/>
              </a:rPr>
              <a:t>version and digest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0f172a"/>
                </a:solidFill>
                <a:latin typeface="Arial"/>
              </a:rPr>
              <a:t>• </a:t>
            </a:r>
            <a:r>
              <a:rPr b="0" lang="en-US" sz="1600" spc="-1" strike="noStrike">
                <a:solidFill>
                  <a:srgbClr val="0f172a"/>
                </a:solidFill>
                <a:latin typeface="Arial"/>
              </a:rPr>
              <a:t>typed ports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0f172a"/>
                </a:solidFill>
                <a:latin typeface="Arial"/>
              </a:rPr>
              <a:t>• </a:t>
            </a:r>
            <a:r>
              <a:rPr b="0" lang="en-US" sz="1600" spc="-1" strike="noStrike">
                <a:solidFill>
                  <a:srgbClr val="0f172a"/>
                </a:solidFill>
                <a:latin typeface="Arial"/>
              </a:rPr>
              <a:t>effects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0f172a"/>
                </a:solidFill>
                <a:latin typeface="Arial"/>
              </a:rPr>
              <a:t>• </a:t>
            </a:r>
            <a:r>
              <a:rPr b="0" lang="en-US" sz="1600" spc="-1" strike="noStrike">
                <a:solidFill>
                  <a:srgbClr val="0f172a"/>
                </a:solidFill>
                <a:latin typeface="Arial"/>
              </a:rPr>
              <a:t>tests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0f172a"/>
                </a:solidFill>
                <a:latin typeface="Arial"/>
              </a:rPr>
              <a:t>• </a:t>
            </a:r>
            <a:r>
              <a:rPr b="0" lang="en-US" sz="1600" spc="-1" strike="noStrike">
                <a:solidFill>
                  <a:srgbClr val="0f172a"/>
                </a:solidFill>
                <a:latin typeface="Arial"/>
              </a:rPr>
              <a:t>license and dependencies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7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8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8fafc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9" name=""/>
          <p:cNvSpPr/>
          <p:nvPr/>
        </p:nvSpPr>
        <p:spPr>
          <a:xfrm>
            <a:off x="0" y="0"/>
            <a:ext cx="12192120" cy="73080"/>
          </a:xfrm>
          <a:prstGeom prst="rect">
            <a:avLst/>
          </a:prstGeom>
          <a:solidFill>
            <a:srgbClr val="2563eb"/>
          </a:solidFill>
          <a:ln w="0">
            <a:noFill/>
          </a:ln>
        </p:spPr>
        <p:txBody>
          <a:bodyPr lIns="90000" rIns="90000" tIns="28080" bIns="2808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0" name=""/>
          <p:cNvSpPr txBox="1"/>
          <p:nvPr/>
        </p:nvSpPr>
        <p:spPr>
          <a:xfrm>
            <a:off x="621720" y="210240"/>
            <a:ext cx="804672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1" lang="en-US" sz="1100" spc="-1" strike="noStrike">
                <a:solidFill>
                  <a:srgbClr val="2563eb"/>
                </a:solidFill>
                <a:latin typeface="Arial"/>
              </a:rPr>
              <a:t>INTELLIGENCE BRANCH 3 OF 4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1" name=""/>
          <p:cNvSpPr txBox="1"/>
          <p:nvPr/>
        </p:nvSpPr>
        <p:spPr>
          <a:xfrm>
            <a:off x="10698480" y="201240"/>
            <a:ext cx="86868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r"/>
            <a:r>
              <a:rPr b="1" lang="en-US" sz="1100" spc="-1" strike="noStrike">
                <a:solidFill>
                  <a:srgbClr val="475569"/>
                </a:solidFill>
                <a:latin typeface="Arial"/>
              </a:rPr>
              <a:t>17 / 26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2" name=""/>
          <p:cNvSpPr txBox="1"/>
          <p:nvPr/>
        </p:nvSpPr>
        <p:spPr>
          <a:xfrm>
            <a:off x="621720" y="438840"/>
            <a:ext cx="1024128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t">
            <a:noAutofit/>
          </a:bodyPr>
          <a:p>
            <a:r>
              <a:rPr b="1" lang="en-US" sz="3200" spc="-1" strike="noStrike">
                <a:solidFill>
                  <a:srgbClr val="0f172a"/>
                </a:solidFill>
                <a:latin typeface="Arial"/>
              </a:rPr>
              <a:t>Runtime History and Solution Intelligence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3" name=""/>
          <p:cNvSpPr txBox="1"/>
          <p:nvPr/>
        </p:nvSpPr>
        <p:spPr>
          <a:xfrm>
            <a:off x="621720" y="969120"/>
            <a:ext cx="1097280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0" lang="en-US" sz="1700" spc="-1" strike="noStrike">
                <a:solidFill>
                  <a:srgbClr val="475569"/>
                </a:solidFill>
                <a:latin typeface="Arial"/>
              </a:rPr>
              <a:t>Saved work provides starting points, failures, repairs, measurements, and reusable Solution graphs.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4" name=""/>
          <p:cNvSpPr/>
          <p:nvPr/>
        </p:nvSpPr>
        <p:spPr>
          <a:xfrm>
            <a:off x="621720" y="5843160"/>
            <a:ext cx="10945440" cy="393120"/>
          </a:xfrm>
          <a:prstGeom prst="roundRect">
            <a:avLst/>
          </a:prstGeom>
          <a:solidFill>
            <a:srgbClr val="f1f5f9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5" name=""/>
          <p:cNvSpPr txBox="1"/>
          <p:nvPr/>
        </p:nvSpPr>
        <p:spPr>
          <a:xfrm>
            <a:off x="731520" y="5879520"/>
            <a:ext cx="1071684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0" lang="en-US" sz="1300" spc="-1" strike="noStrike">
                <a:solidFill>
                  <a:srgbClr val="475569"/>
                </a:solidFill>
                <a:latin typeface="Arial"/>
              </a:rPr>
              <a:t>The architecture uses one public name for this branch. Legacy storage names need migration readers.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6" name=""/>
          <p:cNvSpPr txBox="1"/>
          <p:nvPr/>
        </p:nvSpPr>
        <p:spPr>
          <a:xfrm>
            <a:off x="621720" y="6291000"/>
            <a:ext cx="9921240" cy="54900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0" lang="en-US" sz="1050" spc="-1" strike="noStrike">
                <a:solidFill>
                  <a:srgbClr val="475569"/>
                </a:solidFill>
                <a:latin typeface="Arial"/>
              </a:rPr>
              <a:t>Intelligence Loops search, replay, or compare exact saved records. Missing evidence remains visible.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7" name=""/>
          <p:cNvSpPr txBox="1"/>
          <p:nvPr/>
        </p:nvSpPr>
        <p:spPr>
          <a:xfrm>
            <a:off x="10561320" y="6291000"/>
            <a:ext cx="1005840" cy="54900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r"/>
            <a:r>
              <a:rPr b="1" lang="en-US" sz="1050" spc="-1" strike="noStrike">
                <a:solidFill>
                  <a:srgbClr val="64748b"/>
                </a:solidFill>
                <a:latin typeface="Arial"/>
              </a:rPr>
              <a:t>LOOP ENGINE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8" name=""/>
          <p:cNvSpPr/>
          <p:nvPr/>
        </p:nvSpPr>
        <p:spPr>
          <a:xfrm>
            <a:off x="3044880" y="2907720"/>
            <a:ext cx="384120" cy="0"/>
          </a:xfrm>
          <a:prstGeom prst="line">
            <a:avLst/>
          </a:prstGeom>
          <a:ln w="16200">
            <a:solidFill>
              <a:srgbClr val="7c3aed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7920" rIns="97920" tIns="-52920" bIns="-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9" name=""/>
          <p:cNvSpPr/>
          <p:nvPr/>
        </p:nvSpPr>
        <p:spPr>
          <a:xfrm>
            <a:off x="4709160" y="2907720"/>
            <a:ext cx="708840" cy="0"/>
          </a:xfrm>
          <a:prstGeom prst="line">
            <a:avLst/>
          </a:prstGeom>
          <a:ln w="16200">
            <a:solidFill>
              <a:srgbClr val="7c3aed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7920" rIns="97920" tIns="-52920" bIns="-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0" name=""/>
          <p:cNvSpPr/>
          <p:nvPr/>
        </p:nvSpPr>
        <p:spPr>
          <a:xfrm>
            <a:off x="6698160" y="2907720"/>
            <a:ext cx="708840" cy="0"/>
          </a:xfrm>
          <a:prstGeom prst="line">
            <a:avLst/>
          </a:prstGeom>
          <a:ln w="16200">
            <a:solidFill>
              <a:srgbClr val="7c3aed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7920" rIns="97920" tIns="-52920" bIns="-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1" name=""/>
          <p:cNvSpPr/>
          <p:nvPr/>
        </p:nvSpPr>
        <p:spPr>
          <a:xfrm>
            <a:off x="749880" y="2148840"/>
            <a:ext cx="2331720" cy="1572840"/>
          </a:xfrm>
          <a:prstGeom prst="ellipse">
            <a:avLst/>
          </a:prstGeom>
          <a:solidFill>
            <a:srgbClr val="ede9fe"/>
          </a:solidFill>
          <a:ln w="21600">
            <a:solidFill>
              <a:srgbClr val="7c3aed"/>
            </a:solidFill>
            <a:round/>
          </a:ln>
        </p:spPr>
        <p:txBody>
          <a:bodyPr lIns="100800" rIns="100800" tIns="55800" bIns="558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2" name=""/>
          <p:cNvSpPr txBox="1"/>
          <p:nvPr/>
        </p:nvSpPr>
        <p:spPr>
          <a:xfrm>
            <a:off x="859680" y="2258640"/>
            <a:ext cx="2112120" cy="54900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1900" spc="-1" strike="noStrike">
                <a:solidFill>
                  <a:srgbClr val="0f172a"/>
                </a:solidFill>
                <a:latin typeface="Arial"/>
              </a:rPr>
              <a:t>Run and Solution Intelligence Loop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3" name=""/>
          <p:cNvSpPr/>
          <p:nvPr/>
        </p:nvSpPr>
        <p:spPr>
          <a:xfrm>
            <a:off x="3429000" y="2514600"/>
            <a:ext cx="1280160" cy="786240"/>
          </a:xfrm>
          <a:prstGeom prst="roundRect">
            <a:avLst/>
          </a:prstGeom>
          <a:solidFill>
            <a:srgbClr val="ede9fe"/>
          </a:solidFill>
          <a:ln w="12960">
            <a:solidFill>
              <a:srgbClr val="7c3aed"/>
            </a:solidFill>
            <a:round/>
          </a:ln>
        </p:spPr>
        <p:txBody>
          <a:bodyPr lIns="96480" rIns="96480" tIns="51480" bIns="5148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4" name=""/>
          <p:cNvSpPr txBox="1"/>
          <p:nvPr/>
        </p:nvSpPr>
        <p:spPr>
          <a:xfrm>
            <a:off x="3474720" y="2541960"/>
            <a:ext cx="1188720" cy="54900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1600" spc="-1" strike="noStrike">
                <a:solidFill>
                  <a:srgbClr val="0f172a"/>
                </a:solidFill>
                <a:latin typeface="Arial"/>
              </a:rPr>
              <a:t>search history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5" name=""/>
          <p:cNvSpPr/>
          <p:nvPr/>
        </p:nvSpPr>
        <p:spPr>
          <a:xfrm>
            <a:off x="5418000" y="2514600"/>
            <a:ext cx="1280160" cy="786240"/>
          </a:xfrm>
          <a:prstGeom prst="roundRect">
            <a:avLst/>
          </a:prstGeom>
          <a:solidFill>
            <a:srgbClr val="ede9fe"/>
          </a:solidFill>
          <a:ln w="12960">
            <a:solidFill>
              <a:srgbClr val="7c3aed"/>
            </a:solidFill>
            <a:round/>
          </a:ln>
        </p:spPr>
        <p:txBody>
          <a:bodyPr lIns="96480" rIns="96480" tIns="51480" bIns="5148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6" name=""/>
          <p:cNvSpPr txBox="1"/>
          <p:nvPr/>
        </p:nvSpPr>
        <p:spPr>
          <a:xfrm>
            <a:off x="5463720" y="2541960"/>
            <a:ext cx="118872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1600" spc="-1" strike="noStrike">
                <a:solidFill>
                  <a:srgbClr val="0f172a"/>
                </a:solidFill>
                <a:latin typeface="Arial"/>
              </a:rPr>
              <a:t>replay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7" name=""/>
          <p:cNvSpPr/>
          <p:nvPr/>
        </p:nvSpPr>
        <p:spPr>
          <a:xfrm>
            <a:off x="7406640" y="2514600"/>
            <a:ext cx="1280160" cy="786240"/>
          </a:xfrm>
          <a:prstGeom prst="roundRect">
            <a:avLst/>
          </a:prstGeom>
          <a:solidFill>
            <a:srgbClr val="ede9fe"/>
          </a:solidFill>
          <a:ln w="12960">
            <a:solidFill>
              <a:srgbClr val="7c3aed"/>
            </a:solidFill>
            <a:round/>
          </a:ln>
        </p:spPr>
        <p:txBody>
          <a:bodyPr lIns="96480" rIns="96480" tIns="51480" bIns="5148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8" name=""/>
          <p:cNvSpPr txBox="1"/>
          <p:nvPr/>
        </p:nvSpPr>
        <p:spPr>
          <a:xfrm>
            <a:off x="7452360" y="2541960"/>
            <a:ext cx="118872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1600" spc="-1" strike="noStrike">
                <a:solidFill>
                  <a:srgbClr val="0f172a"/>
                </a:solidFill>
                <a:latin typeface="Arial"/>
              </a:rPr>
              <a:t>compare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9" name=""/>
          <p:cNvSpPr/>
          <p:nvPr/>
        </p:nvSpPr>
        <p:spPr>
          <a:xfrm>
            <a:off x="9015840" y="1700640"/>
            <a:ext cx="2157840" cy="3895200"/>
          </a:xfrm>
          <a:prstGeom prst="roundRect">
            <a:avLst/>
          </a:prstGeom>
          <a:solidFill>
            <a:srgbClr val="ffffff"/>
          </a:solidFill>
          <a:ln w="12600">
            <a:solidFill>
              <a:srgbClr val="cbd5e1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0" name=""/>
          <p:cNvSpPr txBox="1"/>
          <p:nvPr/>
        </p:nvSpPr>
        <p:spPr>
          <a:xfrm>
            <a:off x="9189720" y="1920240"/>
            <a:ext cx="181044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1800" spc="-1" strike="noStrike">
                <a:solidFill>
                  <a:srgbClr val="7c3aed"/>
                </a:solidFill>
                <a:latin typeface="Arial"/>
              </a:rPr>
              <a:t>Selected details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1" name=""/>
          <p:cNvSpPr txBox="1"/>
          <p:nvPr/>
        </p:nvSpPr>
        <p:spPr>
          <a:xfrm>
            <a:off x="9180720" y="2450520"/>
            <a:ext cx="1810440" cy="182880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t">
            <a:noAutofit/>
          </a:bodyPr>
          <a:p>
            <a:r>
              <a:rPr b="0" lang="en-US" sz="1600" spc="-1" strike="noStrike">
                <a:solidFill>
                  <a:srgbClr val="0f172a"/>
                </a:solidFill>
                <a:latin typeface="Arial"/>
              </a:rPr>
              <a:t>• </a:t>
            </a:r>
            <a:r>
              <a:rPr b="0" lang="en-US" sz="1600" spc="-1" strike="noStrike">
                <a:solidFill>
                  <a:srgbClr val="0f172a"/>
                </a:solidFill>
                <a:latin typeface="Arial"/>
              </a:rPr>
              <a:t>run graphs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0f172a"/>
                </a:solidFill>
                <a:latin typeface="Arial"/>
              </a:rPr>
              <a:t>• </a:t>
            </a:r>
            <a:r>
              <a:rPr b="0" lang="en-US" sz="1600" spc="-1" strike="noStrike">
                <a:solidFill>
                  <a:srgbClr val="0f172a"/>
                </a:solidFill>
                <a:latin typeface="Arial"/>
              </a:rPr>
              <a:t>decisions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0f172a"/>
                </a:solidFill>
                <a:latin typeface="Arial"/>
              </a:rPr>
              <a:t>• </a:t>
            </a:r>
            <a:r>
              <a:rPr b="0" lang="en-US" sz="1600" spc="-1" strike="noStrike">
                <a:solidFill>
                  <a:srgbClr val="0f172a"/>
                </a:solidFill>
                <a:latin typeface="Arial"/>
              </a:rPr>
              <a:t>failures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0f172a"/>
                </a:solidFill>
                <a:latin typeface="Arial"/>
              </a:rPr>
              <a:t>• </a:t>
            </a:r>
            <a:r>
              <a:rPr b="0" lang="en-US" sz="1600" spc="-1" strike="noStrike">
                <a:solidFill>
                  <a:srgbClr val="0f172a"/>
                </a:solidFill>
                <a:latin typeface="Arial"/>
              </a:rPr>
              <a:t>repairs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0f172a"/>
                </a:solidFill>
                <a:latin typeface="Arial"/>
              </a:rPr>
              <a:t>• </a:t>
            </a:r>
            <a:r>
              <a:rPr b="0" lang="en-US" sz="1600" spc="-1" strike="noStrike">
                <a:solidFill>
                  <a:srgbClr val="0f172a"/>
                </a:solidFill>
                <a:latin typeface="Arial"/>
              </a:rPr>
              <a:t>measurements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0f172a"/>
                </a:solidFill>
                <a:latin typeface="Arial"/>
              </a:rPr>
              <a:t>• </a:t>
            </a:r>
            <a:r>
              <a:rPr b="0" lang="en-US" sz="1600" spc="-1" strike="noStrike">
                <a:solidFill>
                  <a:srgbClr val="0f172a"/>
                </a:solidFill>
                <a:latin typeface="Arial"/>
              </a:rPr>
              <a:t>Solution definitions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3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4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8fafc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5" name=""/>
          <p:cNvSpPr/>
          <p:nvPr/>
        </p:nvSpPr>
        <p:spPr>
          <a:xfrm>
            <a:off x="0" y="0"/>
            <a:ext cx="12192120" cy="73080"/>
          </a:xfrm>
          <a:prstGeom prst="rect">
            <a:avLst/>
          </a:prstGeom>
          <a:solidFill>
            <a:srgbClr val="2563eb"/>
          </a:solidFill>
          <a:ln w="0">
            <a:noFill/>
          </a:ln>
        </p:spPr>
        <p:txBody>
          <a:bodyPr lIns="90000" rIns="90000" tIns="28080" bIns="2808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6" name=""/>
          <p:cNvSpPr txBox="1"/>
          <p:nvPr/>
        </p:nvSpPr>
        <p:spPr>
          <a:xfrm>
            <a:off x="621720" y="210240"/>
            <a:ext cx="804672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1" lang="en-US" sz="1100" spc="-1" strike="noStrike">
                <a:solidFill>
                  <a:srgbClr val="2563eb"/>
                </a:solidFill>
                <a:latin typeface="Arial"/>
              </a:rPr>
              <a:t>INTELLIGENCE BRANCH 4 OF 4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7" name=""/>
          <p:cNvSpPr txBox="1"/>
          <p:nvPr/>
        </p:nvSpPr>
        <p:spPr>
          <a:xfrm>
            <a:off x="10698480" y="201240"/>
            <a:ext cx="86868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r"/>
            <a:r>
              <a:rPr b="1" lang="en-US" sz="1100" spc="-1" strike="noStrike">
                <a:solidFill>
                  <a:srgbClr val="475569"/>
                </a:solidFill>
                <a:latin typeface="Arial"/>
              </a:rPr>
              <a:t>18 / 26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8" name=""/>
          <p:cNvSpPr txBox="1"/>
          <p:nvPr/>
        </p:nvSpPr>
        <p:spPr>
          <a:xfrm>
            <a:off x="621720" y="438840"/>
            <a:ext cx="1024128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t">
            <a:noAutofit/>
          </a:bodyPr>
          <a:p>
            <a:r>
              <a:rPr b="1" lang="en-US" sz="3200" spc="-1" strike="noStrike">
                <a:solidFill>
                  <a:srgbClr val="0f172a"/>
                </a:solidFill>
                <a:latin typeface="Arial"/>
              </a:rPr>
              <a:t>User Feedback Intelligence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9" name=""/>
          <p:cNvSpPr txBox="1"/>
          <p:nvPr/>
        </p:nvSpPr>
        <p:spPr>
          <a:xfrm>
            <a:off x="621720" y="969120"/>
            <a:ext cx="1097280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0" lang="en-US" sz="1700" spc="-1" strike="noStrike">
                <a:solidFill>
                  <a:srgbClr val="475569"/>
                </a:solidFill>
                <a:latin typeface="Arial"/>
              </a:rPr>
              <a:t>User advice, corrections, priorities, constraints, approvals, and vetoes remain explicit.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0" name=""/>
          <p:cNvSpPr/>
          <p:nvPr/>
        </p:nvSpPr>
        <p:spPr>
          <a:xfrm>
            <a:off x="621720" y="5843160"/>
            <a:ext cx="10945440" cy="393120"/>
          </a:xfrm>
          <a:prstGeom prst="roundRect">
            <a:avLst/>
          </a:prstGeom>
          <a:solidFill>
            <a:srgbClr val="f1f5f9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1" name=""/>
          <p:cNvSpPr txBox="1"/>
          <p:nvPr/>
        </p:nvSpPr>
        <p:spPr>
          <a:xfrm>
            <a:off x="731520" y="5879520"/>
            <a:ext cx="1071684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0" lang="en-US" sz="1300" spc="-1" strike="noStrike">
                <a:solidFill>
                  <a:srgbClr val="475569"/>
                </a:solidFill>
                <a:latin typeface="Arial"/>
              </a:rPr>
              <a:t>Interpretation never changes the original user record or grants a new permission.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2" name=""/>
          <p:cNvSpPr txBox="1"/>
          <p:nvPr/>
        </p:nvSpPr>
        <p:spPr>
          <a:xfrm>
            <a:off x="621720" y="6291000"/>
            <a:ext cx="9921240" cy="54900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0" lang="en-US" sz="1050" spc="-1" strike="noStrike">
                <a:solidFill>
                  <a:srgbClr val="475569"/>
                </a:solidFill>
                <a:latin typeface="Arial"/>
              </a:rPr>
              <a:t>A deterministic Loop can return exact guidance. An authorized model-led Loop can frame it for the current task.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3" name=""/>
          <p:cNvSpPr txBox="1"/>
          <p:nvPr/>
        </p:nvSpPr>
        <p:spPr>
          <a:xfrm>
            <a:off x="10561320" y="6291000"/>
            <a:ext cx="1005840" cy="54900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r"/>
            <a:r>
              <a:rPr b="1" lang="en-US" sz="1050" spc="-1" strike="noStrike">
                <a:solidFill>
                  <a:srgbClr val="64748b"/>
                </a:solidFill>
                <a:latin typeface="Arial"/>
              </a:rPr>
              <a:t>LOOP ENGINE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4" name=""/>
          <p:cNvSpPr/>
          <p:nvPr/>
        </p:nvSpPr>
        <p:spPr>
          <a:xfrm>
            <a:off x="3044880" y="2907720"/>
            <a:ext cx="384120" cy="0"/>
          </a:xfrm>
          <a:prstGeom prst="line">
            <a:avLst/>
          </a:prstGeom>
          <a:ln w="16200">
            <a:solidFill>
              <a:srgbClr val="7c3aed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7920" rIns="97920" tIns="-52920" bIns="-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5" name=""/>
          <p:cNvSpPr/>
          <p:nvPr/>
        </p:nvSpPr>
        <p:spPr>
          <a:xfrm>
            <a:off x="4709160" y="2907720"/>
            <a:ext cx="2697480" cy="0"/>
          </a:xfrm>
          <a:prstGeom prst="line">
            <a:avLst/>
          </a:prstGeom>
          <a:ln w="16200">
            <a:solidFill>
              <a:srgbClr val="7c3aed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7920" rIns="97920" tIns="-52920" bIns="-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6" name=""/>
          <p:cNvSpPr/>
          <p:nvPr/>
        </p:nvSpPr>
        <p:spPr>
          <a:xfrm>
            <a:off x="749880" y="2148840"/>
            <a:ext cx="2331720" cy="1572840"/>
          </a:xfrm>
          <a:prstGeom prst="ellipse">
            <a:avLst/>
          </a:prstGeom>
          <a:solidFill>
            <a:srgbClr val="ede9fe"/>
          </a:solidFill>
          <a:ln w="21600">
            <a:solidFill>
              <a:srgbClr val="7c3aed"/>
            </a:solidFill>
            <a:round/>
          </a:ln>
        </p:spPr>
        <p:txBody>
          <a:bodyPr lIns="100800" rIns="100800" tIns="55800" bIns="558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7" name=""/>
          <p:cNvSpPr txBox="1"/>
          <p:nvPr/>
        </p:nvSpPr>
        <p:spPr>
          <a:xfrm>
            <a:off x="859680" y="2258640"/>
            <a:ext cx="2112120" cy="54900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1900" spc="-1" strike="noStrike">
                <a:solidFill>
                  <a:srgbClr val="0f172a"/>
                </a:solidFill>
                <a:latin typeface="Arial"/>
              </a:rPr>
              <a:t>User Feedback Intelligence Loop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8" name=""/>
          <p:cNvSpPr/>
          <p:nvPr/>
        </p:nvSpPr>
        <p:spPr>
          <a:xfrm>
            <a:off x="3429000" y="2514600"/>
            <a:ext cx="1280160" cy="786240"/>
          </a:xfrm>
          <a:prstGeom prst="roundRect">
            <a:avLst/>
          </a:prstGeom>
          <a:solidFill>
            <a:srgbClr val="ede9fe"/>
          </a:solidFill>
          <a:ln w="12960">
            <a:solidFill>
              <a:srgbClr val="7c3aed"/>
            </a:solidFill>
            <a:round/>
          </a:ln>
        </p:spPr>
        <p:txBody>
          <a:bodyPr lIns="96480" rIns="96480" tIns="51480" bIns="5148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9" name=""/>
          <p:cNvSpPr txBox="1"/>
          <p:nvPr/>
        </p:nvSpPr>
        <p:spPr>
          <a:xfrm>
            <a:off x="3474720" y="2541960"/>
            <a:ext cx="1188720" cy="80496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1600" spc="-1" strike="noStrike">
                <a:solidFill>
                  <a:srgbClr val="0f172a"/>
                </a:solidFill>
                <a:latin typeface="Arial"/>
              </a:rPr>
              <a:t>retrieve exact guidance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0" name=""/>
          <p:cNvSpPr/>
          <p:nvPr/>
        </p:nvSpPr>
        <p:spPr>
          <a:xfrm>
            <a:off x="7406640" y="2514600"/>
            <a:ext cx="1280160" cy="786240"/>
          </a:xfrm>
          <a:prstGeom prst="roundRect">
            <a:avLst/>
          </a:prstGeom>
          <a:solidFill>
            <a:srgbClr val="ede9fe"/>
          </a:solidFill>
          <a:ln w="12960">
            <a:solidFill>
              <a:srgbClr val="7c3aed"/>
            </a:solidFill>
            <a:round/>
          </a:ln>
        </p:spPr>
        <p:txBody>
          <a:bodyPr lIns="96480" rIns="96480" tIns="51480" bIns="5148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1" name=""/>
          <p:cNvSpPr txBox="1"/>
          <p:nvPr/>
        </p:nvSpPr>
        <p:spPr>
          <a:xfrm>
            <a:off x="7452360" y="2541960"/>
            <a:ext cx="1188720" cy="80496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1600" spc="-1" strike="noStrike">
                <a:solidFill>
                  <a:srgbClr val="0f172a"/>
                </a:solidFill>
                <a:latin typeface="Arial"/>
              </a:rPr>
              <a:t>interpret when authorized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2" name=""/>
          <p:cNvSpPr/>
          <p:nvPr/>
        </p:nvSpPr>
        <p:spPr>
          <a:xfrm>
            <a:off x="9015840" y="1700640"/>
            <a:ext cx="2157840" cy="3895200"/>
          </a:xfrm>
          <a:prstGeom prst="roundRect">
            <a:avLst/>
          </a:prstGeom>
          <a:solidFill>
            <a:srgbClr val="ffffff"/>
          </a:solidFill>
          <a:ln w="12600">
            <a:solidFill>
              <a:srgbClr val="cbd5e1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3" name=""/>
          <p:cNvSpPr txBox="1"/>
          <p:nvPr/>
        </p:nvSpPr>
        <p:spPr>
          <a:xfrm>
            <a:off x="9189720" y="1920240"/>
            <a:ext cx="181044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1800" spc="-1" strike="noStrike">
                <a:solidFill>
                  <a:srgbClr val="7c3aed"/>
                </a:solidFill>
                <a:latin typeface="Arial"/>
              </a:rPr>
              <a:t>Selected details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4" name=""/>
          <p:cNvSpPr txBox="1"/>
          <p:nvPr/>
        </p:nvSpPr>
        <p:spPr>
          <a:xfrm>
            <a:off x="9180720" y="2450520"/>
            <a:ext cx="1810440" cy="182880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t">
            <a:noAutofit/>
          </a:bodyPr>
          <a:p>
            <a:r>
              <a:rPr b="0" lang="en-US" sz="1600" spc="-1" strike="noStrike">
                <a:solidFill>
                  <a:srgbClr val="0f172a"/>
                </a:solidFill>
                <a:latin typeface="Arial"/>
              </a:rPr>
              <a:t>• </a:t>
            </a:r>
            <a:r>
              <a:rPr b="0" lang="en-US" sz="1600" spc="-1" strike="noStrike">
                <a:solidFill>
                  <a:srgbClr val="0f172a"/>
                </a:solidFill>
                <a:latin typeface="Arial"/>
              </a:rPr>
              <a:t>advice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0f172a"/>
                </a:solidFill>
                <a:latin typeface="Arial"/>
              </a:rPr>
              <a:t>• </a:t>
            </a:r>
            <a:r>
              <a:rPr b="0" lang="en-US" sz="1600" spc="-1" strike="noStrike">
                <a:solidFill>
                  <a:srgbClr val="0f172a"/>
                </a:solidFill>
                <a:latin typeface="Arial"/>
              </a:rPr>
              <a:t>corrections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0f172a"/>
                </a:solidFill>
                <a:latin typeface="Arial"/>
              </a:rPr>
              <a:t>• </a:t>
            </a:r>
            <a:r>
              <a:rPr b="0" lang="en-US" sz="1600" spc="-1" strike="noStrike">
                <a:solidFill>
                  <a:srgbClr val="0f172a"/>
                </a:solidFill>
                <a:latin typeface="Arial"/>
              </a:rPr>
              <a:t>sources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0f172a"/>
                </a:solidFill>
                <a:latin typeface="Arial"/>
              </a:rPr>
              <a:t>• </a:t>
            </a:r>
            <a:r>
              <a:rPr b="0" lang="en-US" sz="1600" spc="-1" strike="noStrike">
                <a:solidFill>
                  <a:srgbClr val="0f172a"/>
                </a:solidFill>
                <a:latin typeface="Arial"/>
              </a:rPr>
              <a:t>priorities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0f172a"/>
                </a:solidFill>
                <a:latin typeface="Arial"/>
              </a:rPr>
              <a:t>• </a:t>
            </a:r>
            <a:r>
              <a:rPr b="0" lang="en-US" sz="1600" spc="-1" strike="noStrike">
                <a:solidFill>
                  <a:srgbClr val="0f172a"/>
                </a:solidFill>
                <a:latin typeface="Arial"/>
              </a:rPr>
              <a:t>constraints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0f172a"/>
                </a:solidFill>
                <a:latin typeface="Arial"/>
              </a:rPr>
              <a:t>• </a:t>
            </a:r>
            <a:r>
              <a:rPr b="0" lang="en-US" sz="1600" spc="-1" strike="noStrike">
                <a:solidFill>
                  <a:srgbClr val="0f172a"/>
                </a:solidFill>
                <a:latin typeface="Arial"/>
              </a:rPr>
              <a:t>approvals and vetoes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7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8fafc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8" name=""/>
          <p:cNvSpPr/>
          <p:nvPr/>
        </p:nvSpPr>
        <p:spPr>
          <a:xfrm>
            <a:off x="0" y="0"/>
            <a:ext cx="12192120" cy="73080"/>
          </a:xfrm>
          <a:prstGeom prst="rect">
            <a:avLst/>
          </a:prstGeom>
          <a:solidFill>
            <a:srgbClr val="2563eb"/>
          </a:solidFill>
          <a:ln w="0">
            <a:noFill/>
          </a:ln>
        </p:spPr>
        <p:txBody>
          <a:bodyPr lIns="90000" rIns="90000" tIns="28080" bIns="2808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9" name=""/>
          <p:cNvSpPr txBox="1"/>
          <p:nvPr/>
        </p:nvSpPr>
        <p:spPr>
          <a:xfrm>
            <a:off x="621720" y="210240"/>
            <a:ext cx="804672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1" lang="en-US" sz="1100" spc="-1" strike="noStrike">
                <a:solidFill>
                  <a:srgbClr val="2563eb"/>
                </a:solidFill>
                <a:latin typeface="Arial"/>
              </a:rPr>
              <a:t>WHAT RUNS FOR A NEW INPUT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0" name=""/>
          <p:cNvSpPr txBox="1"/>
          <p:nvPr/>
        </p:nvSpPr>
        <p:spPr>
          <a:xfrm>
            <a:off x="10698480" y="201240"/>
            <a:ext cx="86868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r"/>
            <a:r>
              <a:rPr b="1" lang="en-US" sz="1100" spc="-1" strike="noStrike">
                <a:solidFill>
                  <a:srgbClr val="475569"/>
                </a:solidFill>
                <a:latin typeface="Arial"/>
              </a:rPr>
              <a:t>19 / 26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1" name=""/>
          <p:cNvSpPr txBox="1"/>
          <p:nvPr/>
        </p:nvSpPr>
        <p:spPr>
          <a:xfrm>
            <a:off x="621720" y="438840"/>
            <a:ext cx="1024128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t">
            <a:noAutofit/>
          </a:bodyPr>
          <a:p>
            <a:r>
              <a:rPr b="1" lang="en-US" sz="3200" spc="-1" strike="noStrike">
                <a:solidFill>
                  <a:srgbClr val="0f172a"/>
                </a:solidFill>
                <a:latin typeface="Arial"/>
              </a:rPr>
              <a:t>The Solution Canvas keeps several working routes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2" name=""/>
          <p:cNvSpPr txBox="1"/>
          <p:nvPr/>
        </p:nvSpPr>
        <p:spPr>
          <a:xfrm>
            <a:off x="621720" y="969120"/>
            <a:ext cx="1097280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0" lang="en-US" sz="1700" spc="-1" strike="noStrike">
                <a:solidFill>
                  <a:srgbClr val="475569"/>
                </a:solidFill>
                <a:latin typeface="Arial"/>
              </a:rPr>
              <a:t>Each cell refers to a versioned Solution Loop. Typed edges connect the selected graph.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3" name=""/>
          <p:cNvSpPr/>
          <p:nvPr/>
        </p:nvSpPr>
        <p:spPr>
          <a:xfrm>
            <a:off x="621720" y="5843160"/>
            <a:ext cx="10945440" cy="393120"/>
          </a:xfrm>
          <a:prstGeom prst="roundRect">
            <a:avLst/>
          </a:prstGeom>
          <a:solidFill>
            <a:srgbClr val="f1f5f9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4" name=""/>
          <p:cNvSpPr txBox="1"/>
          <p:nvPr/>
        </p:nvSpPr>
        <p:spPr>
          <a:xfrm>
            <a:off x="731520" y="5879520"/>
            <a:ext cx="1071684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0" lang="en-US" sz="1300" spc="-1" strike="noStrike">
                <a:solidFill>
                  <a:srgbClr val="475569"/>
                </a:solidFill>
                <a:latin typeface="Arial"/>
              </a:rPr>
              <a:t>Implemented. SolutionSpec and Canvas now build or project one authoritative LoopGraphDefinition.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5" name=""/>
          <p:cNvSpPr txBox="1"/>
          <p:nvPr/>
        </p:nvSpPr>
        <p:spPr>
          <a:xfrm>
            <a:off x="621720" y="6291000"/>
            <a:ext cx="9921240" cy="54900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0" lang="en-US" sz="1050" spc="-1" strike="noStrike">
                <a:solidFill>
                  <a:srgbClr val="475569"/>
                </a:solidFill>
                <a:latin typeface="Arial"/>
              </a:rPr>
              <a:t>Selection, fallback, routing, and ensembles must be explicit Solution Loops, not hidden edge behavior.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6" name=""/>
          <p:cNvSpPr txBox="1"/>
          <p:nvPr/>
        </p:nvSpPr>
        <p:spPr>
          <a:xfrm>
            <a:off x="10561320" y="6291000"/>
            <a:ext cx="1005840" cy="54900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r"/>
            <a:r>
              <a:rPr b="1" lang="en-US" sz="1050" spc="-1" strike="noStrike">
                <a:solidFill>
                  <a:srgbClr val="64748b"/>
                </a:solidFill>
                <a:latin typeface="Arial"/>
              </a:rPr>
              <a:t>LOOP ENGINE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7" name=""/>
          <p:cNvSpPr/>
          <p:nvPr/>
        </p:nvSpPr>
        <p:spPr>
          <a:xfrm>
            <a:off x="2395800" y="1691640"/>
            <a:ext cx="1901880" cy="548640"/>
          </a:xfrm>
          <a:prstGeom prst="roundRect">
            <a:avLst/>
          </a:prstGeom>
          <a:solidFill>
            <a:srgbClr val="dcfce7"/>
          </a:solidFill>
          <a:ln w="12960">
            <a:solidFill>
              <a:srgbClr val="15803d"/>
            </a:solidFill>
            <a:round/>
          </a:ln>
        </p:spPr>
        <p:txBody>
          <a:bodyPr lIns="96480" rIns="96480" tIns="51480" bIns="5148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8" name=""/>
          <p:cNvSpPr txBox="1"/>
          <p:nvPr/>
        </p:nvSpPr>
        <p:spPr>
          <a:xfrm>
            <a:off x="2441520" y="1719000"/>
            <a:ext cx="181044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1600" spc="-1" strike="noStrike">
                <a:solidFill>
                  <a:srgbClr val="15803d"/>
                </a:solidFill>
                <a:latin typeface="Arial"/>
              </a:rPr>
              <a:t>Capture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9" name=""/>
          <p:cNvSpPr/>
          <p:nvPr/>
        </p:nvSpPr>
        <p:spPr>
          <a:xfrm>
            <a:off x="4297680" y="1691640"/>
            <a:ext cx="1901880" cy="548640"/>
          </a:xfrm>
          <a:prstGeom prst="roundRect">
            <a:avLst/>
          </a:prstGeom>
          <a:solidFill>
            <a:srgbClr val="dcfce7"/>
          </a:solidFill>
          <a:ln w="12960">
            <a:solidFill>
              <a:srgbClr val="15803d"/>
            </a:solidFill>
            <a:round/>
          </a:ln>
        </p:spPr>
        <p:txBody>
          <a:bodyPr lIns="96480" rIns="96480" tIns="51480" bIns="5148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0" name=""/>
          <p:cNvSpPr txBox="1"/>
          <p:nvPr/>
        </p:nvSpPr>
        <p:spPr>
          <a:xfrm>
            <a:off x="4343400" y="1719000"/>
            <a:ext cx="181044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1600" spc="-1" strike="noStrike">
                <a:solidFill>
                  <a:srgbClr val="15803d"/>
                </a:solidFill>
                <a:latin typeface="Arial"/>
              </a:rPr>
              <a:t>Extract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1" name=""/>
          <p:cNvSpPr/>
          <p:nvPr/>
        </p:nvSpPr>
        <p:spPr>
          <a:xfrm>
            <a:off x="6199560" y="1691640"/>
            <a:ext cx="1901880" cy="548640"/>
          </a:xfrm>
          <a:prstGeom prst="roundRect">
            <a:avLst/>
          </a:prstGeom>
          <a:solidFill>
            <a:srgbClr val="dcfce7"/>
          </a:solidFill>
          <a:ln w="12960">
            <a:solidFill>
              <a:srgbClr val="15803d"/>
            </a:solidFill>
            <a:round/>
          </a:ln>
        </p:spPr>
        <p:txBody>
          <a:bodyPr lIns="96480" rIns="96480" tIns="51480" bIns="5148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2" name=""/>
          <p:cNvSpPr txBox="1"/>
          <p:nvPr/>
        </p:nvSpPr>
        <p:spPr>
          <a:xfrm>
            <a:off x="6245280" y="1719000"/>
            <a:ext cx="181044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1600" spc="-1" strike="noStrike">
                <a:solidFill>
                  <a:srgbClr val="15803d"/>
                </a:solidFill>
                <a:latin typeface="Arial"/>
              </a:rPr>
              <a:t>Normalize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3" name=""/>
          <p:cNvSpPr/>
          <p:nvPr/>
        </p:nvSpPr>
        <p:spPr>
          <a:xfrm>
            <a:off x="8101440" y="1691640"/>
            <a:ext cx="1901880" cy="548640"/>
          </a:xfrm>
          <a:prstGeom prst="roundRect">
            <a:avLst/>
          </a:prstGeom>
          <a:solidFill>
            <a:srgbClr val="dcfce7"/>
          </a:solidFill>
          <a:ln w="12960">
            <a:solidFill>
              <a:srgbClr val="15803d"/>
            </a:solidFill>
            <a:round/>
          </a:ln>
        </p:spPr>
        <p:txBody>
          <a:bodyPr lIns="96480" rIns="96480" tIns="51480" bIns="5148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4" name=""/>
          <p:cNvSpPr txBox="1"/>
          <p:nvPr/>
        </p:nvSpPr>
        <p:spPr>
          <a:xfrm>
            <a:off x="8147160" y="1719000"/>
            <a:ext cx="181044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1600" spc="-1" strike="noStrike">
                <a:solidFill>
                  <a:srgbClr val="15803d"/>
                </a:solidFill>
                <a:latin typeface="Arial"/>
              </a:rPr>
              <a:t>Model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5" name=""/>
          <p:cNvSpPr/>
          <p:nvPr/>
        </p:nvSpPr>
        <p:spPr>
          <a:xfrm>
            <a:off x="10003680" y="1691640"/>
            <a:ext cx="1901880" cy="548640"/>
          </a:xfrm>
          <a:prstGeom prst="roundRect">
            <a:avLst/>
          </a:prstGeom>
          <a:solidFill>
            <a:srgbClr val="dcfce7"/>
          </a:solidFill>
          <a:ln w="12960">
            <a:solidFill>
              <a:srgbClr val="15803d"/>
            </a:solidFill>
            <a:round/>
          </a:ln>
        </p:spPr>
        <p:txBody>
          <a:bodyPr lIns="96480" rIns="96480" tIns="51480" bIns="5148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6" name=""/>
          <p:cNvSpPr txBox="1"/>
          <p:nvPr/>
        </p:nvSpPr>
        <p:spPr>
          <a:xfrm>
            <a:off x="10049400" y="1719000"/>
            <a:ext cx="181044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1600" spc="-1" strike="noStrike">
                <a:solidFill>
                  <a:srgbClr val="15803d"/>
                </a:solidFill>
                <a:latin typeface="Arial"/>
              </a:rPr>
              <a:t>Verify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7" name=""/>
          <p:cNvSpPr/>
          <p:nvPr/>
        </p:nvSpPr>
        <p:spPr>
          <a:xfrm>
            <a:off x="1298520" y="2240280"/>
            <a:ext cx="1097280" cy="951120"/>
          </a:xfrm>
          <a:prstGeom prst="roundRect">
            <a:avLst/>
          </a:prstGeom>
          <a:solidFill>
            <a:srgbClr val="f1f5f9"/>
          </a:solidFill>
          <a:ln w="12960">
            <a:solidFill>
              <a:srgbClr val="64748b"/>
            </a:solidFill>
            <a:round/>
          </a:ln>
        </p:spPr>
        <p:txBody>
          <a:bodyPr lIns="96480" rIns="96480" tIns="51480" bIns="5148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8" name=""/>
          <p:cNvSpPr txBox="1"/>
          <p:nvPr/>
        </p:nvSpPr>
        <p:spPr>
          <a:xfrm>
            <a:off x="1344240" y="2267640"/>
            <a:ext cx="100584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1600" spc="-1" strike="noStrike">
                <a:solidFill>
                  <a:srgbClr val="0f172a"/>
                </a:solidFill>
                <a:latin typeface="Arial"/>
              </a:rPr>
              <a:t>Route A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9" name=""/>
          <p:cNvSpPr/>
          <p:nvPr/>
        </p:nvSpPr>
        <p:spPr>
          <a:xfrm>
            <a:off x="2395800" y="2240280"/>
            <a:ext cx="1901880" cy="951120"/>
          </a:xfrm>
          <a:prstGeom prst="roundRect">
            <a:avLst/>
          </a:prstGeom>
          <a:solidFill>
            <a:srgbClr val="ffffff"/>
          </a:solidFill>
          <a:ln w="12960">
            <a:solidFill>
              <a:srgbClr val="cbd5e1"/>
            </a:solidFill>
            <a:round/>
          </a:ln>
        </p:spPr>
        <p:txBody>
          <a:bodyPr lIns="96480" rIns="96480" tIns="51480" bIns="5148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0" name=""/>
          <p:cNvSpPr txBox="1"/>
          <p:nvPr/>
        </p:nvSpPr>
        <p:spPr>
          <a:xfrm>
            <a:off x="2441520" y="2267640"/>
            <a:ext cx="181044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0" lang="en-US" sz="1600" spc="-1" strike="noStrike">
                <a:solidFill>
                  <a:srgbClr val="0f172a"/>
                </a:solidFill>
                <a:latin typeface="Arial"/>
              </a:rPr>
              <a:t>browser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1" name=""/>
          <p:cNvSpPr/>
          <p:nvPr/>
        </p:nvSpPr>
        <p:spPr>
          <a:xfrm>
            <a:off x="4297680" y="2240280"/>
            <a:ext cx="1901880" cy="951120"/>
          </a:xfrm>
          <a:prstGeom prst="roundRect">
            <a:avLst/>
          </a:prstGeom>
          <a:solidFill>
            <a:srgbClr val="ffffff"/>
          </a:solidFill>
          <a:ln w="12960">
            <a:solidFill>
              <a:srgbClr val="cbd5e1"/>
            </a:solidFill>
            <a:round/>
          </a:ln>
        </p:spPr>
        <p:txBody>
          <a:bodyPr lIns="96480" rIns="96480" tIns="51480" bIns="5148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2" name=""/>
          <p:cNvSpPr txBox="1"/>
          <p:nvPr/>
        </p:nvSpPr>
        <p:spPr>
          <a:xfrm>
            <a:off x="4343400" y="2267640"/>
            <a:ext cx="181044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0" lang="en-US" sz="1600" spc="-1" strike="noStrike">
                <a:solidFill>
                  <a:srgbClr val="0f172a"/>
                </a:solidFill>
                <a:latin typeface="Arial"/>
              </a:rPr>
              <a:t>table parser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3" name=""/>
          <p:cNvSpPr/>
          <p:nvPr/>
        </p:nvSpPr>
        <p:spPr>
          <a:xfrm>
            <a:off x="6199560" y="2240280"/>
            <a:ext cx="1901880" cy="951120"/>
          </a:xfrm>
          <a:prstGeom prst="roundRect">
            <a:avLst/>
          </a:prstGeom>
          <a:solidFill>
            <a:srgbClr val="ffffff"/>
          </a:solidFill>
          <a:ln w="12960">
            <a:solidFill>
              <a:srgbClr val="cbd5e1"/>
            </a:solidFill>
            <a:round/>
          </a:ln>
        </p:spPr>
        <p:txBody>
          <a:bodyPr lIns="96480" rIns="96480" tIns="51480" bIns="5148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4" name=""/>
          <p:cNvSpPr txBox="1"/>
          <p:nvPr/>
        </p:nvSpPr>
        <p:spPr>
          <a:xfrm>
            <a:off x="6245280" y="2267640"/>
            <a:ext cx="181044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0" lang="en-US" sz="1600" spc="-1" strike="noStrike">
                <a:solidFill>
                  <a:srgbClr val="0f172a"/>
                </a:solidFill>
                <a:latin typeface="Arial"/>
              </a:rPr>
              <a:t>schema map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5" name=""/>
          <p:cNvSpPr/>
          <p:nvPr/>
        </p:nvSpPr>
        <p:spPr>
          <a:xfrm>
            <a:off x="8101440" y="2240280"/>
            <a:ext cx="1901880" cy="951120"/>
          </a:xfrm>
          <a:prstGeom prst="roundRect">
            <a:avLst/>
          </a:prstGeom>
          <a:solidFill>
            <a:srgbClr val="ffffff"/>
          </a:solidFill>
          <a:ln w="12960">
            <a:solidFill>
              <a:srgbClr val="cbd5e1"/>
            </a:solidFill>
            <a:round/>
          </a:ln>
        </p:spPr>
        <p:txBody>
          <a:bodyPr lIns="96480" rIns="96480" tIns="51480" bIns="5148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6" name=""/>
          <p:cNvSpPr txBox="1"/>
          <p:nvPr/>
        </p:nvSpPr>
        <p:spPr>
          <a:xfrm>
            <a:off x="8147160" y="2267640"/>
            <a:ext cx="181044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0" lang="en-US" sz="1600" spc="-1" strike="noStrike">
                <a:solidFill>
                  <a:srgbClr val="0f172a"/>
                </a:solidFill>
                <a:latin typeface="Arial"/>
              </a:rPr>
              <a:t>boosted trees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7" name=""/>
          <p:cNvSpPr/>
          <p:nvPr/>
        </p:nvSpPr>
        <p:spPr>
          <a:xfrm>
            <a:off x="10003680" y="2240280"/>
            <a:ext cx="1901880" cy="951120"/>
          </a:xfrm>
          <a:prstGeom prst="roundRect">
            <a:avLst/>
          </a:prstGeom>
          <a:solidFill>
            <a:srgbClr val="ffffff"/>
          </a:solidFill>
          <a:ln w="12960">
            <a:solidFill>
              <a:srgbClr val="cbd5e1"/>
            </a:solidFill>
            <a:round/>
          </a:ln>
        </p:spPr>
        <p:txBody>
          <a:bodyPr lIns="96480" rIns="96480" tIns="51480" bIns="5148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8" name=""/>
          <p:cNvSpPr txBox="1"/>
          <p:nvPr/>
        </p:nvSpPr>
        <p:spPr>
          <a:xfrm>
            <a:off x="10049400" y="2267640"/>
            <a:ext cx="181044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0" lang="en-US" sz="1600" spc="-1" strike="noStrike">
                <a:solidFill>
                  <a:srgbClr val="0f172a"/>
                </a:solidFill>
                <a:latin typeface="Arial"/>
              </a:rPr>
              <a:t>holdout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9" name=""/>
          <p:cNvSpPr/>
          <p:nvPr/>
        </p:nvSpPr>
        <p:spPr>
          <a:xfrm>
            <a:off x="1298520" y="3191400"/>
            <a:ext cx="1097280" cy="951120"/>
          </a:xfrm>
          <a:prstGeom prst="roundRect">
            <a:avLst/>
          </a:prstGeom>
          <a:solidFill>
            <a:srgbClr val="f1f5f9"/>
          </a:solidFill>
          <a:ln w="12960">
            <a:solidFill>
              <a:srgbClr val="64748b"/>
            </a:solidFill>
            <a:round/>
          </a:ln>
        </p:spPr>
        <p:txBody>
          <a:bodyPr lIns="96480" rIns="96480" tIns="51480" bIns="5148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0" name=""/>
          <p:cNvSpPr txBox="1"/>
          <p:nvPr/>
        </p:nvSpPr>
        <p:spPr>
          <a:xfrm>
            <a:off x="1344240" y="3218760"/>
            <a:ext cx="100584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1600" spc="-1" strike="noStrike">
                <a:solidFill>
                  <a:srgbClr val="0f172a"/>
                </a:solidFill>
                <a:latin typeface="Arial"/>
              </a:rPr>
              <a:t>Route B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1" name=""/>
          <p:cNvSpPr/>
          <p:nvPr/>
        </p:nvSpPr>
        <p:spPr>
          <a:xfrm>
            <a:off x="2395800" y="3191400"/>
            <a:ext cx="1901880" cy="951120"/>
          </a:xfrm>
          <a:prstGeom prst="roundRect">
            <a:avLst/>
          </a:prstGeom>
          <a:solidFill>
            <a:srgbClr val="dcfce7"/>
          </a:solidFill>
          <a:ln w="12960">
            <a:solidFill>
              <a:srgbClr val="cbd5e1"/>
            </a:solidFill>
            <a:round/>
          </a:ln>
        </p:spPr>
        <p:txBody>
          <a:bodyPr lIns="96480" rIns="96480" tIns="51480" bIns="5148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2" name=""/>
          <p:cNvSpPr txBox="1"/>
          <p:nvPr/>
        </p:nvSpPr>
        <p:spPr>
          <a:xfrm>
            <a:off x="2441520" y="3218760"/>
            <a:ext cx="181044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0" lang="en-US" sz="1600" spc="-1" strike="noStrike">
                <a:solidFill>
                  <a:srgbClr val="0f172a"/>
                </a:solidFill>
                <a:latin typeface="Arial"/>
              </a:rPr>
              <a:t>HTTP client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3" name=""/>
          <p:cNvSpPr/>
          <p:nvPr/>
        </p:nvSpPr>
        <p:spPr>
          <a:xfrm>
            <a:off x="4297680" y="3191400"/>
            <a:ext cx="1901880" cy="951120"/>
          </a:xfrm>
          <a:prstGeom prst="roundRect">
            <a:avLst/>
          </a:prstGeom>
          <a:solidFill>
            <a:srgbClr val="dcfce7"/>
          </a:solidFill>
          <a:ln w="12960">
            <a:solidFill>
              <a:srgbClr val="cbd5e1"/>
            </a:solidFill>
            <a:round/>
          </a:ln>
        </p:spPr>
        <p:txBody>
          <a:bodyPr lIns="96480" rIns="96480" tIns="51480" bIns="5148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4" name=""/>
          <p:cNvSpPr txBox="1"/>
          <p:nvPr/>
        </p:nvSpPr>
        <p:spPr>
          <a:xfrm>
            <a:off x="4343400" y="3218760"/>
            <a:ext cx="181044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0" lang="en-US" sz="1600" spc="-1" strike="noStrike">
                <a:solidFill>
                  <a:srgbClr val="0f172a"/>
                </a:solidFill>
                <a:latin typeface="Arial"/>
              </a:rPr>
              <a:t>OCR parser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5" name=""/>
          <p:cNvSpPr/>
          <p:nvPr/>
        </p:nvSpPr>
        <p:spPr>
          <a:xfrm>
            <a:off x="6199560" y="3191400"/>
            <a:ext cx="1901880" cy="951120"/>
          </a:xfrm>
          <a:prstGeom prst="roundRect">
            <a:avLst/>
          </a:prstGeom>
          <a:solidFill>
            <a:srgbClr val="dcfce7"/>
          </a:solidFill>
          <a:ln w="12960">
            <a:solidFill>
              <a:srgbClr val="cbd5e1"/>
            </a:solidFill>
            <a:round/>
          </a:ln>
        </p:spPr>
        <p:txBody>
          <a:bodyPr lIns="96480" rIns="96480" tIns="51480" bIns="5148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6" name=""/>
          <p:cNvSpPr txBox="1"/>
          <p:nvPr/>
        </p:nvSpPr>
        <p:spPr>
          <a:xfrm>
            <a:off x="6245280" y="3218760"/>
            <a:ext cx="181044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0" lang="en-US" sz="1600" spc="-1" strike="noStrike">
                <a:solidFill>
                  <a:srgbClr val="0f172a"/>
                </a:solidFill>
                <a:latin typeface="Arial"/>
              </a:rPr>
              <a:t>rule map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7" name=""/>
          <p:cNvSpPr/>
          <p:nvPr/>
        </p:nvSpPr>
        <p:spPr>
          <a:xfrm>
            <a:off x="8101440" y="3191400"/>
            <a:ext cx="1901880" cy="951120"/>
          </a:xfrm>
          <a:prstGeom prst="roundRect">
            <a:avLst/>
          </a:prstGeom>
          <a:solidFill>
            <a:srgbClr val="dcfce7"/>
          </a:solidFill>
          <a:ln w="12960">
            <a:solidFill>
              <a:srgbClr val="cbd5e1"/>
            </a:solidFill>
            <a:round/>
          </a:ln>
        </p:spPr>
        <p:txBody>
          <a:bodyPr lIns="96480" rIns="96480" tIns="51480" bIns="5148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8" name=""/>
          <p:cNvSpPr txBox="1"/>
          <p:nvPr/>
        </p:nvSpPr>
        <p:spPr>
          <a:xfrm>
            <a:off x="8147160" y="3218760"/>
            <a:ext cx="181044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0" lang="en-US" sz="1600" spc="-1" strike="noStrike">
                <a:solidFill>
                  <a:srgbClr val="0f172a"/>
                </a:solidFill>
                <a:latin typeface="Arial"/>
              </a:rPr>
              <a:t>linear model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9" name=""/>
          <p:cNvSpPr/>
          <p:nvPr/>
        </p:nvSpPr>
        <p:spPr>
          <a:xfrm>
            <a:off x="10003680" y="3191400"/>
            <a:ext cx="1901880" cy="951120"/>
          </a:xfrm>
          <a:prstGeom prst="roundRect">
            <a:avLst/>
          </a:prstGeom>
          <a:solidFill>
            <a:srgbClr val="dcfce7"/>
          </a:solidFill>
          <a:ln w="12960">
            <a:solidFill>
              <a:srgbClr val="cbd5e1"/>
            </a:solidFill>
            <a:round/>
          </a:ln>
        </p:spPr>
        <p:txBody>
          <a:bodyPr lIns="96480" rIns="96480" tIns="51480" bIns="5148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0" name=""/>
          <p:cNvSpPr txBox="1"/>
          <p:nvPr/>
        </p:nvSpPr>
        <p:spPr>
          <a:xfrm>
            <a:off x="10049400" y="3218760"/>
            <a:ext cx="181044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0" lang="en-US" sz="1600" spc="-1" strike="noStrike">
                <a:solidFill>
                  <a:srgbClr val="0f172a"/>
                </a:solidFill>
                <a:latin typeface="Arial"/>
              </a:rPr>
              <a:t>holdout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1" name=""/>
          <p:cNvSpPr/>
          <p:nvPr/>
        </p:nvSpPr>
        <p:spPr>
          <a:xfrm>
            <a:off x="1298520" y="4142160"/>
            <a:ext cx="1097280" cy="951120"/>
          </a:xfrm>
          <a:prstGeom prst="roundRect">
            <a:avLst/>
          </a:prstGeom>
          <a:solidFill>
            <a:srgbClr val="f1f5f9"/>
          </a:solidFill>
          <a:ln w="12960">
            <a:solidFill>
              <a:srgbClr val="64748b"/>
            </a:solidFill>
            <a:round/>
          </a:ln>
        </p:spPr>
        <p:txBody>
          <a:bodyPr lIns="96480" rIns="96480" tIns="51480" bIns="5148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2" name=""/>
          <p:cNvSpPr txBox="1"/>
          <p:nvPr/>
        </p:nvSpPr>
        <p:spPr>
          <a:xfrm>
            <a:off x="1344240" y="4169520"/>
            <a:ext cx="100584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1600" spc="-1" strike="noStrike">
                <a:solidFill>
                  <a:srgbClr val="0f172a"/>
                </a:solidFill>
                <a:latin typeface="Arial"/>
              </a:rPr>
              <a:t>Fallback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3" name=""/>
          <p:cNvSpPr/>
          <p:nvPr/>
        </p:nvSpPr>
        <p:spPr>
          <a:xfrm>
            <a:off x="2395800" y="4142160"/>
            <a:ext cx="1901880" cy="951120"/>
          </a:xfrm>
          <a:prstGeom prst="roundRect">
            <a:avLst/>
          </a:prstGeom>
          <a:solidFill>
            <a:srgbClr val="ffffff"/>
          </a:solidFill>
          <a:ln w="12960">
            <a:solidFill>
              <a:srgbClr val="cbd5e1"/>
            </a:solidFill>
            <a:round/>
          </a:ln>
        </p:spPr>
        <p:txBody>
          <a:bodyPr lIns="96480" rIns="96480" tIns="51480" bIns="5148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4" name=""/>
          <p:cNvSpPr txBox="1"/>
          <p:nvPr/>
        </p:nvSpPr>
        <p:spPr>
          <a:xfrm>
            <a:off x="2441520" y="4169520"/>
            <a:ext cx="181044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0" lang="en-US" sz="1600" spc="-1" strike="noStrike">
                <a:solidFill>
                  <a:srgbClr val="0f172a"/>
                </a:solidFill>
                <a:latin typeface="Arial"/>
              </a:rPr>
              <a:t>saved files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5" name=""/>
          <p:cNvSpPr/>
          <p:nvPr/>
        </p:nvSpPr>
        <p:spPr>
          <a:xfrm>
            <a:off x="4297680" y="4142160"/>
            <a:ext cx="1901880" cy="951120"/>
          </a:xfrm>
          <a:prstGeom prst="roundRect">
            <a:avLst/>
          </a:prstGeom>
          <a:solidFill>
            <a:srgbClr val="ffffff"/>
          </a:solidFill>
          <a:ln w="12960">
            <a:solidFill>
              <a:srgbClr val="cbd5e1"/>
            </a:solidFill>
            <a:round/>
          </a:ln>
        </p:spPr>
        <p:txBody>
          <a:bodyPr lIns="96480" rIns="96480" tIns="51480" bIns="5148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6" name=""/>
          <p:cNvSpPr txBox="1"/>
          <p:nvPr/>
        </p:nvSpPr>
        <p:spPr>
          <a:xfrm>
            <a:off x="4343400" y="4169520"/>
            <a:ext cx="181044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0" lang="en-US" sz="1600" spc="-1" strike="noStrike">
                <a:solidFill>
                  <a:srgbClr val="0f172a"/>
                </a:solidFill>
                <a:latin typeface="Arial"/>
              </a:rPr>
              <a:t>manual review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7" name=""/>
          <p:cNvSpPr/>
          <p:nvPr/>
        </p:nvSpPr>
        <p:spPr>
          <a:xfrm>
            <a:off x="6199560" y="4142160"/>
            <a:ext cx="1901880" cy="951120"/>
          </a:xfrm>
          <a:prstGeom prst="roundRect">
            <a:avLst/>
          </a:prstGeom>
          <a:solidFill>
            <a:srgbClr val="ffffff"/>
          </a:solidFill>
          <a:ln w="12960">
            <a:solidFill>
              <a:srgbClr val="cbd5e1"/>
            </a:solidFill>
            <a:round/>
          </a:ln>
        </p:spPr>
        <p:txBody>
          <a:bodyPr lIns="96480" rIns="96480" tIns="51480" bIns="5148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8" name=""/>
          <p:cNvSpPr txBox="1"/>
          <p:nvPr/>
        </p:nvSpPr>
        <p:spPr>
          <a:xfrm>
            <a:off x="6245280" y="4169520"/>
            <a:ext cx="181044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0" lang="en-US" sz="1600" spc="-1" strike="noStrike">
                <a:solidFill>
                  <a:srgbClr val="0f172a"/>
                </a:solidFill>
                <a:latin typeface="Arial"/>
              </a:rPr>
              <a:t>repair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9" name=""/>
          <p:cNvSpPr/>
          <p:nvPr/>
        </p:nvSpPr>
        <p:spPr>
          <a:xfrm>
            <a:off x="8101440" y="4142160"/>
            <a:ext cx="1901880" cy="951120"/>
          </a:xfrm>
          <a:prstGeom prst="roundRect">
            <a:avLst/>
          </a:prstGeom>
          <a:solidFill>
            <a:srgbClr val="ffffff"/>
          </a:solidFill>
          <a:ln w="12960">
            <a:solidFill>
              <a:srgbClr val="cbd5e1"/>
            </a:solidFill>
            <a:round/>
          </a:ln>
        </p:spPr>
        <p:txBody>
          <a:bodyPr lIns="96480" rIns="96480" tIns="51480" bIns="5148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0" name=""/>
          <p:cNvSpPr txBox="1"/>
          <p:nvPr/>
        </p:nvSpPr>
        <p:spPr>
          <a:xfrm>
            <a:off x="8147160" y="4169520"/>
            <a:ext cx="181044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0" lang="en-US" sz="1600" spc="-1" strike="noStrike">
                <a:solidFill>
                  <a:srgbClr val="0f172a"/>
                </a:solidFill>
                <a:latin typeface="Arial"/>
              </a:rPr>
              <a:t>baseline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1" name=""/>
          <p:cNvSpPr/>
          <p:nvPr/>
        </p:nvSpPr>
        <p:spPr>
          <a:xfrm>
            <a:off x="10003680" y="4142160"/>
            <a:ext cx="1901880" cy="951120"/>
          </a:xfrm>
          <a:prstGeom prst="roundRect">
            <a:avLst/>
          </a:prstGeom>
          <a:solidFill>
            <a:srgbClr val="ffffff"/>
          </a:solidFill>
          <a:ln w="12960">
            <a:solidFill>
              <a:srgbClr val="cbd5e1"/>
            </a:solidFill>
            <a:round/>
          </a:ln>
        </p:spPr>
        <p:txBody>
          <a:bodyPr lIns="96480" rIns="96480" tIns="51480" bIns="5148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2" name=""/>
          <p:cNvSpPr txBox="1"/>
          <p:nvPr/>
        </p:nvSpPr>
        <p:spPr>
          <a:xfrm>
            <a:off x="10049400" y="4169520"/>
            <a:ext cx="181044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0" lang="en-US" sz="1600" spc="-1" strike="noStrike">
                <a:solidFill>
                  <a:srgbClr val="0f172a"/>
                </a:solidFill>
                <a:latin typeface="Arial"/>
              </a:rPr>
              <a:t>contract check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3" name=""/>
          <p:cNvSpPr txBox="1"/>
          <p:nvPr/>
        </p:nvSpPr>
        <p:spPr>
          <a:xfrm>
            <a:off x="3529440" y="5248800"/>
            <a:ext cx="507492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1600" spc="-1" strike="noStrike">
                <a:solidFill>
                  <a:srgbClr val="15803d"/>
                </a:solidFill>
                <a:latin typeface="Arial"/>
              </a:rPr>
              <a:t>candidate   •   working   •   fallback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5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6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8fafc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7" name=""/>
          <p:cNvSpPr/>
          <p:nvPr/>
        </p:nvSpPr>
        <p:spPr>
          <a:xfrm>
            <a:off x="0" y="0"/>
            <a:ext cx="12192120" cy="73080"/>
          </a:xfrm>
          <a:prstGeom prst="rect">
            <a:avLst/>
          </a:prstGeom>
          <a:solidFill>
            <a:srgbClr val="2563eb"/>
          </a:solidFill>
          <a:ln w="0">
            <a:noFill/>
          </a:ln>
        </p:spPr>
        <p:txBody>
          <a:bodyPr lIns="90000" rIns="90000" tIns="28080" bIns="2808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8" name=""/>
          <p:cNvSpPr txBox="1"/>
          <p:nvPr/>
        </p:nvSpPr>
        <p:spPr>
          <a:xfrm>
            <a:off x="621720" y="210240"/>
            <a:ext cx="804672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1" lang="en-US" sz="1100" spc="-1" strike="noStrike">
                <a:solidFill>
                  <a:srgbClr val="2563eb"/>
                </a:solidFill>
                <a:latin typeface="Arial"/>
              </a:rPr>
              <a:t>ONE GRAPH AUTHORITY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9" name=""/>
          <p:cNvSpPr txBox="1"/>
          <p:nvPr/>
        </p:nvSpPr>
        <p:spPr>
          <a:xfrm>
            <a:off x="10698480" y="201240"/>
            <a:ext cx="86868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r"/>
            <a:r>
              <a:rPr b="1" lang="en-US" sz="1100" spc="-1" strike="noStrike">
                <a:solidFill>
                  <a:srgbClr val="475569"/>
                </a:solidFill>
                <a:latin typeface="Arial"/>
              </a:rPr>
              <a:t>20 / 26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0" name=""/>
          <p:cNvSpPr txBox="1"/>
          <p:nvPr/>
        </p:nvSpPr>
        <p:spPr>
          <a:xfrm>
            <a:off x="621720" y="438840"/>
            <a:ext cx="1024128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t">
            <a:noAutofit/>
          </a:bodyPr>
          <a:p>
            <a:r>
              <a:rPr b="1" lang="en-US" sz="2800" spc="-1" strike="noStrike">
                <a:solidFill>
                  <a:srgbClr val="0f172a"/>
                </a:solidFill>
                <a:latin typeface="Arial"/>
              </a:rPr>
              <a:t>Loops connect into one typed directed acyclic graph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1" name=""/>
          <p:cNvSpPr txBox="1"/>
          <p:nvPr/>
        </p:nvSpPr>
        <p:spPr>
          <a:xfrm>
            <a:off x="621720" y="969120"/>
            <a:ext cx="1097280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0" lang="en-US" sz="1700" spc="-1" strike="noStrike">
                <a:solidFill>
                  <a:srgbClr val="475569"/>
                </a:solidFill>
                <a:latin typeface="Arial"/>
              </a:rPr>
              <a:t>Repetition stays inside a Loop. Edges carry values and relationships, not hidden work.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2" name=""/>
          <p:cNvSpPr/>
          <p:nvPr/>
        </p:nvSpPr>
        <p:spPr>
          <a:xfrm>
            <a:off x="621720" y="5843160"/>
            <a:ext cx="10945440" cy="393120"/>
          </a:xfrm>
          <a:prstGeom prst="roundRect">
            <a:avLst/>
          </a:prstGeom>
          <a:solidFill>
            <a:srgbClr val="f1f5f9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3" name=""/>
          <p:cNvSpPr txBox="1"/>
          <p:nvPr/>
        </p:nvSpPr>
        <p:spPr>
          <a:xfrm>
            <a:off x="731520" y="5879520"/>
            <a:ext cx="1071684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0" lang="en-US" sz="1300" spc="-1" strike="noStrike">
                <a:solidFill>
                  <a:srgbClr val="475569"/>
                </a:solidFill>
                <a:latin typeface="Arial"/>
              </a:rPr>
              <a:t>Implemented. Every vertex resolves an exact versioned and digest-bound LoopDefinition.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4" name=""/>
          <p:cNvSpPr txBox="1"/>
          <p:nvPr/>
        </p:nvSpPr>
        <p:spPr>
          <a:xfrm>
            <a:off x="621720" y="6291000"/>
            <a:ext cx="9921240" cy="54900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0" lang="en-US" sz="1050" spc="-1" strike="noStrike">
                <a:solidFill>
                  <a:srgbClr val="475569"/>
                </a:solidFill>
                <a:latin typeface="Arial"/>
              </a:rPr>
              <a:t>Starting, Spawned by, Queried by, Retrieved by, and Connected from describe different relationships.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5" name=""/>
          <p:cNvSpPr txBox="1"/>
          <p:nvPr/>
        </p:nvSpPr>
        <p:spPr>
          <a:xfrm>
            <a:off x="10561320" y="6291000"/>
            <a:ext cx="1005840" cy="54900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r"/>
            <a:r>
              <a:rPr b="1" lang="en-US" sz="1050" spc="-1" strike="noStrike">
                <a:solidFill>
                  <a:srgbClr val="64748b"/>
                </a:solidFill>
                <a:latin typeface="Arial"/>
              </a:rPr>
              <a:t>LOOP ENGINE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6" name=""/>
          <p:cNvSpPr/>
          <p:nvPr/>
        </p:nvSpPr>
        <p:spPr>
          <a:xfrm flipV="1">
            <a:off x="2942280" y="2955240"/>
            <a:ext cx="1259280" cy="288000"/>
          </a:xfrm>
          <a:prstGeom prst="line">
            <a:avLst/>
          </a:prstGeom>
          <a:ln w="16200">
            <a:solidFill>
              <a:srgbClr val="64748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7920" rIns="97920" tIns="52920" bIns="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7" name=""/>
          <p:cNvSpPr/>
          <p:nvPr/>
        </p:nvSpPr>
        <p:spPr>
          <a:xfrm>
            <a:off x="2556720" y="2459160"/>
            <a:ext cx="1005840" cy="274320"/>
          </a:xfrm>
          <a:prstGeom prst="roundRect">
            <a:avLst/>
          </a:prstGeom>
          <a:solidFill>
            <a:srgbClr val="f8fafc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8" name=""/>
          <p:cNvSpPr txBox="1"/>
          <p:nvPr/>
        </p:nvSpPr>
        <p:spPr>
          <a:xfrm>
            <a:off x="2602440" y="2486520"/>
            <a:ext cx="914400" cy="54900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1600" spc="-1" strike="noStrike">
                <a:solidFill>
                  <a:srgbClr val="0f172a"/>
                </a:solidFill>
                <a:latin typeface="Arial"/>
              </a:rPr>
              <a:t>QUERIED_BY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9" name=""/>
          <p:cNvSpPr/>
          <p:nvPr/>
        </p:nvSpPr>
        <p:spPr>
          <a:xfrm>
            <a:off x="5225400" y="2955240"/>
            <a:ext cx="1153080" cy="0"/>
          </a:xfrm>
          <a:prstGeom prst="line">
            <a:avLst/>
          </a:prstGeom>
          <a:ln w="16200">
            <a:solidFill>
              <a:srgbClr val="64748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7920" rIns="97920" tIns="-52920" bIns="-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0" name=""/>
          <p:cNvSpPr/>
          <p:nvPr/>
        </p:nvSpPr>
        <p:spPr>
          <a:xfrm>
            <a:off x="4686480" y="2315160"/>
            <a:ext cx="1207080" cy="274320"/>
          </a:xfrm>
          <a:prstGeom prst="roundRect">
            <a:avLst/>
          </a:prstGeom>
          <a:solidFill>
            <a:srgbClr val="f8fafc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1" name=""/>
          <p:cNvSpPr txBox="1"/>
          <p:nvPr/>
        </p:nvSpPr>
        <p:spPr>
          <a:xfrm>
            <a:off x="4732200" y="2342520"/>
            <a:ext cx="1115640" cy="54900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1600" spc="-1" strike="noStrike">
                <a:solidFill>
                  <a:srgbClr val="0f172a"/>
                </a:solidFill>
                <a:latin typeface="Arial"/>
              </a:rPr>
              <a:t>RETRIEVED_BY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2" name=""/>
          <p:cNvSpPr/>
          <p:nvPr/>
        </p:nvSpPr>
        <p:spPr>
          <a:xfrm>
            <a:off x="2942280" y="3243240"/>
            <a:ext cx="1259280" cy="719640"/>
          </a:xfrm>
          <a:prstGeom prst="line">
            <a:avLst/>
          </a:prstGeom>
          <a:ln w="16200">
            <a:solidFill>
              <a:srgbClr val="64748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7920" rIns="97920" tIns="52920" bIns="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3" name=""/>
          <p:cNvSpPr/>
          <p:nvPr/>
        </p:nvSpPr>
        <p:spPr>
          <a:xfrm>
            <a:off x="2666520" y="2962800"/>
            <a:ext cx="786240" cy="274320"/>
          </a:xfrm>
          <a:prstGeom prst="roundRect">
            <a:avLst/>
          </a:prstGeom>
          <a:solidFill>
            <a:srgbClr val="f8fafc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4" name=""/>
          <p:cNvSpPr txBox="1"/>
          <p:nvPr/>
        </p:nvSpPr>
        <p:spPr>
          <a:xfrm>
            <a:off x="2712240" y="2990160"/>
            <a:ext cx="69480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1600" spc="-1" strike="noStrike">
                <a:solidFill>
                  <a:srgbClr val="0f172a"/>
                </a:solidFill>
                <a:latin typeface="Arial"/>
              </a:rPr>
              <a:t>builds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5" name=""/>
          <p:cNvSpPr/>
          <p:nvPr/>
        </p:nvSpPr>
        <p:spPr>
          <a:xfrm>
            <a:off x="5225400" y="3962880"/>
            <a:ext cx="1153080" cy="0"/>
          </a:xfrm>
          <a:prstGeom prst="line">
            <a:avLst/>
          </a:prstGeom>
          <a:ln w="16200">
            <a:solidFill>
              <a:srgbClr val="64748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7920" rIns="97920" tIns="-52920" bIns="-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6" name=""/>
          <p:cNvSpPr/>
          <p:nvPr/>
        </p:nvSpPr>
        <p:spPr>
          <a:xfrm>
            <a:off x="4586040" y="3322800"/>
            <a:ext cx="1408320" cy="274320"/>
          </a:xfrm>
          <a:prstGeom prst="roundRect">
            <a:avLst/>
          </a:prstGeom>
          <a:solidFill>
            <a:srgbClr val="f8fafc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7" name=""/>
          <p:cNvSpPr txBox="1"/>
          <p:nvPr/>
        </p:nvSpPr>
        <p:spPr>
          <a:xfrm>
            <a:off x="4631760" y="3350160"/>
            <a:ext cx="1316880" cy="54900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1600" spc="-1" strike="noStrike">
                <a:solidFill>
                  <a:srgbClr val="0f172a"/>
                </a:solidFill>
                <a:latin typeface="Arial"/>
              </a:rPr>
              <a:t>CONNECTED_FROM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8" name=""/>
          <p:cNvSpPr/>
          <p:nvPr/>
        </p:nvSpPr>
        <p:spPr>
          <a:xfrm>
            <a:off x="7402680" y="3962880"/>
            <a:ext cx="1153080" cy="0"/>
          </a:xfrm>
          <a:prstGeom prst="line">
            <a:avLst/>
          </a:prstGeom>
          <a:ln w="16200">
            <a:solidFill>
              <a:srgbClr val="64748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7920" rIns="97920" tIns="-52920" bIns="-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9" name=""/>
          <p:cNvSpPr/>
          <p:nvPr/>
        </p:nvSpPr>
        <p:spPr>
          <a:xfrm>
            <a:off x="6762960" y="3322800"/>
            <a:ext cx="1408320" cy="274320"/>
          </a:xfrm>
          <a:prstGeom prst="roundRect">
            <a:avLst/>
          </a:prstGeom>
          <a:solidFill>
            <a:srgbClr val="f8fafc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0" name=""/>
          <p:cNvSpPr txBox="1"/>
          <p:nvPr/>
        </p:nvSpPr>
        <p:spPr>
          <a:xfrm>
            <a:off x="6808680" y="3350160"/>
            <a:ext cx="1316880" cy="54900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1600" spc="-1" strike="noStrike">
                <a:solidFill>
                  <a:srgbClr val="0f172a"/>
                </a:solidFill>
                <a:latin typeface="Arial"/>
              </a:rPr>
              <a:t>CONNECTED_FROM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1" name=""/>
          <p:cNvSpPr/>
          <p:nvPr/>
        </p:nvSpPr>
        <p:spPr>
          <a:xfrm>
            <a:off x="1918080" y="2804040"/>
            <a:ext cx="1993320" cy="877680"/>
          </a:xfrm>
          <a:prstGeom prst="ellipse">
            <a:avLst/>
          </a:prstGeom>
          <a:solidFill>
            <a:srgbClr val="dbeafe"/>
          </a:solidFill>
          <a:ln w="21600">
            <a:solidFill>
              <a:srgbClr val="2563eb"/>
            </a:solidFill>
            <a:round/>
          </a:ln>
        </p:spPr>
        <p:txBody>
          <a:bodyPr lIns="100800" rIns="100800" tIns="55800" bIns="558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2" name=""/>
          <p:cNvSpPr txBox="1"/>
          <p:nvPr/>
        </p:nvSpPr>
        <p:spPr>
          <a:xfrm>
            <a:off x="2027880" y="2913840"/>
            <a:ext cx="1774080" cy="54900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1600" spc="-1" strike="noStrike">
                <a:solidFill>
                  <a:srgbClr val="0f172a"/>
                </a:solidFill>
                <a:latin typeface="Arial"/>
              </a:rPr>
              <a:t>Starting Practitioner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3" name=""/>
          <p:cNvSpPr/>
          <p:nvPr/>
        </p:nvSpPr>
        <p:spPr>
          <a:xfrm>
            <a:off x="4201560" y="2516400"/>
            <a:ext cx="1993320" cy="877680"/>
          </a:xfrm>
          <a:prstGeom prst="ellipse">
            <a:avLst/>
          </a:prstGeom>
          <a:solidFill>
            <a:srgbClr val="ede9fe"/>
          </a:solidFill>
          <a:ln w="21600">
            <a:solidFill>
              <a:srgbClr val="7c3aed"/>
            </a:solidFill>
            <a:round/>
          </a:ln>
        </p:spPr>
        <p:txBody>
          <a:bodyPr lIns="100800" rIns="100800" tIns="55800" bIns="558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4" name=""/>
          <p:cNvSpPr txBox="1"/>
          <p:nvPr/>
        </p:nvSpPr>
        <p:spPr>
          <a:xfrm>
            <a:off x="4311000" y="2626200"/>
            <a:ext cx="1774080" cy="54900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1600" spc="-1" strike="noStrike">
                <a:solidFill>
                  <a:srgbClr val="0f172a"/>
                </a:solidFill>
                <a:latin typeface="Arial"/>
              </a:rPr>
              <a:t>Intelligence query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5" name=""/>
          <p:cNvSpPr/>
          <p:nvPr/>
        </p:nvSpPr>
        <p:spPr>
          <a:xfrm>
            <a:off x="6378480" y="2516400"/>
            <a:ext cx="1993320" cy="877680"/>
          </a:xfrm>
          <a:prstGeom prst="ellipse">
            <a:avLst/>
          </a:prstGeom>
          <a:solidFill>
            <a:srgbClr val="ede9fe"/>
          </a:solidFill>
          <a:ln w="21600">
            <a:solidFill>
              <a:srgbClr val="7c3aed"/>
            </a:solidFill>
            <a:round/>
          </a:ln>
        </p:spPr>
        <p:txBody>
          <a:bodyPr lIns="100800" rIns="100800" tIns="55800" bIns="558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6" name=""/>
          <p:cNvSpPr txBox="1"/>
          <p:nvPr/>
        </p:nvSpPr>
        <p:spPr>
          <a:xfrm>
            <a:off x="6488280" y="2626200"/>
            <a:ext cx="1774080" cy="54900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1600" spc="-1" strike="noStrike">
                <a:solidFill>
                  <a:srgbClr val="0f172a"/>
                </a:solidFill>
                <a:latin typeface="Arial"/>
              </a:rPr>
              <a:t>Retrieved intelligence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7" name=""/>
          <p:cNvSpPr/>
          <p:nvPr/>
        </p:nvSpPr>
        <p:spPr>
          <a:xfrm>
            <a:off x="4201560" y="3523680"/>
            <a:ext cx="1993320" cy="877680"/>
          </a:xfrm>
          <a:prstGeom prst="ellipse">
            <a:avLst/>
          </a:prstGeom>
          <a:solidFill>
            <a:srgbClr val="dcfce7"/>
          </a:solidFill>
          <a:ln w="21600">
            <a:solidFill>
              <a:srgbClr val="15803d"/>
            </a:solidFill>
            <a:round/>
          </a:ln>
        </p:spPr>
        <p:txBody>
          <a:bodyPr lIns="100800" rIns="100800" tIns="55800" bIns="558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8" name=""/>
          <p:cNvSpPr txBox="1"/>
          <p:nvPr/>
        </p:nvSpPr>
        <p:spPr>
          <a:xfrm>
            <a:off x="4311000" y="3633480"/>
            <a:ext cx="177408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1600" spc="-1" strike="noStrike">
                <a:solidFill>
                  <a:srgbClr val="0f172a"/>
                </a:solidFill>
                <a:latin typeface="Arial"/>
              </a:rPr>
              <a:t>Starting Solution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9" name=""/>
          <p:cNvSpPr/>
          <p:nvPr/>
        </p:nvSpPr>
        <p:spPr>
          <a:xfrm>
            <a:off x="6378480" y="3523680"/>
            <a:ext cx="1993320" cy="877680"/>
          </a:xfrm>
          <a:prstGeom prst="ellipse">
            <a:avLst/>
          </a:prstGeom>
          <a:solidFill>
            <a:srgbClr val="dcfce7"/>
          </a:solidFill>
          <a:ln w="21600">
            <a:solidFill>
              <a:srgbClr val="15803d"/>
            </a:solidFill>
            <a:round/>
          </a:ln>
        </p:spPr>
        <p:txBody>
          <a:bodyPr lIns="100800" rIns="100800" tIns="55800" bIns="558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0" name=""/>
          <p:cNvSpPr txBox="1"/>
          <p:nvPr/>
        </p:nvSpPr>
        <p:spPr>
          <a:xfrm>
            <a:off x="6488280" y="3633480"/>
            <a:ext cx="1774080" cy="54900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1600" spc="-1" strike="noStrike">
                <a:solidFill>
                  <a:srgbClr val="0f172a"/>
                </a:solidFill>
                <a:latin typeface="Arial"/>
              </a:rPr>
              <a:t>Connected Solution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1" name=""/>
          <p:cNvSpPr/>
          <p:nvPr/>
        </p:nvSpPr>
        <p:spPr>
          <a:xfrm>
            <a:off x="8555760" y="3523680"/>
            <a:ext cx="1993320" cy="877680"/>
          </a:xfrm>
          <a:prstGeom prst="ellipse">
            <a:avLst/>
          </a:prstGeom>
          <a:solidFill>
            <a:srgbClr val="dcfce7"/>
          </a:solidFill>
          <a:ln w="21600">
            <a:solidFill>
              <a:srgbClr val="15803d"/>
            </a:solidFill>
            <a:round/>
          </a:ln>
        </p:spPr>
        <p:txBody>
          <a:bodyPr lIns="100800" rIns="100800" tIns="55800" bIns="558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2" name=""/>
          <p:cNvSpPr txBox="1"/>
          <p:nvPr/>
        </p:nvSpPr>
        <p:spPr>
          <a:xfrm>
            <a:off x="8665560" y="3633480"/>
            <a:ext cx="177408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1600" spc="-1" strike="noStrike">
                <a:solidFill>
                  <a:srgbClr val="0f172a"/>
                </a:solidFill>
                <a:latin typeface="Arial"/>
              </a:rPr>
              <a:t>Output formatter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4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5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8fafc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6" name=""/>
          <p:cNvSpPr/>
          <p:nvPr/>
        </p:nvSpPr>
        <p:spPr>
          <a:xfrm>
            <a:off x="0" y="0"/>
            <a:ext cx="12192120" cy="73080"/>
          </a:xfrm>
          <a:prstGeom prst="rect">
            <a:avLst/>
          </a:prstGeom>
          <a:solidFill>
            <a:srgbClr val="2563eb"/>
          </a:solidFill>
          <a:ln w="0">
            <a:noFill/>
          </a:ln>
        </p:spPr>
        <p:txBody>
          <a:bodyPr lIns="90000" rIns="90000" tIns="28080" bIns="2808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7" name=""/>
          <p:cNvSpPr txBox="1"/>
          <p:nvPr/>
        </p:nvSpPr>
        <p:spPr>
          <a:xfrm>
            <a:off x="621720" y="210240"/>
            <a:ext cx="804672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1" lang="en-US" sz="1100" spc="-1" strike="noStrike">
                <a:solidFill>
                  <a:srgbClr val="2563eb"/>
                </a:solidFill>
                <a:latin typeface="Arial"/>
              </a:rPr>
              <a:t>THREE SHARED GROUPS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8" name=""/>
          <p:cNvSpPr txBox="1"/>
          <p:nvPr/>
        </p:nvSpPr>
        <p:spPr>
          <a:xfrm>
            <a:off x="10698480" y="201240"/>
            <a:ext cx="86868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r"/>
            <a:r>
              <a:rPr b="1" lang="en-US" sz="1100" spc="-1" strike="noStrike">
                <a:solidFill>
                  <a:srgbClr val="475569"/>
                </a:solidFill>
                <a:latin typeface="Arial"/>
              </a:rPr>
              <a:t>21 / 26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9" name=""/>
          <p:cNvSpPr txBox="1"/>
          <p:nvPr/>
        </p:nvSpPr>
        <p:spPr>
          <a:xfrm>
            <a:off x="621720" y="438840"/>
            <a:ext cx="1024128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t">
            <a:noAutofit/>
          </a:bodyPr>
          <a:p>
            <a:r>
              <a:rPr b="1" lang="en-US" sz="3200" spc="-1" strike="noStrike">
                <a:solidFill>
                  <a:srgbClr val="0f172a"/>
                </a:solidFill>
                <a:latin typeface="Arial"/>
              </a:rPr>
              <a:t>Static Architecture has three public groups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0" name=""/>
          <p:cNvSpPr txBox="1"/>
          <p:nvPr/>
        </p:nvSpPr>
        <p:spPr>
          <a:xfrm>
            <a:off x="621720" y="969120"/>
            <a:ext cx="1097280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0" lang="en-US" sz="1700" spc="-1" strike="noStrike">
                <a:solidFill>
                  <a:srgbClr val="475569"/>
                </a:solidFill>
                <a:latin typeface="Arial"/>
              </a:rPr>
              <a:t>Every Loop can call these groups through typed, permission-limited service requests.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1" name=""/>
          <p:cNvSpPr/>
          <p:nvPr/>
        </p:nvSpPr>
        <p:spPr>
          <a:xfrm>
            <a:off x="621720" y="5843160"/>
            <a:ext cx="10945440" cy="393120"/>
          </a:xfrm>
          <a:prstGeom prst="roundRect">
            <a:avLst/>
          </a:prstGeom>
          <a:solidFill>
            <a:srgbClr val="f1f5f9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2" name=""/>
          <p:cNvSpPr txBox="1"/>
          <p:nvPr/>
        </p:nvSpPr>
        <p:spPr>
          <a:xfrm>
            <a:off x="731520" y="5879520"/>
            <a:ext cx="1071684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0" lang="en-US" sz="1300" spc="-1" strike="noStrike">
                <a:solidFill>
                  <a:srgbClr val="475569"/>
                </a:solidFill>
                <a:latin typeface="Arial"/>
              </a:rPr>
              <a:t>Other runtime mechanics stay internal and do not appear as peer architecture components.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3" name=""/>
          <p:cNvSpPr txBox="1"/>
          <p:nvPr/>
        </p:nvSpPr>
        <p:spPr>
          <a:xfrm>
            <a:off x="621720" y="6291000"/>
            <a:ext cx="992124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0" lang="en-US" sz="1050" spc="-1" strike="noStrike">
                <a:solidFill>
                  <a:srgbClr val="475569"/>
                </a:solidFill>
                <a:latin typeface="Arial"/>
              </a:rPr>
              <a:t>The groups provide reusable access. They are not additional operational nodes.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4" name=""/>
          <p:cNvSpPr txBox="1"/>
          <p:nvPr/>
        </p:nvSpPr>
        <p:spPr>
          <a:xfrm>
            <a:off x="10561320" y="6291000"/>
            <a:ext cx="1005840" cy="54900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r"/>
            <a:r>
              <a:rPr b="1" lang="en-US" sz="1050" spc="-1" strike="noStrike">
                <a:solidFill>
                  <a:srgbClr val="64748b"/>
                </a:solidFill>
                <a:latin typeface="Arial"/>
              </a:rPr>
              <a:t>LOOP ENGINE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5" name=""/>
          <p:cNvSpPr/>
          <p:nvPr/>
        </p:nvSpPr>
        <p:spPr>
          <a:xfrm flipH="1">
            <a:off x="2121480" y="3246120"/>
            <a:ext cx="3931920" cy="1124640"/>
          </a:xfrm>
          <a:prstGeom prst="line">
            <a:avLst/>
          </a:prstGeom>
          <a:ln w="1620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rIns="97920" tIns="52920" bIns="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6" name=""/>
          <p:cNvSpPr/>
          <p:nvPr/>
        </p:nvSpPr>
        <p:spPr>
          <a:xfrm flipH="1">
            <a:off x="5641920" y="3246120"/>
            <a:ext cx="411480" cy="1124640"/>
          </a:xfrm>
          <a:prstGeom prst="line">
            <a:avLst/>
          </a:prstGeom>
          <a:ln w="1620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rIns="97920" tIns="52920" bIns="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7" name=""/>
          <p:cNvSpPr/>
          <p:nvPr/>
        </p:nvSpPr>
        <p:spPr>
          <a:xfrm>
            <a:off x="6053400" y="3246120"/>
            <a:ext cx="3108960" cy="1124640"/>
          </a:xfrm>
          <a:prstGeom prst="line">
            <a:avLst/>
          </a:prstGeom>
          <a:ln w="1620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rIns="97920" tIns="52920" bIns="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8" name=""/>
          <p:cNvSpPr/>
          <p:nvPr/>
        </p:nvSpPr>
        <p:spPr>
          <a:xfrm>
            <a:off x="4690800" y="1874520"/>
            <a:ext cx="2724840" cy="1371600"/>
          </a:xfrm>
          <a:prstGeom prst="ellipse">
            <a:avLst/>
          </a:prstGeom>
          <a:solidFill>
            <a:srgbClr val="dbeafe"/>
          </a:solidFill>
          <a:ln w="21600">
            <a:solidFill>
              <a:srgbClr val="2563eb"/>
            </a:solidFill>
            <a:round/>
          </a:ln>
        </p:spPr>
        <p:txBody>
          <a:bodyPr lIns="100800" rIns="100800" tIns="55800" bIns="558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9" name=""/>
          <p:cNvSpPr txBox="1"/>
          <p:nvPr/>
        </p:nvSpPr>
        <p:spPr>
          <a:xfrm>
            <a:off x="4800600" y="1984320"/>
            <a:ext cx="250560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2000" spc="-1" strike="noStrike">
                <a:solidFill>
                  <a:srgbClr val="0f172a"/>
                </a:solidFill>
                <a:latin typeface="Arial"/>
              </a:rPr>
              <a:t>Any Loop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0" name=""/>
          <p:cNvSpPr/>
          <p:nvPr/>
        </p:nvSpPr>
        <p:spPr>
          <a:xfrm>
            <a:off x="749880" y="4370760"/>
            <a:ext cx="2743200" cy="841320"/>
          </a:xfrm>
          <a:prstGeom prst="roundRect">
            <a:avLst/>
          </a:prstGeom>
          <a:solidFill>
            <a:srgbClr val="f1f5f9"/>
          </a:solidFill>
          <a:ln w="12960">
            <a:solidFill>
              <a:srgbClr val="64748b"/>
            </a:solidFill>
            <a:round/>
          </a:ln>
        </p:spPr>
        <p:txBody>
          <a:bodyPr lIns="96480" rIns="96480" tIns="51480" bIns="5148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1" name=""/>
          <p:cNvSpPr txBox="1"/>
          <p:nvPr/>
        </p:nvSpPr>
        <p:spPr>
          <a:xfrm>
            <a:off x="795600" y="4398120"/>
            <a:ext cx="2651760" cy="54900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1700" spc="-1" strike="noStrike">
                <a:solidFill>
                  <a:srgbClr val="64748b"/>
                </a:solidFill>
                <a:latin typeface="Arial"/>
              </a:rPr>
              <a:t>Intelligence Search and Retrieval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2" name=""/>
          <p:cNvSpPr/>
          <p:nvPr/>
        </p:nvSpPr>
        <p:spPr>
          <a:xfrm>
            <a:off x="4270320" y="4370760"/>
            <a:ext cx="2743200" cy="841320"/>
          </a:xfrm>
          <a:prstGeom prst="roundRect">
            <a:avLst/>
          </a:prstGeom>
          <a:solidFill>
            <a:srgbClr val="f1f5f9"/>
          </a:solidFill>
          <a:ln w="12960">
            <a:solidFill>
              <a:srgbClr val="64748b"/>
            </a:solidFill>
            <a:round/>
          </a:ln>
        </p:spPr>
        <p:txBody>
          <a:bodyPr lIns="96480" rIns="96480" tIns="51480" bIns="5148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3" name=""/>
          <p:cNvSpPr txBox="1"/>
          <p:nvPr/>
        </p:nvSpPr>
        <p:spPr>
          <a:xfrm>
            <a:off x="4316040" y="4398120"/>
            <a:ext cx="265176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1700" spc="-1" strike="noStrike">
                <a:solidFill>
                  <a:srgbClr val="64748b"/>
                </a:solidFill>
                <a:latin typeface="Arial"/>
              </a:rPr>
              <a:t>Web Research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4" name=""/>
          <p:cNvSpPr/>
          <p:nvPr/>
        </p:nvSpPr>
        <p:spPr>
          <a:xfrm>
            <a:off x="7790760" y="4370760"/>
            <a:ext cx="2743200" cy="841320"/>
          </a:xfrm>
          <a:prstGeom prst="roundRect">
            <a:avLst/>
          </a:prstGeom>
          <a:solidFill>
            <a:srgbClr val="f1f5f9"/>
          </a:solidFill>
          <a:ln w="12960">
            <a:solidFill>
              <a:srgbClr val="64748b"/>
            </a:solidFill>
            <a:round/>
          </a:ln>
        </p:spPr>
        <p:txBody>
          <a:bodyPr lIns="96480" rIns="96480" tIns="51480" bIns="5148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5" name=""/>
          <p:cNvSpPr txBox="1"/>
          <p:nvPr/>
        </p:nvSpPr>
        <p:spPr>
          <a:xfrm>
            <a:off x="7836480" y="4398120"/>
            <a:ext cx="265176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1700" spc="-1" strike="noStrike">
                <a:solidFill>
                  <a:srgbClr val="64748b"/>
                </a:solidFill>
                <a:latin typeface="Arial"/>
              </a:rPr>
              <a:t>Custom Plugins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7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8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8fafc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9" name=""/>
          <p:cNvSpPr/>
          <p:nvPr/>
        </p:nvSpPr>
        <p:spPr>
          <a:xfrm>
            <a:off x="0" y="0"/>
            <a:ext cx="12192120" cy="73080"/>
          </a:xfrm>
          <a:prstGeom prst="rect">
            <a:avLst/>
          </a:prstGeom>
          <a:solidFill>
            <a:srgbClr val="2563eb"/>
          </a:solidFill>
          <a:ln w="0">
            <a:noFill/>
          </a:ln>
        </p:spPr>
        <p:txBody>
          <a:bodyPr lIns="90000" rIns="90000" tIns="28080" bIns="2808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0" name=""/>
          <p:cNvSpPr txBox="1"/>
          <p:nvPr/>
        </p:nvSpPr>
        <p:spPr>
          <a:xfrm>
            <a:off x="621720" y="210240"/>
            <a:ext cx="804672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1" lang="en-US" sz="1100" spc="-1" strike="noStrike">
                <a:solidFill>
                  <a:srgbClr val="2563eb"/>
                </a:solidFill>
                <a:latin typeface="Arial"/>
              </a:rPr>
              <a:t>WORKED TASK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1" name=""/>
          <p:cNvSpPr txBox="1"/>
          <p:nvPr/>
        </p:nvSpPr>
        <p:spPr>
          <a:xfrm>
            <a:off x="10698480" y="201240"/>
            <a:ext cx="86868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r"/>
            <a:r>
              <a:rPr b="1" lang="en-US" sz="1100" spc="-1" strike="noStrike">
                <a:solidFill>
                  <a:srgbClr val="475569"/>
                </a:solidFill>
                <a:latin typeface="Arial"/>
              </a:rPr>
              <a:t>22 / 26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2" name=""/>
          <p:cNvSpPr txBox="1"/>
          <p:nvPr/>
        </p:nvSpPr>
        <p:spPr>
          <a:xfrm>
            <a:off x="621720" y="438840"/>
            <a:ext cx="1024128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t">
            <a:noAutofit/>
          </a:bodyPr>
          <a:p>
            <a:r>
              <a:rPr b="1" lang="en-US" sz="3200" spc="-1" strike="noStrike">
                <a:solidFill>
                  <a:srgbClr val="0f172a"/>
                </a:solidFill>
                <a:latin typeface="Arial"/>
              </a:rPr>
              <a:t>From public websites to a tested model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3" name=""/>
          <p:cNvSpPr txBox="1"/>
          <p:nvPr/>
        </p:nvSpPr>
        <p:spPr>
          <a:xfrm>
            <a:off x="621720" y="969120"/>
            <a:ext cx="1097280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0" lang="en-US" sz="1700" spc="-1" strike="noStrike">
                <a:solidFill>
                  <a:srgbClr val="475569"/>
                </a:solidFill>
                <a:latin typeface="Arial"/>
              </a:rPr>
              <a:t>The task combines web research, PDF extraction, data engineering, model building, and verification.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4" name=""/>
          <p:cNvSpPr/>
          <p:nvPr/>
        </p:nvSpPr>
        <p:spPr>
          <a:xfrm>
            <a:off x="621720" y="5843160"/>
            <a:ext cx="10945440" cy="393120"/>
          </a:xfrm>
          <a:prstGeom prst="roundRect">
            <a:avLst/>
          </a:prstGeom>
          <a:solidFill>
            <a:srgbClr val="f1f5f9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5" name=""/>
          <p:cNvSpPr txBox="1"/>
          <p:nvPr/>
        </p:nvSpPr>
        <p:spPr>
          <a:xfrm>
            <a:off x="731520" y="5879520"/>
            <a:ext cx="1071684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0" lang="en-US" sz="1300" spc="-1" strike="noStrike">
                <a:solidFill>
                  <a:srgbClr val="475569"/>
                </a:solidFill>
                <a:latin typeface="Arial"/>
              </a:rPr>
              <a:t>This is the proposed first end-to-end proof task. It is not a completed benchmark claim.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6" name=""/>
          <p:cNvSpPr txBox="1"/>
          <p:nvPr/>
        </p:nvSpPr>
        <p:spPr>
          <a:xfrm>
            <a:off x="621720" y="6291000"/>
            <a:ext cx="992124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0" lang="en-US" sz="1050" spc="-1" strike="noStrike">
                <a:solidFill>
                  <a:srgbClr val="475569"/>
                </a:solidFill>
                <a:latin typeface="Arial"/>
              </a:rPr>
              <a:t>Every executable step is a Loop with its own typed ports, selected mode, conditions, and history.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7" name=""/>
          <p:cNvSpPr txBox="1"/>
          <p:nvPr/>
        </p:nvSpPr>
        <p:spPr>
          <a:xfrm>
            <a:off x="10561320" y="6291000"/>
            <a:ext cx="1005840" cy="54900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r"/>
            <a:r>
              <a:rPr b="1" lang="en-US" sz="1050" spc="-1" strike="noStrike">
                <a:solidFill>
                  <a:srgbClr val="64748b"/>
                </a:solidFill>
                <a:latin typeface="Arial"/>
              </a:rPr>
              <a:t>LOOP ENGINE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8" name=""/>
          <p:cNvSpPr/>
          <p:nvPr/>
        </p:nvSpPr>
        <p:spPr>
          <a:xfrm>
            <a:off x="2697480" y="2359080"/>
            <a:ext cx="749880" cy="0"/>
          </a:xfrm>
          <a:prstGeom prst="line">
            <a:avLst/>
          </a:prstGeom>
          <a:ln w="16200">
            <a:solidFill>
              <a:srgbClr val="64748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7920" rIns="97920" tIns="-52920" bIns="-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9" name=""/>
          <p:cNvSpPr/>
          <p:nvPr/>
        </p:nvSpPr>
        <p:spPr>
          <a:xfrm>
            <a:off x="5459040" y="2359080"/>
            <a:ext cx="749880" cy="0"/>
          </a:xfrm>
          <a:prstGeom prst="line">
            <a:avLst/>
          </a:prstGeom>
          <a:ln w="16200">
            <a:solidFill>
              <a:srgbClr val="64748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7920" rIns="97920" tIns="-52920" bIns="-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0" name=""/>
          <p:cNvSpPr/>
          <p:nvPr/>
        </p:nvSpPr>
        <p:spPr>
          <a:xfrm>
            <a:off x="8220600" y="2359080"/>
            <a:ext cx="749880" cy="0"/>
          </a:xfrm>
          <a:prstGeom prst="line">
            <a:avLst/>
          </a:prstGeom>
          <a:ln w="16200">
            <a:solidFill>
              <a:srgbClr val="64748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7920" rIns="97920" tIns="-52920" bIns="-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1" name=""/>
          <p:cNvSpPr/>
          <p:nvPr/>
        </p:nvSpPr>
        <p:spPr>
          <a:xfrm flipH="1">
            <a:off x="8970120" y="2359080"/>
            <a:ext cx="2011680" cy="2240280"/>
          </a:xfrm>
          <a:prstGeom prst="line">
            <a:avLst/>
          </a:prstGeom>
          <a:ln w="16200">
            <a:solidFill>
              <a:srgbClr val="64748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7920" rIns="97920" tIns="52920" bIns="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2" name=""/>
          <p:cNvSpPr/>
          <p:nvPr/>
        </p:nvSpPr>
        <p:spPr>
          <a:xfrm flipH="1">
            <a:off x="6208560" y="4599360"/>
            <a:ext cx="4773240" cy="0"/>
          </a:xfrm>
          <a:prstGeom prst="line">
            <a:avLst/>
          </a:prstGeom>
          <a:ln w="16200">
            <a:solidFill>
              <a:srgbClr val="64748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7920" rIns="97920" tIns="-52920" bIns="-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3" name=""/>
          <p:cNvSpPr/>
          <p:nvPr/>
        </p:nvSpPr>
        <p:spPr>
          <a:xfrm flipH="1">
            <a:off x="3447360" y="4599360"/>
            <a:ext cx="4773240" cy="0"/>
          </a:xfrm>
          <a:prstGeom prst="line">
            <a:avLst/>
          </a:prstGeom>
          <a:ln w="16200">
            <a:solidFill>
              <a:srgbClr val="64748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7920" rIns="97920" tIns="-52920" bIns="-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4" name=""/>
          <p:cNvSpPr/>
          <p:nvPr/>
        </p:nvSpPr>
        <p:spPr>
          <a:xfrm flipH="1">
            <a:off x="685800" y="4599360"/>
            <a:ext cx="4773240" cy="0"/>
          </a:xfrm>
          <a:prstGeom prst="line">
            <a:avLst/>
          </a:prstGeom>
          <a:ln w="16200">
            <a:solidFill>
              <a:srgbClr val="64748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7920" rIns="97920" tIns="-52920" bIns="-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5" name=""/>
          <p:cNvSpPr/>
          <p:nvPr/>
        </p:nvSpPr>
        <p:spPr>
          <a:xfrm>
            <a:off x="685800" y="1920240"/>
            <a:ext cx="2011680" cy="896040"/>
          </a:xfrm>
          <a:prstGeom prst="roundRect">
            <a:avLst/>
          </a:prstGeom>
          <a:solidFill>
            <a:srgbClr val="dbeafe"/>
          </a:solidFill>
          <a:ln w="14400">
            <a:solidFill>
              <a:srgbClr val="2563eb"/>
            </a:solidFill>
            <a:round/>
          </a:ln>
        </p:spPr>
        <p:txBody>
          <a:bodyPr lIns="97200" rIns="97200" tIns="52200" bIns="522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6" name=""/>
          <p:cNvSpPr txBox="1"/>
          <p:nvPr/>
        </p:nvSpPr>
        <p:spPr>
          <a:xfrm>
            <a:off x="777240" y="2011680"/>
            <a:ext cx="320040" cy="54900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1" lang="en-US" sz="1300" spc="-1" strike="noStrike">
                <a:solidFill>
                  <a:srgbClr val="2563eb"/>
                </a:solidFill>
                <a:latin typeface="Arial"/>
              </a:rPr>
              <a:t>01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7" name=""/>
          <p:cNvSpPr txBox="1"/>
          <p:nvPr/>
        </p:nvSpPr>
        <p:spPr>
          <a:xfrm>
            <a:off x="960120" y="2121480"/>
            <a:ext cx="1481400" cy="54900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1600" spc="-1" strike="noStrike">
                <a:solidFill>
                  <a:srgbClr val="0f172a"/>
                </a:solidFill>
                <a:latin typeface="Arial"/>
              </a:rPr>
              <a:t>Discover sites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8" name=""/>
          <p:cNvSpPr/>
          <p:nvPr/>
        </p:nvSpPr>
        <p:spPr>
          <a:xfrm>
            <a:off x="3447360" y="1920240"/>
            <a:ext cx="2011680" cy="896040"/>
          </a:xfrm>
          <a:prstGeom prst="roundRect">
            <a:avLst/>
          </a:prstGeom>
          <a:solidFill>
            <a:srgbClr val="dcfce7"/>
          </a:solidFill>
          <a:ln w="14400">
            <a:solidFill>
              <a:srgbClr val="15803d"/>
            </a:solidFill>
            <a:round/>
          </a:ln>
        </p:spPr>
        <p:txBody>
          <a:bodyPr lIns="97200" rIns="97200" tIns="52200" bIns="522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9" name=""/>
          <p:cNvSpPr txBox="1"/>
          <p:nvPr/>
        </p:nvSpPr>
        <p:spPr>
          <a:xfrm>
            <a:off x="3538800" y="2011680"/>
            <a:ext cx="320040" cy="54900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1" lang="en-US" sz="1300" spc="-1" strike="noStrike">
                <a:solidFill>
                  <a:srgbClr val="15803d"/>
                </a:solidFill>
                <a:latin typeface="Arial"/>
              </a:rPr>
              <a:t>02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0" name=""/>
          <p:cNvSpPr txBox="1"/>
          <p:nvPr/>
        </p:nvSpPr>
        <p:spPr>
          <a:xfrm>
            <a:off x="3721680" y="2121480"/>
            <a:ext cx="1481400" cy="54900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1600" spc="-1" strike="noStrike">
                <a:solidFill>
                  <a:srgbClr val="0f172a"/>
                </a:solidFill>
                <a:latin typeface="Arial"/>
              </a:rPr>
              <a:t>Download PDFs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1" name=""/>
          <p:cNvSpPr/>
          <p:nvPr/>
        </p:nvSpPr>
        <p:spPr>
          <a:xfrm>
            <a:off x="6208920" y="1920240"/>
            <a:ext cx="2011680" cy="896040"/>
          </a:xfrm>
          <a:prstGeom prst="roundRect">
            <a:avLst/>
          </a:prstGeom>
          <a:solidFill>
            <a:srgbClr val="dbeafe"/>
          </a:solidFill>
          <a:ln w="14400">
            <a:solidFill>
              <a:srgbClr val="2563eb"/>
            </a:solidFill>
            <a:round/>
          </a:ln>
        </p:spPr>
        <p:txBody>
          <a:bodyPr lIns="97200" rIns="97200" tIns="52200" bIns="522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2" name=""/>
          <p:cNvSpPr txBox="1"/>
          <p:nvPr/>
        </p:nvSpPr>
        <p:spPr>
          <a:xfrm>
            <a:off x="6300360" y="2011680"/>
            <a:ext cx="320040" cy="54900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1" lang="en-US" sz="1300" spc="-1" strike="noStrike">
                <a:solidFill>
                  <a:srgbClr val="2563eb"/>
                </a:solidFill>
                <a:latin typeface="Arial"/>
              </a:rPr>
              <a:t>03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3" name=""/>
          <p:cNvSpPr txBox="1"/>
          <p:nvPr/>
        </p:nvSpPr>
        <p:spPr>
          <a:xfrm>
            <a:off x="6483240" y="2121480"/>
            <a:ext cx="1481400" cy="54900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1600" spc="-1" strike="noStrike">
                <a:solidFill>
                  <a:srgbClr val="0f172a"/>
                </a:solidFill>
                <a:latin typeface="Arial"/>
              </a:rPr>
              <a:t>Inspect structure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4" name=""/>
          <p:cNvSpPr/>
          <p:nvPr/>
        </p:nvSpPr>
        <p:spPr>
          <a:xfrm>
            <a:off x="8970120" y="1920240"/>
            <a:ext cx="2011680" cy="896040"/>
          </a:xfrm>
          <a:prstGeom prst="roundRect">
            <a:avLst/>
          </a:prstGeom>
          <a:solidFill>
            <a:srgbClr val="dcfce7"/>
          </a:solidFill>
          <a:ln w="14400">
            <a:solidFill>
              <a:srgbClr val="15803d"/>
            </a:solidFill>
            <a:round/>
          </a:ln>
        </p:spPr>
        <p:txBody>
          <a:bodyPr lIns="97200" rIns="97200" tIns="52200" bIns="522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5" name=""/>
          <p:cNvSpPr txBox="1"/>
          <p:nvPr/>
        </p:nvSpPr>
        <p:spPr>
          <a:xfrm>
            <a:off x="9061560" y="2011680"/>
            <a:ext cx="320040" cy="54900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1" lang="en-US" sz="1300" spc="-1" strike="noStrike">
                <a:solidFill>
                  <a:srgbClr val="15803d"/>
                </a:solidFill>
                <a:latin typeface="Arial"/>
              </a:rPr>
              <a:t>04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6" name=""/>
          <p:cNvSpPr txBox="1"/>
          <p:nvPr/>
        </p:nvSpPr>
        <p:spPr>
          <a:xfrm>
            <a:off x="9244440" y="2121480"/>
            <a:ext cx="1481400" cy="54900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1600" spc="-1" strike="noStrike">
                <a:solidFill>
                  <a:srgbClr val="0f172a"/>
                </a:solidFill>
                <a:latin typeface="Arial"/>
              </a:rPr>
              <a:t>Extract records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7" name=""/>
          <p:cNvSpPr/>
          <p:nvPr/>
        </p:nvSpPr>
        <p:spPr>
          <a:xfrm>
            <a:off x="8970120" y="4160520"/>
            <a:ext cx="2011680" cy="896040"/>
          </a:xfrm>
          <a:prstGeom prst="roundRect">
            <a:avLst/>
          </a:prstGeom>
          <a:solidFill>
            <a:srgbClr val="dcfce7"/>
          </a:solidFill>
          <a:ln w="14400">
            <a:solidFill>
              <a:srgbClr val="15803d"/>
            </a:solidFill>
            <a:round/>
          </a:ln>
        </p:spPr>
        <p:txBody>
          <a:bodyPr lIns="97200" rIns="97200" tIns="52200" bIns="522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8" name=""/>
          <p:cNvSpPr txBox="1"/>
          <p:nvPr/>
        </p:nvSpPr>
        <p:spPr>
          <a:xfrm>
            <a:off x="9061560" y="4251960"/>
            <a:ext cx="320040" cy="54900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1" lang="en-US" sz="1300" spc="-1" strike="noStrike">
                <a:solidFill>
                  <a:srgbClr val="15803d"/>
                </a:solidFill>
                <a:latin typeface="Arial"/>
              </a:rPr>
              <a:t>05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9" name=""/>
          <p:cNvSpPr txBox="1"/>
          <p:nvPr/>
        </p:nvSpPr>
        <p:spPr>
          <a:xfrm>
            <a:off x="9244440" y="4361760"/>
            <a:ext cx="1481400" cy="54900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1600" spc="-1" strike="noStrike">
                <a:solidFill>
                  <a:srgbClr val="0f172a"/>
                </a:solidFill>
                <a:latin typeface="Arial"/>
              </a:rPr>
              <a:t>Normalize data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0" name=""/>
          <p:cNvSpPr/>
          <p:nvPr/>
        </p:nvSpPr>
        <p:spPr>
          <a:xfrm>
            <a:off x="6208920" y="4160520"/>
            <a:ext cx="2011680" cy="896040"/>
          </a:xfrm>
          <a:prstGeom prst="roundRect">
            <a:avLst/>
          </a:prstGeom>
          <a:solidFill>
            <a:srgbClr val="dbeafe"/>
          </a:solidFill>
          <a:ln w="14400">
            <a:solidFill>
              <a:srgbClr val="2563eb"/>
            </a:solidFill>
            <a:round/>
          </a:ln>
        </p:spPr>
        <p:txBody>
          <a:bodyPr lIns="97200" rIns="97200" tIns="52200" bIns="522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1" name=""/>
          <p:cNvSpPr txBox="1"/>
          <p:nvPr/>
        </p:nvSpPr>
        <p:spPr>
          <a:xfrm>
            <a:off x="6300360" y="4251960"/>
            <a:ext cx="320040" cy="54900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1" lang="en-US" sz="1300" spc="-1" strike="noStrike">
                <a:solidFill>
                  <a:srgbClr val="2563eb"/>
                </a:solidFill>
                <a:latin typeface="Arial"/>
              </a:rPr>
              <a:t>06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2" name=""/>
          <p:cNvSpPr txBox="1"/>
          <p:nvPr/>
        </p:nvSpPr>
        <p:spPr>
          <a:xfrm>
            <a:off x="6483240" y="4361760"/>
            <a:ext cx="1481400" cy="54900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1600" spc="-1" strike="noStrike">
                <a:solidFill>
                  <a:srgbClr val="0f172a"/>
                </a:solidFill>
                <a:latin typeface="Arial"/>
              </a:rPr>
              <a:t>Build candidates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3" name=""/>
          <p:cNvSpPr/>
          <p:nvPr/>
        </p:nvSpPr>
        <p:spPr>
          <a:xfrm>
            <a:off x="3447360" y="4160520"/>
            <a:ext cx="2011680" cy="896040"/>
          </a:xfrm>
          <a:prstGeom prst="roundRect">
            <a:avLst/>
          </a:prstGeom>
          <a:solidFill>
            <a:srgbClr val="dbeafe"/>
          </a:solidFill>
          <a:ln w="14400">
            <a:solidFill>
              <a:srgbClr val="2563eb"/>
            </a:solidFill>
            <a:round/>
          </a:ln>
        </p:spPr>
        <p:txBody>
          <a:bodyPr lIns="97200" rIns="97200" tIns="52200" bIns="522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4" name=""/>
          <p:cNvSpPr txBox="1"/>
          <p:nvPr/>
        </p:nvSpPr>
        <p:spPr>
          <a:xfrm>
            <a:off x="3538800" y="4251960"/>
            <a:ext cx="320040" cy="54900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1" lang="en-US" sz="1300" spc="-1" strike="noStrike">
                <a:solidFill>
                  <a:srgbClr val="2563eb"/>
                </a:solidFill>
                <a:latin typeface="Arial"/>
              </a:rPr>
              <a:t>07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5" name=""/>
          <p:cNvSpPr txBox="1"/>
          <p:nvPr/>
        </p:nvSpPr>
        <p:spPr>
          <a:xfrm>
            <a:off x="3721680" y="4361760"/>
            <a:ext cx="1481400" cy="54900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1600" spc="-1" strike="noStrike">
                <a:solidFill>
                  <a:srgbClr val="0f172a"/>
                </a:solidFill>
                <a:latin typeface="Arial"/>
              </a:rPr>
              <a:t>Verify and repair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6" name=""/>
          <p:cNvSpPr/>
          <p:nvPr/>
        </p:nvSpPr>
        <p:spPr>
          <a:xfrm>
            <a:off x="685800" y="4160520"/>
            <a:ext cx="2011680" cy="896040"/>
          </a:xfrm>
          <a:prstGeom prst="roundRect">
            <a:avLst/>
          </a:prstGeom>
          <a:solidFill>
            <a:srgbClr val="dbeafe"/>
          </a:solidFill>
          <a:ln w="14400">
            <a:solidFill>
              <a:srgbClr val="2563eb"/>
            </a:solidFill>
            <a:round/>
          </a:ln>
        </p:spPr>
        <p:txBody>
          <a:bodyPr lIns="97200" rIns="97200" tIns="52200" bIns="522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7" name=""/>
          <p:cNvSpPr txBox="1"/>
          <p:nvPr/>
        </p:nvSpPr>
        <p:spPr>
          <a:xfrm>
            <a:off x="777240" y="4251960"/>
            <a:ext cx="320040" cy="54900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1" lang="en-US" sz="1300" spc="-1" strike="noStrike">
                <a:solidFill>
                  <a:srgbClr val="2563eb"/>
                </a:solidFill>
                <a:latin typeface="Arial"/>
              </a:rPr>
              <a:t>08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8" name=""/>
          <p:cNvSpPr txBox="1"/>
          <p:nvPr/>
        </p:nvSpPr>
        <p:spPr>
          <a:xfrm>
            <a:off x="960120" y="4361760"/>
            <a:ext cx="1481400" cy="54900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1600" spc="-1" strike="noStrike">
                <a:solidFill>
                  <a:srgbClr val="0f172a"/>
                </a:solidFill>
                <a:latin typeface="Arial"/>
              </a:rPr>
              <a:t>Canvas compiler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0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1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8fafc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2" name=""/>
          <p:cNvSpPr/>
          <p:nvPr/>
        </p:nvSpPr>
        <p:spPr>
          <a:xfrm>
            <a:off x="0" y="0"/>
            <a:ext cx="12192120" cy="73080"/>
          </a:xfrm>
          <a:prstGeom prst="rect">
            <a:avLst/>
          </a:prstGeom>
          <a:solidFill>
            <a:srgbClr val="2563eb"/>
          </a:solidFill>
          <a:ln w="0">
            <a:noFill/>
          </a:ln>
        </p:spPr>
        <p:txBody>
          <a:bodyPr lIns="90000" rIns="90000" tIns="28080" bIns="2808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3" name=""/>
          <p:cNvSpPr txBox="1"/>
          <p:nvPr/>
        </p:nvSpPr>
        <p:spPr>
          <a:xfrm>
            <a:off x="621720" y="210240"/>
            <a:ext cx="804672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1" lang="en-US" sz="1100" spc="-1" strike="noStrike">
                <a:solidFill>
                  <a:srgbClr val="2563eb"/>
                </a:solidFill>
                <a:latin typeface="Arial"/>
              </a:rPr>
              <a:t>WORKED TASK, STAGE 1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4" name=""/>
          <p:cNvSpPr txBox="1"/>
          <p:nvPr/>
        </p:nvSpPr>
        <p:spPr>
          <a:xfrm>
            <a:off x="10698480" y="201240"/>
            <a:ext cx="86868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r"/>
            <a:r>
              <a:rPr b="1" lang="en-US" sz="1100" spc="-1" strike="noStrike">
                <a:solidFill>
                  <a:srgbClr val="475569"/>
                </a:solidFill>
                <a:latin typeface="Arial"/>
              </a:rPr>
              <a:t>23 / 26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5" name=""/>
          <p:cNvSpPr txBox="1"/>
          <p:nvPr/>
        </p:nvSpPr>
        <p:spPr>
          <a:xfrm>
            <a:off x="621720" y="438840"/>
            <a:ext cx="1024128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t">
            <a:noAutofit/>
          </a:bodyPr>
          <a:p>
            <a:r>
              <a:rPr b="1" lang="en-US" sz="3200" spc="-1" strike="noStrike">
                <a:solidFill>
                  <a:srgbClr val="0f172a"/>
                </a:solidFill>
                <a:latin typeface="Arial"/>
              </a:rPr>
              <a:t>Find reliable sources and inspect every PDF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6" name=""/>
          <p:cNvSpPr txBox="1"/>
          <p:nvPr/>
        </p:nvSpPr>
        <p:spPr>
          <a:xfrm>
            <a:off x="621720" y="969120"/>
            <a:ext cx="1097280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0" lang="en-US" sz="1700" spc="-1" strike="noStrike">
                <a:solidFill>
                  <a:srgbClr val="475569"/>
                </a:solidFill>
                <a:latin typeface="Arial"/>
              </a:rPr>
              <a:t>The Practitioner queries Intelligence before selecting search, download, and parsing capabilities.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7" name=""/>
          <p:cNvSpPr/>
          <p:nvPr/>
        </p:nvSpPr>
        <p:spPr>
          <a:xfrm>
            <a:off x="621720" y="5843160"/>
            <a:ext cx="10945440" cy="393120"/>
          </a:xfrm>
          <a:prstGeom prst="roundRect">
            <a:avLst/>
          </a:prstGeom>
          <a:solidFill>
            <a:srgbClr val="f1f5f9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8" name=""/>
          <p:cNvSpPr txBox="1"/>
          <p:nvPr/>
        </p:nvSpPr>
        <p:spPr>
          <a:xfrm>
            <a:off x="731520" y="5879520"/>
            <a:ext cx="1071684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0" lang="en-US" sz="1300" spc="-1" strike="noStrike">
                <a:solidFill>
                  <a:srgbClr val="475569"/>
                </a:solidFill>
                <a:latin typeface="Arial"/>
              </a:rPr>
              <a:t>Different PDFs may require different extraction routes. One parser is not assumed to fit every document.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9" name=""/>
          <p:cNvSpPr txBox="1"/>
          <p:nvPr/>
        </p:nvSpPr>
        <p:spPr>
          <a:xfrm>
            <a:off x="621720" y="6291000"/>
            <a:ext cx="9921240" cy="54900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0" lang="en-US" sz="1050" spc="-1" strike="noStrike">
                <a:solidFill>
                  <a:srgbClr val="475569"/>
                </a:solidFill>
                <a:latin typeface="Arial"/>
              </a:rPr>
              <a:t>Discovery remains effect-free. Network and file operations start only after exact permission checks.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0" name=""/>
          <p:cNvSpPr txBox="1"/>
          <p:nvPr/>
        </p:nvSpPr>
        <p:spPr>
          <a:xfrm>
            <a:off x="10561320" y="6291000"/>
            <a:ext cx="1005840" cy="54900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r"/>
            <a:r>
              <a:rPr b="1" lang="en-US" sz="1050" spc="-1" strike="noStrike">
                <a:solidFill>
                  <a:srgbClr val="64748b"/>
                </a:solidFill>
                <a:latin typeface="Arial"/>
              </a:rPr>
              <a:t>LOOP ENGINE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1" name=""/>
          <p:cNvSpPr/>
          <p:nvPr/>
        </p:nvSpPr>
        <p:spPr>
          <a:xfrm>
            <a:off x="2578680" y="2541960"/>
            <a:ext cx="841320" cy="0"/>
          </a:xfrm>
          <a:prstGeom prst="line">
            <a:avLst/>
          </a:prstGeom>
          <a:ln w="16200">
            <a:solidFill>
              <a:srgbClr val="64748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7920" rIns="97920" tIns="-52920" bIns="-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2" name=""/>
          <p:cNvSpPr/>
          <p:nvPr/>
        </p:nvSpPr>
        <p:spPr>
          <a:xfrm>
            <a:off x="5340240" y="2541960"/>
            <a:ext cx="841320" cy="0"/>
          </a:xfrm>
          <a:prstGeom prst="line">
            <a:avLst/>
          </a:prstGeom>
          <a:ln w="16200">
            <a:solidFill>
              <a:srgbClr val="64748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7920" rIns="97920" tIns="-52920" bIns="-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3" name=""/>
          <p:cNvSpPr/>
          <p:nvPr/>
        </p:nvSpPr>
        <p:spPr>
          <a:xfrm>
            <a:off x="8101440" y="2541960"/>
            <a:ext cx="841320" cy="0"/>
          </a:xfrm>
          <a:prstGeom prst="line">
            <a:avLst/>
          </a:prstGeom>
          <a:ln w="16200">
            <a:solidFill>
              <a:srgbClr val="64748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7920" rIns="97920" tIns="-52920" bIns="-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4" name=""/>
          <p:cNvSpPr/>
          <p:nvPr/>
        </p:nvSpPr>
        <p:spPr>
          <a:xfrm>
            <a:off x="658440" y="1993320"/>
            <a:ext cx="1920240" cy="1115640"/>
          </a:xfrm>
          <a:prstGeom prst="ellipse">
            <a:avLst/>
          </a:prstGeom>
          <a:solidFill>
            <a:srgbClr val="dbeafe"/>
          </a:solidFill>
          <a:ln w="21600">
            <a:solidFill>
              <a:srgbClr val="2563eb"/>
            </a:solidFill>
            <a:custDash>
              <a:ds d="33333" sp="33333"/>
              <a:ds d="33333" sp="33333"/>
            </a:custDash>
            <a:round/>
          </a:ln>
        </p:spPr>
        <p:txBody>
          <a:bodyPr lIns="100800" rIns="100800" tIns="55800" bIns="558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5" name=""/>
          <p:cNvSpPr txBox="1"/>
          <p:nvPr/>
        </p:nvSpPr>
        <p:spPr>
          <a:xfrm>
            <a:off x="768240" y="2103120"/>
            <a:ext cx="1700640" cy="54900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1600" spc="-1" strike="noStrike">
                <a:solidFill>
                  <a:srgbClr val="0f172a"/>
                </a:solidFill>
                <a:latin typeface="Arial"/>
              </a:rPr>
              <a:t>Source discovery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6" name=""/>
          <p:cNvSpPr/>
          <p:nvPr/>
        </p:nvSpPr>
        <p:spPr>
          <a:xfrm>
            <a:off x="3420000" y="1993320"/>
            <a:ext cx="1920240" cy="1115640"/>
          </a:xfrm>
          <a:prstGeom prst="ellipse">
            <a:avLst/>
          </a:prstGeom>
          <a:solidFill>
            <a:srgbClr val="dcfce7"/>
          </a:solidFill>
          <a:ln w="21600">
            <a:solidFill>
              <a:srgbClr val="15803d"/>
            </a:solidFill>
            <a:round/>
          </a:ln>
        </p:spPr>
        <p:txBody>
          <a:bodyPr lIns="100800" rIns="100800" tIns="55800" bIns="558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7" name=""/>
          <p:cNvSpPr txBox="1"/>
          <p:nvPr/>
        </p:nvSpPr>
        <p:spPr>
          <a:xfrm>
            <a:off x="3529440" y="2103120"/>
            <a:ext cx="170064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1600" spc="-1" strike="noStrike">
                <a:solidFill>
                  <a:srgbClr val="0f172a"/>
                </a:solidFill>
                <a:latin typeface="Arial"/>
              </a:rPr>
              <a:t>PDF download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8" name=""/>
          <p:cNvSpPr/>
          <p:nvPr/>
        </p:nvSpPr>
        <p:spPr>
          <a:xfrm>
            <a:off x="6181200" y="1993320"/>
            <a:ext cx="1920240" cy="1115640"/>
          </a:xfrm>
          <a:prstGeom prst="ellipse">
            <a:avLst/>
          </a:prstGeom>
          <a:solidFill>
            <a:srgbClr val="dcfce7"/>
          </a:solidFill>
          <a:ln w="21600">
            <a:solidFill>
              <a:srgbClr val="15803d"/>
            </a:solidFill>
            <a:round/>
          </a:ln>
        </p:spPr>
        <p:txBody>
          <a:bodyPr lIns="100800" rIns="100800" tIns="55800" bIns="558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9" name=""/>
          <p:cNvSpPr txBox="1"/>
          <p:nvPr/>
        </p:nvSpPr>
        <p:spPr>
          <a:xfrm>
            <a:off x="6291000" y="2103120"/>
            <a:ext cx="1700640" cy="54900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1600" spc="-1" strike="noStrike">
                <a:solidFill>
                  <a:srgbClr val="0f172a"/>
                </a:solidFill>
                <a:latin typeface="Arial"/>
              </a:rPr>
              <a:t>Document inventory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0" name=""/>
          <p:cNvSpPr/>
          <p:nvPr/>
        </p:nvSpPr>
        <p:spPr>
          <a:xfrm>
            <a:off x="8942760" y="1993320"/>
            <a:ext cx="1920240" cy="1115640"/>
          </a:xfrm>
          <a:prstGeom prst="ellipse">
            <a:avLst/>
          </a:prstGeom>
          <a:solidFill>
            <a:srgbClr val="f8fafc"/>
          </a:solidFill>
          <a:ln w="23400">
            <a:solidFill>
              <a:srgbClr val="2563eb"/>
            </a:solidFill>
            <a:round/>
          </a:ln>
        </p:spPr>
        <p:txBody>
          <a:bodyPr lIns="101520" rIns="101520" tIns="56520" bIns="565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1" name=""/>
          <p:cNvSpPr/>
          <p:nvPr/>
        </p:nvSpPr>
        <p:spPr>
          <a:xfrm>
            <a:off x="9025200" y="2075760"/>
            <a:ext cx="1755720" cy="951120"/>
          </a:xfrm>
          <a:prstGeom prst="ellipse">
            <a:avLst/>
          </a:prstGeom>
          <a:solidFill>
            <a:srgbClr val="dbeafe"/>
          </a:solidFill>
          <a:ln w="13680">
            <a:solidFill>
              <a:srgbClr val="2563eb"/>
            </a:solidFill>
            <a:round/>
          </a:ln>
        </p:spPr>
        <p:txBody>
          <a:bodyPr lIns="96840" rIns="96840" tIns="51840" bIns="518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2" name=""/>
          <p:cNvSpPr txBox="1"/>
          <p:nvPr/>
        </p:nvSpPr>
        <p:spPr>
          <a:xfrm>
            <a:off x="9052560" y="2103120"/>
            <a:ext cx="1700640" cy="54900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1600" spc="-1" strike="noStrike">
                <a:solidFill>
                  <a:srgbClr val="0f172a"/>
                </a:solidFill>
                <a:latin typeface="Arial"/>
              </a:rPr>
              <a:t>Structure inspection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3" name=""/>
          <p:cNvSpPr/>
          <p:nvPr/>
        </p:nvSpPr>
        <p:spPr>
          <a:xfrm>
            <a:off x="786240" y="3767400"/>
            <a:ext cx="2880360" cy="493920"/>
          </a:xfrm>
          <a:prstGeom prst="roundRect">
            <a:avLst/>
          </a:prstGeom>
          <a:solidFill>
            <a:srgbClr val="ede9fe"/>
          </a:solidFill>
          <a:ln w="12960">
            <a:solidFill>
              <a:srgbClr val="7c3aed"/>
            </a:solidFill>
            <a:round/>
          </a:ln>
        </p:spPr>
        <p:txBody>
          <a:bodyPr lIns="96480" rIns="96480" tIns="51480" bIns="5148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4" name=""/>
          <p:cNvSpPr txBox="1"/>
          <p:nvPr/>
        </p:nvSpPr>
        <p:spPr>
          <a:xfrm>
            <a:off x="831960" y="3794760"/>
            <a:ext cx="2788920" cy="54900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1700" spc="-1" strike="noStrike">
                <a:solidFill>
                  <a:srgbClr val="7c3aed"/>
                </a:solidFill>
                <a:latin typeface="Arial"/>
              </a:rPr>
              <a:t>Context and User Feedback questions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5" name=""/>
          <p:cNvSpPr txBox="1"/>
          <p:nvPr/>
        </p:nvSpPr>
        <p:spPr>
          <a:xfrm>
            <a:off x="3977640" y="3721680"/>
            <a:ext cx="36576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1" lang="en-US" sz="1600" spc="-1" strike="noStrike">
                <a:solidFill>
                  <a:srgbClr val="7c3aed"/>
                </a:solidFill>
                <a:latin typeface="Arial"/>
              </a:rPr>
              <a:t>01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6" name=""/>
          <p:cNvSpPr txBox="1"/>
          <p:nvPr/>
        </p:nvSpPr>
        <p:spPr>
          <a:xfrm>
            <a:off x="4416480" y="3657600"/>
            <a:ext cx="660204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0" lang="en-US" sz="1700" spc="-1" strike="noStrike">
                <a:solidFill>
                  <a:srgbClr val="0f172a"/>
                </a:solidFill>
                <a:latin typeface="Arial"/>
              </a:rPr>
              <a:t>Which sources are authoritative?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7" name=""/>
          <p:cNvSpPr txBox="1"/>
          <p:nvPr/>
        </p:nvSpPr>
        <p:spPr>
          <a:xfrm>
            <a:off x="3977640" y="4260960"/>
            <a:ext cx="36576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1" lang="en-US" sz="1600" spc="-1" strike="noStrike">
                <a:solidFill>
                  <a:srgbClr val="7c3aed"/>
                </a:solidFill>
                <a:latin typeface="Arial"/>
              </a:rPr>
              <a:t>02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8" name=""/>
          <p:cNvSpPr txBox="1"/>
          <p:nvPr/>
        </p:nvSpPr>
        <p:spPr>
          <a:xfrm>
            <a:off x="4416480" y="4197240"/>
            <a:ext cx="660204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0" lang="en-US" sz="1700" spc="-1" strike="noStrike">
                <a:solidFill>
                  <a:srgbClr val="0f172a"/>
                </a:solidFill>
                <a:latin typeface="Arial"/>
              </a:rPr>
              <a:t>Which dates and entities are in scope?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9" name=""/>
          <p:cNvSpPr txBox="1"/>
          <p:nvPr/>
        </p:nvSpPr>
        <p:spPr>
          <a:xfrm>
            <a:off x="3977640" y="4800600"/>
            <a:ext cx="36576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1" lang="en-US" sz="1600" spc="-1" strike="noStrike">
                <a:solidFill>
                  <a:srgbClr val="7c3aed"/>
                </a:solidFill>
                <a:latin typeface="Arial"/>
              </a:rPr>
              <a:t>03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0" name=""/>
          <p:cNvSpPr txBox="1"/>
          <p:nvPr/>
        </p:nvSpPr>
        <p:spPr>
          <a:xfrm>
            <a:off x="4416480" y="4736520"/>
            <a:ext cx="660204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0" lang="en-US" sz="1700" spc="-1" strike="noStrike">
                <a:solidFill>
                  <a:srgbClr val="0f172a"/>
                </a:solidFill>
                <a:latin typeface="Arial"/>
              </a:rPr>
              <a:t>Are tables, scans, and footnotes handled?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2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3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8fafc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4" name=""/>
          <p:cNvSpPr/>
          <p:nvPr/>
        </p:nvSpPr>
        <p:spPr>
          <a:xfrm>
            <a:off x="0" y="0"/>
            <a:ext cx="12192120" cy="73080"/>
          </a:xfrm>
          <a:prstGeom prst="rect">
            <a:avLst/>
          </a:prstGeom>
          <a:solidFill>
            <a:srgbClr val="2563eb"/>
          </a:solidFill>
          <a:ln w="0">
            <a:noFill/>
          </a:ln>
        </p:spPr>
        <p:txBody>
          <a:bodyPr lIns="90000" rIns="90000" tIns="28080" bIns="2808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5" name=""/>
          <p:cNvSpPr txBox="1"/>
          <p:nvPr/>
        </p:nvSpPr>
        <p:spPr>
          <a:xfrm>
            <a:off x="621720" y="210240"/>
            <a:ext cx="804672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1" lang="en-US" sz="1100" spc="-1" strike="noStrike">
                <a:solidFill>
                  <a:srgbClr val="2563eb"/>
                </a:solidFill>
                <a:latin typeface="Arial"/>
              </a:rPr>
              <a:t>WORKED TASK, STAGE 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6" name=""/>
          <p:cNvSpPr txBox="1"/>
          <p:nvPr/>
        </p:nvSpPr>
        <p:spPr>
          <a:xfrm>
            <a:off x="10698480" y="201240"/>
            <a:ext cx="86868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r"/>
            <a:r>
              <a:rPr b="1" lang="en-US" sz="1100" spc="-1" strike="noStrike">
                <a:solidFill>
                  <a:srgbClr val="475569"/>
                </a:solidFill>
                <a:latin typeface="Arial"/>
              </a:rPr>
              <a:t>24 / 26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7" name=""/>
          <p:cNvSpPr txBox="1"/>
          <p:nvPr/>
        </p:nvSpPr>
        <p:spPr>
          <a:xfrm>
            <a:off x="621720" y="438840"/>
            <a:ext cx="1024128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t">
            <a:noAutofit/>
          </a:bodyPr>
          <a:p>
            <a:r>
              <a:rPr b="1" lang="en-US" sz="3200" spc="-1" strike="noStrike">
                <a:solidFill>
                  <a:srgbClr val="0f172a"/>
                </a:solidFill>
                <a:latin typeface="Arial"/>
              </a:rPr>
              <a:t>Build trusted data before building models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8" name=""/>
          <p:cNvSpPr txBox="1"/>
          <p:nvPr/>
        </p:nvSpPr>
        <p:spPr>
          <a:xfrm>
            <a:off x="621720" y="969120"/>
            <a:ext cx="1097280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0" lang="en-US" sz="1700" spc="-1" strike="noStrike">
                <a:solidFill>
                  <a:srgbClr val="475569"/>
                </a:solidFill>
                <a:latin typeface="Arial"/>
              </a:rPr>
              <a:t>Selected Code Intelligence Loops extract, normalize, validate, and assemble model-ready records.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9" name=""/>
          <p:cNvSpPr/>
          <p:nvPr/>
        </p:nvSpPr>
        <p:spPr>
          <a:xfrm>
            <a:off x="621720" y="5843160"/>
            <a:ext cx="10945440" cy="393120"/>
          </a:xfrm>
          <a:prstGeom prst="roundRect">
            <a:avLst/>
          </a:prstGeom>
          <a:solidFill>
            <a:srgbClr val="f1f5f9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0" name=""/>
          <p:cNvSpPr txBox="1"/>
          <p:nvPr/>
        </p:nvSpPr>
        <p:spPr>
          <a:xfrm>
            <a:off x="731520" y="5879520"/>
            <a:ext cx="10716840" cy="54900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0" lang="en-US" sz="1300" spc="-1" strike="noStrike">
                <a:solidFill>
                  <a:srgbClr val="475569"/>
                </a:solidFill>
                <a:latin typeface="Arial"/>
              </a:rPr>
              <a:t>Runtime History and Solution Intelligence supplies known failures, repair patterns, and evaluation geometry.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1" name=""/>
          <p:cNvSpPr txBox="1"/>
          <p:nvPr/>
        </p:nvSpPr>
        <p:spPr>
          <a:xfrm>
            <a:off x="621720" y="6291000"/>
            <a:ext cx="992124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0" lang="en-US" sz="1050" spc="-1" strike="noStrike">
                <a:solidFill>
                  <a:srgbClr val="475569"/>
                </a:solidFill>
                <a:latin typeface="Arial"/>
              </a:rPr>
              <a:t>Competing model candidates remain separate until an independent verifier compares them.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2" name=""/>
          <p:cNvSpPr txBox="1"/>
          <p:nvPr/>
        </p:nvSpPr>
        <p:spPr>
          <a:xfrm>
            <a:off x="10561320" y="6291000"/>
            <a:ext cx="1005840" cy="54900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r"/>
            <a:r>
              <a:rPr b="1" lang="en-US" sz="1050" spc="-1" strike="noStrike">
                <a:solidFill>
                  <a:srgbClr val="64748b"/>
                </a:solidFill>
                <a:latin typeface="Arial"/>
              </a:rPr>
              <a:t>LOOP ENGINE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3" name=""/>
          <p:cNvSpPr/>
          <p:nvPr/>
        </p:nvSpPr>
        <p:spPr>
          <a:xfrm>
            <a:off x="2578680" y="2541960"/>
            <a:ext cx="841320" cy="0"/>
          </a:xfrm>
          <a:prstGeom prst="line">
            <a:avLst/>
          </a:prstGeom>
          <a:ln w="16200">
            <a:solidFill>
              <a:srgbClr val="64748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7920" rIns="97920" tIns="-52920" bIns="-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4" name=""/>
          <p:cNvSpPr/>
          <p:nvPr/>
        </p:nvSpPr>
        <p:spPr>
          <a:xfrm>
            <a:off x="5340240" y="2541960"/>
            <a:ext cx="841320" cy="0"/>
          </a:xfrm>
          <a:prstGeom prst="line">
            <a:avLst/>
          </a:prstGeom>
          <a:ln w="16200">
            <a:solidFill>
              <a:srgbClr val="64748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7920" rIns="97920" tIns="-52920" bIns="-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5" name=""/>
          <p:cNvSpPr/>
          <p:nvPr/>
        </p:nvSpPr>
        <p:spPr>
          <a:xfrm>
            <a:off x="8101440" y="2541960"/>
            <a:ext cx="841320" cy="0"/>
          </a:xfrm>
          <a:prstGeom prst="line">
            <a:avLst/>
          </a:prstGeom>
          <a:ln w="16200">
            <a:solidFill>
              <a:srgbClr val="64748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7920" rIns="97920" tIns="-52920" bIns="-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6" name=""/>
          <p:cNvSpPr/>
          <p:nvPr/>
        </p:nvSpPr>
        <p:spPr>
          <a:xfrm>
            <a:off x="658440" y="1993320"/>
            <a:ext cx="1920240" cy="1115640"/>
          </a:xfrm>
          <a:prstGeom prst="ellipse">
            <a:avLst/>
          </a:prstGeom>
          <a:solidFill>
            <a:srgbClr val="dcfce7"/>
          </a:solidFill>
          <a:ln w="21600">
            <a:solidFill>
              <a:srgbClr val="15803d"/>
            </a:solidFill>
            <a:round/>
          </a:ln>
        </p:spPr>
        <p:txBody>
          <a:bodyPr lIns="100800" rIns="100800" tIns="55800" bIns="558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7" name=""/>
          <p:cNvSpPr txBox="1"/>
          <p:nvPr/>
        </p:nvSpPr>
        <p:spPr>
          <a:xfrm>
            <a:off x="768240" y="2103120"/>
            <a:ext cx="170064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1600" spc="-1" strike="noStrike">
                <a:solidFill>
                  <a:srgbClr val="0f172a"/>
                </a:solidFill>
                <a:latin typeface="Arial"/>
              </a:rPr>
              <a:t>Extract records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8" name=""/>
          <p:cNvSpPr/>
          <p:nvPr/>
        </p:nvSpPr>
        <p:spPr>
          <a:xfrm>
            <a:off x="3420000" y="1993320"/>
            <a:ext cx="1920240" cy="1115640"/>
          </a:xfrm>
          <a:prstGeom prst="ellipse">
            <a:avLst/>
          </a:prstGeom>
          <a:solidFill>
            <a:srgbClr val="dcfce7"/>
          </a:solidFill>
          <a:ln w="21600">
            <a:solidFill>
              <a:srgbClr val="15803d"/>
            </a:solidFill>
            <a:round/>
          </a:ln>
        </p:spPr>
        <p:txBody>
          <a:bodyPr lIns="100800" rIns="100800" tIns="55800" bIns="558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9" name=""/>
          <p:cNvSpPr txBox="1"/>
          <p:nvPr/>
        </p:nvSpPr>
        <p:spPr>
          <a:xfrm>
            <a:off x="3529440" y="2103120"/>
            <a:ext cx="1700640" cy="54900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1600" spc="-1" strike="noStrike">
                <a:solidFill>
                  <a:srgbClr val="0f172a"/>
                </a:solidFill>
                <a:latin typeface="Arial"/>
              </a:rPr>
              <a:t>Normalize schema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0" name=""/>
          <p:cNvSpPr/>
          <p:nvPr/>
        </p:nvSpPr>
        <p:spPr>
          <a:xfrm>
            <a:off x="6181200" y="1993320"/>
            <a:ext cx="1920240" cy="1115640"/>
          </a:xfrm>
          <a:prstGeom prst="ellipse">
            <a:avLst/>
          </a:prstGeom>
          <a:solidFill>
            <a:srgbClr val="dbeafe"/>
          </a:solidFill>
          <a:ln w="21600">
            <a:solidFill>
              <a:srgbClr val="2563eb"/>
            </a:solidFill>
            <a:round/>
          </a:ln>
        </p:spPr>
        <p:txBody>
          <a:bodyPr lIns="100800" rIns="100800" tIns="55800" bIns="558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1" name=""/>
          <p:cNvSpPr txBox="1"/>
          <p:nvPr/>
        </p:nvSpPr>
        <p:spPr>
          <a:xfrm>
            <a:off x="6291000" y="2103120"/>
            <a:ext cx="170064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1600" spc="-1" strike="noStrike">
                <a:solidFill>
                  <a:srgbClr val="0f172a"/>
                </a:solidFill>
                <a:latin typeface="Arial"/>
              </a:rPr>
              <a:t>Leakage check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2" name=""/>
          <p:cNvSpPr/>
          <p:nvPr/>
        </p:nvSpPr>
        <p:spPr>
          <a:xfrm>
            <a:off x="8942760" y="1993320"/>
            <a:ext cx="1920240" cy="1115640"/>
          </a:xfrm>
          <a:prstGeom prst="ellipse">
            <a:avLst/>
          </a:prstGeom>
          <a:solidFill>
            <a:srgbClr val="dbeafe"/>
          </a:solidFill>
          <a:ln w="21600">
            <a:solidFill>
              <a:srgbClr val="2563eb"/>
            </a:solidFill>
            <a:custDash>
              <a:ds d="33333" sp="33333"/>
              <a:ds d="33333" sp="33333"/>
            </a:custDash>
            <a:round/>
          </a:ln>
        </p:spPr>
        <p:txBody>
          <a:bodyPr lIns="100800" rIns="100800" tIns="55800" bIns="558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3" name=""/>
          <p:cNvSpPr txBox="1"/>
          <p:nvPr/>
        </p:nvSpPr>
        <p:spPr>
          <a:xfrm>
            <a:off x="9052560" y="2103120"/>
            <a:ext cx="1700640" cy="54900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1600" spc="-1" strike="noStrike">
                <a:solidFill>
                  <a:srgbClr val="0f172a"/>
                </a:solidFill>
                <a:latin typeface="Arial"/>
              </a:rPr>
              <a:t>Model candidates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4" name=""/>
          <p:cNvSpPr/>
          <p:nvPr/>
        </p:nvSpPr>
        <p:spPr>
          <a:xfrm>
            <a:off x="786240" y="3767400"/>
            <a:ext cx="2880360" cy="493920"/>
          </a:xfrm>
          <a:prstGeom prst="roundRect">
            <a:avLst/>
          </a:prstGeom>
          <a:solidFill>
            <a:srgbClr val="ede9fe"/>
          </a:solidFill>
          <a:ln w="12960">
            <a:solidFill>
              <a:srgbClr val="7c3aed"/>
            </a:solidFill>
            <a:round/>
          </a:ln>
        </p:spPr>
        <p:txBody>
          <a:bodyPr lIns="96480" rIns="96480" tIns="51480" bIns="5148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5" name=""/>
          <p:cNvSpPr txBox="1"/>
          <p:nvPr/>
        </p:nvSpPr>
        <p:spPr>
          <a:xfrm>
            <a:off x="831960" y="3794760"/>
            <a:ext cx="278892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1700" spc="-1" strike="noStrike">
                <a:solidFill>
                  <a:srgbClr val="7c3aed"/>
                </a:solidFill>
                <a:latin typeface="Arial"/>
              </a:rPr>
              <a:t>Intelligence questions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6" name=""/>
          <p:cNvSpPr txBox="1"/>
          <p:nvPr/>
        </p:nvSpPr>
        <p:spPr>
          <a:xfrm>
            <a:off x="3977640" y="3721680"/>
            <a:ext cx="36576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1" lang="en-US" sz="1600" spc="-1" strike="noStrike">
                <a:solidFill>
                  <a:srgbClr val="7c3aed"/>
                </a:solidFill>
                <a:latin typeface="Arial"/>
              </a:rPr>
              <a:t>01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7" name=""/>
          <p:cNvSpPr txBox="1"/>
          <p:nvPr/>
        </p:nvSpPr>
        <p:spPr>
          <a:xfrm>
            <a:off x="4416480" y="3657600"/>
            <a:ext cx="660204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0" lang="en-US" sz="1700" spc="-1" strike="noStrike">
                <a:solidFill>
                  <a:srgbClr val="0f172a"/>
                </a:solidFill>
                <a:latin typeface="Arial"/>
              </a:rPr>
              <a:t>What is missing or duplicated?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8" name=""/>
          <p:cNvSpPr txBox="1"/>
          <p:nvPr/>
        </p:nvSpPr>
        <p:spPr>
          <a:xfrm>
            <a:off x="3977640" y="4260960"/>
            <a:ext cx="36576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1" lang="en-US" sz="1600" spc="-1" strike="noStrike">
                <a:solidFill>
                  <a:srgbClr val="7c3aed"/>
                </a:solidFill>
                <a:latin typeface="Arial"/>
              </a:rPr>
              <a:t>02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9" name=""/>
          <p:cNvSpPr txBox="1"/>
          <p:nvPr/>
        </p:nvSpPr>
        <p:spPr>
          <a:xfrm>
            <a:off x="4416480" y="4197240"/>
            <a:ext cx="660204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0" lang="en-US" sz="1700" spc="-1" strike="noStrike">
                <a:solidFill>
                  <a:srgbClr val="0f172a"/>
                </a:solidFill>
                <a:latin typeface="Arial"/>
              </a:rPr>
              <a:t>Can future data leak into training?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0" name=""/>
          <p:cNvSpPr txBox="1"/>
          <p:nvPr/>
        </p:nvSpPr>
        <p:spPr>
          <a:xfrm>
            <a:off x="3977640" y="4800600"/>
            <a:ext cx="36576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1" lang="en-US" sz="1600" spc="-1" strike="noStrike">
                <a:solidFill>
                  <a:srgbClr val="7c3aed"/>
                </a:solidFill>
                <a:latin typeface="Arial"/>
              </a:rPr>
              <a:t>03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1" name=""/>
          <p:cNvSpPr txBox="1"/>
          <p:nvPr/>
        </p:nvSpPr>
        <p:spPr>
          <a:xfrm>
            <a:off x="4416480" y="4736520"/>
            <a:ext cx="660204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0" lang="en-US" sz="1700" spc="-1" strike="noStrike">
                <a:solidFill>
                  <a:srgbClr val="0f172a"/>
                </a:solidFill>
                <a:latin typeface="Arial"/>
              </a:rPr>
              <a:t>Which baseline and split prove useful performance?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3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4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8fafc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5" name=""/>
          <p:cNvSpPr/>
          <p:nvPr/>
        </p:nvSpPr>
        <p:spPr>
          <a:xfrm>
            <a:off x="0" y="0"/>
            <a:ext cx="12192120" cy="73080"/>
          </a:xfrm>
          <a:prstGeom prst="rect">
            <a:avLst/>
          </a:prstGeom>
          <a:solidFill>
            <a:srgbClr val="2563eb"/>
          </a:solidFill>
          <a:ln w="0">
            <a:noFill/>
          </a:ln>
        </p:spPr>
        <p:txBody>
          <a:bodyPr lIns="90000" rIns="90000" tIns="28080" bIns="2808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6" name=""/>
          <p:cNvSpPr txBox="1"/>
          <p:nvPr/>
        </p:nvSpPr>
        <p:spPr>
          <a:xfrm>
            <a:off x="621720" y="210240"/>
            <a:ext cx="804672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1" lang="en-US" sz="1100" spc="-1" strike="noStrike">
                <a:solidFill>
                  <a:srgbClr val="2563eb"/>
                </a:solidFill>
                <a:latin typeface="Arial"/>
              </a:rPr>
              <a:t>WORKED TASK, STAGE 3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7" name=""/>
          <p:cNvSpPr txBox="1"/>
          <p:nvPr/>
        </p:nvSpPr>
        <p:spPr>
          <a:xfrm>
            <a:off x="10698480" y="201240"/>
            <a:ext cx="86868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r"/>
            <a:r>
              <a:rPr b="1" lang="en-US" sz="1100" spc="-1" strike="noStrike">
                <a:solidFill>
                  <a:srgbClr val="475569"/>
                </a:solidFill>
                <a:latin typeface="Arial"/>
              </a:rPr>
              <a:t>25 / 26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8" name=""/>
          <p:cNvSpPr txBox="1"/>
          <p:nvPr/>
        </p:nvSpPr>
        <p:spPr>
          <a:xfrm>
            <a:off x="621720" y="438840"/>
            <a:ext cx="1024128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t">
            <a:noAutofit/>
          </a:bodyPr>
          <a:p>
            <a:r>
              <a:rPr b="1" lang="en-US" sz="3200" spc="-1" strike="noStrike">
                <a:solidFill>
                  <a:srgbClr val="0f172a"/>
                </a:solidFill>
                <a:latin typeface="Arial"/>
              </a:rPr>
              <a:t>Verify, repair, compile, and record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9" name=""/>
          <p:cNvSpPr txBox="1"/>
          <p:nvPr/>
        </p:nvSpPr>
        <p:spPr>
          <a:xfrm>
            <a:off x="621720" y="969120"/>
            <a:ext cx="1097280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0" lang="en-US" sz="1700" spc="-1" strike="noStrike">
                <a:solidFill>
                  <a:srgbClr val="475569"/>
                </a:solidFill>
                <a:latin typeface="Arial"/>
              </a:rPr>
              <a:t>A deterministic verifier accepts a candidate or starts a failure-specific repair Loop.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0" name=""/>
          <p:cNvSpPr/>
          <p:nvPr/>
        </p:nvSpPr>
        <p:spPr>
          <a:xfrm>
            <a:off x="621720" y="5843160"/>
            <a:ext cx="10945440" cy="393120"/>
          </a:xfrm>
          <a:prstGeom prst="roundRect">
            <a:avLst/>
          </a:prstGeom>
          <a:solidFill>
            <a:srgbClr val="f1f5f9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1" name=""/>
          <p:cNvSpPr txBox="1"/>
          <p:nvPr/>
        </p:nvSpPr>
        <p:spPr>
          <a:xfrm>
            <a:off x="731520" y="5879520"/>
            <a:ext cx="1071684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0" lang="en-US" sz="1300" spc="-1" strike="noStrike">
                <a:solidFill>
                  <a:srgbClr val="475569"/>
                </a:solidFill>
                <a:latin typeface="Arial"/>
              </a:rPr>
              <a:t>A report explains what ran. It does not turn one successful task into a general success rate.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2" name=""/>
          <p:cNvSpPr txBox="1"/>
          <p:nvPr/>
        </p:nvSpPr>
        <p:spPr>
          <a:xfrm>
            <a:off x="621720" y="6291000"/>
            <a:ext cx="9921240" cy="54900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0" lang="en-US" sz="1050" spc="-1" strike="noStrike">
                <a:solidFill>
                  <a:srgbClr val="475569"/>
                </a:solidFill>
                <a:latin typeface="Arial"/>
              </a:rPr>
              <a:t>The selected Solution graph enters the Canvas. The same ordered events power live view and playback.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3" name=""/>
          <p:cNvSpPr txBox="1"/>
          <p:nvPr/>
        </p:nvSpPr>
        <p:spPr>
          <a:xfrm>
            <a:off x="10561320" y="6291000"/>
            <a:ext cx="1005840" cy="54900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r"/>
            <a:r>
              <a:rPr b="1" lang="en-US" sz="1050" spc="-1" strike="noStrike">
                <a:solidFill>
                  <a:srgbClr val="64748b"/>
                </a:solidFill>
                <a:latin typeface="Arial"/>
              </a:rPr>
              <a:t>LOOP ENGINE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4" name=""/>
          <p:cNvSpPr/>
          <p:nvPr/>
        </p:nvSpPr>
        <p:spPr>
          <a:xfrm>
            <a:off x="2404800" y="2514600"/>
            <a:ext cx="1307520" cy="0"/>
          </a:xfrm>
          <a:prstGeom prst="line">
            <a:avLst/>
          </a:prstGeom>
          <a:ln w="16200">
            <a:solidFill>
              <a:srgbClr val="2563e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7920" rIns="97920" tIns="-52920" bIns="-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5" name=""/>
          <p:cNvSpPr/>
          <p:nvPr/>
        </p:nvSpPr>
        <p:spPr>
          <a:xfrm>
            <a:off x="5852160" y="2514600"/>
            <a:ext cx="1261800" cy="0"/>
          </a:xfrm>
          <a:prstGeom prst="line">
            <a:avLst/>
          </a:prstGeom>
          <a:ln w="16200">
            <a:solidFill>
              <a:srgbClr val="15803d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7920" rIns="97920" tIns="-52920" bIns="-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6" name=""/>
          <p:cNvSpPr/>
          <p:nvPr/>
        </p:nvSpPr>
        <p:spPr>
          <a:xfrm>
            <a:off x="4754880" y="3127320"/>
            <a:ext cx="0" cy="1143000"/>
          </a:xfrm>
          <a:prstGeom prst="line">
            <a:avLst/>
          </a:prstGeom>
          <a:ln w="16200">
            <a:solidFill>
              <a:srgbClr val="b91c1c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7920" rIns="97920" tIns="52920" bIns="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7" name=""/>
          <p:cNvSpPr/>
          <p:nvPr/>
        </p:nvSpPr>
        <p:spPr>
          <a:xfrm flipH="1" flipV="1">
            <a:off x="3090600" y="3840480"/>
            <a:ext cx="704160" cy="932760"/>
          </a:xfrm>
          <a:prstGeom prst="line">
            <a:avLst/>
          </a:prstGeom>
          <a:ln w="16200">
            <a:solidFill>
              <a:srgbClr val="b91c1c"/>
            </a:solidFill>
            <a:custDash>
              <a:ds d="44444" sp="44444"/>
              <a:ds d="44444" sp="44444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97920" rIns="97920" tIns="52920" bIns="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8" name=""/>
          <p:cNvSpPr/>
          <p:nvPr/>
        </p:nvSpPr>
        <p:spPr>
          <a:xfrm flipV="1">
            <a:off x="3090600" y="3127320"/>
            <a:ext cx="795600" cy="713160"/>
          </a:xfrm>
          <a:prstGeom prst="line">
            <a:avLst/>
          </a:prstGeom>
          <a:ln w="16200">
            <a:solidFill>
              <a:srgbClr val="b91c1c"/>
            </a:solidFill>
            <a:custDash>
              <a:ds d="44444" sp="44444"/>
              <a:ds d="44444" sp="44444"/>
            </a:custDash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7920" rIns="97920" tIns="52920" bIns="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9" name=""/>
          <p:cNvSpPr/>
          <p:nvPr/>
        </p:nvSpPr>
        <p:spPr>
          <a:xfrm>
            <a:off x="694800" y="1938600"/>
            <a:ext cx="1719000" cy="1152000"/>
          </a:xfrm>
          <a:prstGeom prst="ellipse">
            <a:avLst/>
          </a:prstGeom>
          <a:solidFill>
            <a:srgbClr val="dbeafe"/>
          </a:solidFill>
          <a:ln w="21600">
            <a:solidFill>
              <a:srgbClr val="2563eb"/>
            </a:solidFill>
            <a:round/>
          </a:ln>
        </p:spPr>
        <p:txBody>
          <a:bodyPr lIns="100800" rIns="100800" tIns="55800" bIns="558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0" name=""/>
          <p:cNvSpPr txBox="1"/>
          <p:nvPr/>
        </p:nvSpPr>
        <p:spPr>
          <a:xfrm>
            <a:off x="804600" y="2048400"/>
            <a:ext cx="1499760" cy="54900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1600" spc="-1" strike="noStrike">
                <a:solidFill>
                  <a:srgbClr val="0f172a"/>
                </a:solidFill>
                <a:latin typeface="Arial"/>
              </a:rPr>
              <a:t>Candidate output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1" name=""/>
          <p:cNvSpPr/>
          <p:nvPr/>
        </p:nvSpPr>
        <p:spPr>
          <a:xfrm>
            <a:off x="3703320" y="1883520"/>
            <a:ext cx="2176200" cy="1261800"/>
          </a:xfrm>
          <a:prstGeom prst="ellipse">
            <a:avLst/>
          </a:prstGeom>
          <a:solidFill>
            <a:srgbClr val="dbeafe"/>
          </a:solidFill>
          <a:ln w="21600">
            <a:solidFill>
              <a:srgbClr val="2563eb"/>
            </a:solidFill>
            <a:round/>
          </a:ln>
        </p:spPr>
        <p:txBody>
          <a:bodyPr lIns="100800" rIns="100800" tIns="55800" bIns="558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2" name=""/>
          <p:cNvSpPr txBox="1"/>
          <p:nvPr/>
        </p:nvSpPr>
        <p:spPr>
          <a:xfrm>
            <a:off x="3813120" y="1993320"/>
            <a:ext cx="1956960" cy="54900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1700" spc="-1" strike="noStrike">
                <a:solidFill>
                  <a:srgbClr val="0f172a"/>
                </a:solidFill>
                <a:latin typeface="Arial"/>
              </a:rPr>
              <a:t>Deterministic verifier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3" name=""/>
          <p:cNvSpPr/>
          <p:nvPr/>
        </p:nvSpPr>
        <p:spPr>
          <a:xfrm>
            <a:off x="7095600" y="1938600"/>
            <a:ext cx="1847160" cy="1152000"/>
          </a:xfrm>
          <a:prstGeom prst="ellipse">
            <a:avLst/>
          </a:prstGeom>
          <a:solidFill>
            <a:srgbClr val="dcfce7"/>
          </a:solidFill>
          <a:ln w="21600">
            <a:solidFill>
              <a:srgbClr val="15803d"/>
            </a:solidFill>
            <a:round/>
          </a:ln>
        </p:spPr>
        <p:txBody>
          <a:bodyPr lIns="100800" rIns="100800" tIns="55800" bIns="558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4" name=""/>
          <p:cNvSpPr txBox="1"/>
          <p:nvPr/>
        </p:nvSpPr>
        <p:spPr>
          <a:xfrm>
            <a:off x="7205400" y="2048400"/>
            <a:ext cx="1627560" cy="54900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1700" spc="-1" strike="noStrike">
                <a:solidFill>
                  <a:srgbClr val="0f172a"/>
                </a:solidFill>
                <a:latin typeface="Arial"/>
              </a:rPr>
              <a:t>Solution Canvas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5" name=""/>
          <p:cNvSpPr/>
          <p:nvPr/>
        </p:nvSpPr>
        <p:spPr>
          <a:xfrm>
            <a:off x="3749040" y="4251960"/>
            <a:ext cx="1993320" cy="1042560"/>
          </a:xfrm>
          <a:prstGeom prst="ellipse">
            <a:avLst/>
          </a:prstGeom>
          <a:solidFill>
            <a:srgbClr val="f8fafc"/>
          </a:solidFill>
          <a:ln w="23400">
            <a:solidFill>
              <a:srgbClr val="2563eb"/>
            </a:solidFill>
            <a:round/>
          </a:ln>
        </p:spPr>
        <p:txBody>
          <a:bodyPr lIns="101520" rIns="101520" tIns="56520" bIns="565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6" name=""/>
          <p:cNvSpPr/>
          <p:nvPr/>
        </p:nvSpPr>
        <p:spPr>
          <a:xfrm>
            <a:off x="3831480" y="4334400"/>
            <a:ext cx="1828800" cy="877680"/>
          </a:xfrm>
          <a:prstGeom prst="ellipse">
            <a:avLst/>
          </a:prstGeom>
          <a:solidFill>
            <a:srgbClr val="dbeafe"/>
          </a:solidFill>
          <a:ln w="13680">
            <a:solidFill>
              <a:srgbClr val="2563eb"/>
            </a:solidFill>
            <a:round/>
          </a:ln>
        </p:spPr>
        <p:txBody>
          <a:bodyPr lIns="96840" rIns="96840" tIns="51840" bIns="518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7" name=""/>
          <p:cNvSpPr txBox="1"/>
          <p:nvPr/>
        </p:nvSpPr>
        <p:spPr>
          <a:xfrm>
            <a:off x="3858840" y="4361760"/>
            <a:ext cx="177408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1700" spc="-1" strike="noStrike">
                <a:solidFill>
                  <a:srgbClr val="0f172a"/>
                </a:solidFill>
                <a:latin typeface="Arial"/>
              </a:rPr>
              <a:t>Repair Loop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8" name=""/>
          <p:cNvSpPr txBox="1"/>
          <p:nvPr/>
        </p:nvSpPr>
        <p:spPr>
          <a:xfrm>
            <a:off x="6016680" y="2221920"/>
            <a:ext cx="969120" cy="54900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1600" spc="-1" strike="noStrike">
                <a:solidFill>
                  <a:srgbClr val="15803d"/>
                </a:solidFill>
                <a:latin typeface="Arial"/>
              </a:rPr>
              <a:t>accepted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9" name=""/>
          <p:cNvSpPr txBox="1"/>
          <p:nvPr/>
        </p:nvSpPr>
        <p:spPr>
          <a:xfrm>
            <a:off x="4983480" y="3584520"/>
            <a:ext cx="1143000" cy="54900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1600" spc="-1" strike="noStrike">
                <a:solidFill>
                  <a:srgbClr val="b91c1c"/>
                </a:solidFill>
                <a:latin typeface="Arial"/>
              </a:rPr>
              <a:t>failed check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0" name=""/>
          <p:cNvSpPr/>
          <p:nvPr/>
        </p:nvSpPr>
        <p:spPr>
          <a:xfrm>
            <a:off x="9253800" y="1682640"/>
            <a:ext cx="1901880" cy="3877200"/>
          </a:xfrm>
          <a:prstGeom prst="roundRect">
            <a:avLst/>
          </a:prstGeom>
          <a:solidFill>
            <a:srgbClr val="f1f5f9"/>
          </a:solidFill>
          <a:ln w="16200">
            <a:solidFill>
              <a:srgbClr val="64748b"/>
            </a:solidFill>
            <a:round/>
          </a:ln>
        </p:spPr>
        <p:txBody>
          <a:bodyPr lIns="97920" rIns="97920" tIns="52920" bIns="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1" name=""/>
          <p:cNvSpPr txBox="1"/>
          <p:nvPr/>
        </p:nvSpPr>
        <p:spPr>
          <a:xfrm>
            <a:off x="9473040" y="1938600"/>
            <a:ext cx="146304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2300" spc="-1" strike="noStrike">
                <a:solidFill>
                  <a:srgbClr val="64748b"/>
                </a:solidFill>
                <a:latin typeface="Arial"/>
              </a:rPr>
              <a:t>Run History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2" name=""/>
          <p:cNvSpPr txBox="1"/>
          <p:nvPr/>
        </p:nvSpPr>
        <p:spPr>
          <a:xfrm>
            <a:off x="9436680" y="2587680"/>
            <a:ext cx="1527120" cy="234072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t">
            <a:noAutofit/>
          </a:bodyPr>
          <a:p>
            <a:r>
              <a:rPr b="0" lang="en-US" sz="1600" spc="-1" strike="noStrike">
                <a:solidFill>
                  <a:srgbClr val="0f172a"/>
                </a:solidFill>
                <a:latin typeface="Arial"/>
              </a:rPr>
              <a:t>• </a:t>
            </a:r>
            <a:r>
              <a:rPr b="0" lang="en-US" sz="1600" spc="-1" strike="noStrike">
                <a:solidFill>
                  <a:srgbClr val="0f172a"/>
                </a:solidFill>
                <a:latin typeface="Arial"/>
              </a:rPr>
              <a:t>ordered Loop events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0f172a"/>
                </a:solidFill>
                <a:latin typeface="Arial"/>
              </a:rPr>
              <a:t>• </a:t>
            </a:r>
            <a:r>
              <a:rPr b="0" lang="en-US" sz="1600" spc="-1" strike="noStrike">
                <a:solidFill>
                  <a:srgbClr val="0f172a"/>
                </a:solidFill>
                <a:latin typeface="Arial"/>
              </a:rPr>
              <a:t>typed values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0f172a"/>
                </a:solidFill>
                <a:latin typeface="Arial"/>
              </a:rPr>
              <a:t>• </a:t>
            </a:r>
            <a:r>
              <a:rPr b="0" lang="en-US" sz="1600" spc="-1" strike="noStrike">
                <a:solidFill>
                  <a:srgbClr val="0f172a"/>
                </a:solidFill>
                <a:latin typeface="Arial"/>
              </a:rPr>
              <a:t>model attempts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0f172a"/>
                </a:solidFill>
                <a:latin typeface="Arial"/>
              </a:rPr>
              <a:t>• </a:t>
            </a:r>
            <a:r>
              <a:rPr b="0" lang="en-US" sz="1600" spc="-1" strike="noStrike">
                <a:solidFill>
                  <a:srgbClr val="0f172a"/>
                </a:solidFill>
                <a:latin typeface="Arial"/>
              </a:rPr>
              <a:t>effects and approvals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0f172a"/>
                </a:solidFill>
                <a:latin typeface="Arial"/>
              </a:rPr>
              <a:t>• </a:t>
            </a:r>
            <a:r>
              <a:rPr b="0" lang="en-US" sz="1600" spc="-1" strike="noStrike">
                <a:solidFill>
                  <a:srgbClr val="0f172a"/>
                </a:solidFill>
                <a:latin typeface="Arial"/>
              </a:rPr>
              <a:t>live view and playback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4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5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8fafc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6" name=""/>
          <p:cNvSpPr/>
          <p:nvPr/>
        </p:nvSpPr>
        <p:spPr>
          <a:xfrm>
            <a:off x="0" y="0"/>
            <a:ext cx="12192120" cy="73080"/>
          </a:xfrm>
          <a:prstGeom prst="rect">
            <a:avLst/>
          </a:prstGeom>
          <a:solidFill>
            <a:srgbClr val="2563eb"/>
          </a:solidFill>
          <a:ln w="0">
            <a:noFill/>
          </a:ln>
        </p:spPr>
        <p:txBody>
          <a:bodyPr lIns="90000" rIns="90000" tIns="28080" bIns="2808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7" name=""/>
          <p:cNvSpPr txBox="1"/>
          <p:nvPr/>
        </p:nvSpPr>
        <p:spPr>
          <a:xfrm>
            <a:off x="621720" y="210240"/>
            <a:ext cx="804672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1" lang="en-US" sz="1100" spc="-1" strike="noStrike">
                <a:solidFill>
                  <a:srgbClr val="2563eb"/>
                </a:solidFill>
                <a:latin typeface="Arial"/>
              </a:rPr>
              <a:t>PRACTITIONER TASK PROFILE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8" name=""/>
          <p:cNvSpPr txBox="1"/>
          <p:nvPr/>
        </p:nvSpPr>
        <p:spPr>
          <a:xfrm>
            <a:off x="10698480" y="201240"/>
            <a:ext cx="86868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r"/>
            <a:r>
              <a:rPr b="1" lang="en-US" sz="1100" spc="-1" strike="noStrike">
                <a:solidFill>
                  <a:srgbClr val="475569"/>
                </a:solidFill>
                <a:latin typeface="Arial"/>
              </a:rPr>
              <a:t>26 / 26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9" name=""/>
          <p:cNvSpPr txBox="1"/>
          <p:nvPr/>
        </p:nvSpPr>
        <p:spPr>
          <a:xfrm>
            <a:off x="621720" y="438840"/>
            <a:ext cx="1024128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t">
            <a:noAutofit/>
          </a:bodyPr>
          <a:p>
            <a:r>
              <a:rPr b="1" lang="en-US" sz="3200" spc="-1" strike="noStrike">
                <a:solidFill>
                  <a:srgbClr val="0f172a"/>
                </a:solidFill>
                <a:latin typeface="Arial"/>
              </a:rPr>
              <a:t>Self-improvement uses the same Practitioner Loop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0" name=""/>
          <p:cNvSpPr txBox="1"/>
          <p:nvPr/>
        </p:nvSpPr>
        <p:spPr>
          <a:xfrm>
            <a:off x="621720" y="969120"/>
            <a:ext cx="10972800" cy="54900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0" lang="en-US" sz="1700" spc="-1" strike="noStrike">
                <a:solidFill>
                  <a:srgbClr val="475569"/>
                </a:solidFill>
                <a:latin typeface="Arial"/>
              </a:rPr>
              <a:t>A Practitioner can review a bounded run population and stage candidates. Independent review remains separate.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1" name=""/>
          <p:cNvSpPr/>
          <p:nvPr/>
        </p:nvSpPr>
        <p:spPr>
          <a:xfrm>
            <a:off x="621720" y="5843160"/>
            <a:ext cx="10945440" cy="393120"/>
          </a:xfrm>
          <a:prstGeom prst="roundRect">
            <a:avLst/>
          </a:prstGeom>
          <a:solidFill>
            <a:srgbClr val="f1f5f9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2" name=""/>
          <p:cNvSpPr txBox="1"/>
          <p:nvPr/>
        </p:nvSpPr>
        <p:spPr>
          <a:xfrm>
            <a:off x="731520" y="5879520"/>
            <a:ext cx="1071684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0" lang="en-US" sz="1300" spc="-1" strike="noStrike">
                <a:solidFill>
                  <a:srgbClr val="475569"/>
                </a:solidFill>
                <a:latin typeface="Arial"/>
              </a:rPr>
              <a:t>Remaining gaps: full value schemas and built-in hybrid or non-deterministic Solution executors.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3" name=""/>
          <p:cNvSpPr txBox="1"/>
          <p:nvPr/>
        </p:nvSpPr>
        <p:spPr>
          <a:xfrm>
            <a:off x="621720" y="6291000"/>
            <a:ext cx="9921240" cy="54900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0" lang="en-US" sz="1050" spc="-1" strike="noStrike">
                <a:solidFill>
                  <a:srgbClr val="475569"/>
                </a:solidFill>
                <a:latin typeface="Arial"/>
              </a:rPr>
              <a:t>The architecture is clear. The remaining work is to consolidate the runtime and prove one real end-to-end task.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4" name=""/>
          <p:cNvSpPr txBox="1"/>
          <p:nvPr/>
        </p:nvSpPr>
        <p:spPr>
          <a:xfrm>
            <a:off x="10561320" y="6291000"/>
            <a:ext cx="1005840" cy="54900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r"/>
            <a:r>
              <a:rPr b="1" lang="en-US" sz="1050" spc="-1" strike="noStrike">
                <a:solidFill>
                  <a:srgbClr val="64748b"/>
                </a:solidFill>
                <a:latin typeface="Arial"/>
              </a:rPr>
              <a:t>LOOP ENGINE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5" name=""/>
          <p:cNvSpPr/>
          <p:nvPr/>
        </p:nvSpPr>
        <p:spPr>
          <a:xfrm>
            <a:off x="749880" y="1664280"/>
            <a:ext cx="4791600" cy="3858840"/>
          </a:xfrm>
          <a:prstGeom prst="roundRect">
            <a:avLst/>
          </a:prstGeom>
          <a:solidFill>
            <a:srgbClr val="dbeafe"/>
          </a:solidFill>
          <a:ln w="17280">
            <a:solidFill>
              <a:srgbClr val="2563eb"/>
            </a:solidFill>
            <a:round/>
          </a:ln>
        </p:spPr>
        <p:txBody>
          <a:bodyPr lIns="98640" rIns="98640" tIns="53640" bIns="536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6" name=""/>
          <p:cNvSpPr txBox="1"/>
          <p:nvPr/>
        </p:nvSpPr>
        <p:spPr>
          <a:xfrm>
            <a:off x="1024200" y="1929240"/>
            <a:ext cx="424296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2400" spc="-1" strike="noStrike">
                <a:solidFill>
                  <a:srgbClr val="2563eb"/>
                </a:solidFill>
                <a:latin typeface="Arial"/>
              </a:rPr>
              <a:t>Practitioner task profiles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7" name=""/>
          <p:cNvSpPr txBox="1"/>
          <p:nvPr/>
        </p:nvSpPr>
        <p:spPr>
          <a:xfrm>
            <a:off x="1078920" y="2660760"/>
            <a:ext cx="38412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1" lang="en-US" sz="1600" spc="-1" strike="noStrike">
                <a:solidFill>
                  <a:srgbClr val="2563eb"/>
                </a:solidFill>
                <a:latin typeface="Arial"/>
              </a:rPr>
              <a:t>01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8" name=""/>
          <p:cNvSpPr txBox="1"/>
          <p:nvPr/>
        </p:nvSpPr>
        <p:spPr>
          <a:xfrm>
            <a:off x="1627560" y="2578680"/>
            <a:ext cx="340164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0" lang="en-US" sz="1700" spc="-1" strike="noStrike">
                <a:solidFill>
                  <a:srgbClr val="0f172a"/>
                </a:solidFill>
                <a:latin typeface="Arial"/>
              </a:rPr>
              <a:t>research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9" name=""/>
          <p:cNvSpPr txBox="1"/>
          <p:nvPr/>
        </p:nvSpPr>
        <p:spPr>
          <a:xfrm>
            <a:off x="1078920" y="3264480"/>
            <a:ext cx="38412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1" lang="en-US" sz="1600" spc="-1" strike="noStrike">
                <a:solidFill>
                  <a:srgbClr val="2563eb"/>
                </a:solidFill>
                <a:latin typeface="Arial"/>
              </a:rPr>
              <a:t>02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0" name=""/>
          <p:cNvSpPr txBox="1"/>
          <p:nvPr/>
        </p:nvSpPr>
        <p:spPr>
          <a:xfrm>
            <a:off x="1627560" y="3182040"/>
            <a:ext cx="340164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0" lang="en-US" sz="1700" spc="-1" strike="noStrike">
                <a:solidFill>
                  <a:srgbClr val="0f172a"/>
                </a:solidFill>
                <a:latin typeface="Arial"/>
              </a:rPr>
              <a:t>build and test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1" name=""/>
          <p:cNvSpPr txBox="1"/>
          <p:nvPr/>
        </p:nvSpPr>
        <p:spPr>
          <a:xfrm>
            <a:off x="1078920" y="3867840"/>
            <a:ext cx="38412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1" lang="en-US" sz="1600" spc="-1" strike="noStrike">
                <a:solidFill>
                  <a:srgbClr val="2563eb"/>
                </a:solidFill>
                <a:latin typeface="Arial"/>
              </a:rPr>
              <a:t>03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2" name=""/>
          <p:cNvSpPr txBox="1"/>
          <p:nvPr/>
        </p:nvSpPr>
        <p:spPr>
          <a:xfrm>
            <a:off x="1627560" y="3785760"/>
            <a:ext cx="340164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0" lang="en-US" sz="1700" spc="-1" strike="noStrike">
                <a:solidFill>
                  <a:srgbClr val="0f172a"/>
                </a:solidFill>
                <a:latin typeface="Arial"/>
              </a:rPr>
              <a:t>verify and repair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3" name=""/>
          <p:cNvSpPr txBox="1"/>
          <p:nvPr/>
        </p:nvSpPr>
        <p:spPr>
          <a:xfrm>
            <a:off x="1078920" y="4471560"/>
            <a:ext cx="38412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1" lang="en-US" sz="1600" spc="-1" strike="noStrike">
                <a:solidFill>
                  <a:srgbClr val="2563eb"/>
                </a:solidFill>
                <a:latin typeface="Arial"/>
              </a:rPr>
              <a:t>04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4" name=""/>
          <p:cNvSpPr txBox="1"/>
          <p:nvPr/>
        </p:nvSpPr>
        <p:spPr>
          <a:xfrm>
            <a:off x="1627560" y="4389120"/>
            <a:ext cx="3401640" cy="37404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>
            <a:noAutofit/>
          </a:bodyPr>
          <a:p>
            <a:r>
              <a:rPr b="0" lang="en-US" sz="1700" spc="-1" strike="noStrike">
                <a:solidFill>
                  <a:srgbClr val="0f172a"/>
                </a:solidFill>
                <a:latin typeface="Arial"/>
              </a:rPr>
              <a:t>self-improvement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5" name=""/>
          <p:cNvSpPr txBox="1"/>
          <p:nvPr/>
        </p:nvSpPr>
        <p:spPr>
          <a:xfrm>
            <a:off x="1042560" y="5083920"/>
            <a:ext cx="4187880" cy="54900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1400" spc="-1" strike="noStrike">
                <a:solidFill>
                  <a:srgbClr val="64748b"/>
                </a:solidFill>
                <a:latin typeface="Arial"/>
              </a:rPr>
              <a:t>INDEPENDENT REVIEW DECIDES PROMOTION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6" name=""/>
          <p:cNvSpPr/>
          <p:nvPr/>
        </p:nvSpPr>
        <p:spPr>
          <a:xfrm>
            <a:off x="6080760" y="1828800"/>
            <a:ext cx="4754880" cy="841320"/>
          </a:xfrm>
          <a:prstGeom prst="roundRect">
            <a:avLst/>
          </a:prstGeom>
          <a:solidFill>
            <a:srgbClr val="dbeafe"/>
          </a:solidFill>
          <a:ln w="15120">
            <a:solidFill>
              <a:srgbClr val="2563eb"/>
            </a:solidFill>
            <a:round/>
          </a:ln>
        </p:spPr>
        <p:txBody>
          <a:bodyPr lIns="97560" rIns="97560" tIns="52560" bIns="525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7" name=""/>
          <p:cNvSpPr txBox="1"/>
          <p:nvPr/>
        </p:nvSpPr>
        <p:spPr>
          <a:xfrm>
            <a:off x="6364080" y="1947600"/>
            <a:ext cx="4187880" cy="54900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1900" spc="-1" strike="noStrike">
                <a:solidFill>
                  <a:srgbClr val="0f172a"/>
                </a:solidFill>
                <a:latin typeface="Arial"/>
              </a:rPr>
              <a:t>Every executable graph vertex is a Loop.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8" name=""/>
          <p:cNvSpPr/>
          <p:nvPr/>
        </p:nvSpPr>
        <p:spPr>
          <a:xfrm>
            <a:off x="6080760" y="2990160"/>
            <a:ext cx="4754880" cy="841320"/>
          </a:xfrm>
          <a:prstGeom prst="roundRect">
            <a:avLst/>
          </a:prstGeom>
          <a:solidFill>
            <a:srgbClr val="ede9fe"/>
          </a:solidFill>
          <a:ln w="15120">
            <a:solidFill>
              <a:srgbClr val="7c3aed"/>
            </a:solidFill>
            <a:round/>
          </a:ln>
        </p:spPr>
        <p:txBody>
          <a:bodyPr lIns="97560" rIns="97560" tIns="52560" bIns="525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9" name=""/>
          <p:cNvSpPr txBox="1"/>
          <p:nvPr/>
        </p:nvSpPr>
        <p:spPr>
          <a:xfrm>
            <a:off x="6364080" y="3108960"/>
            <a:ext cx="4187880" cy="54900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1900" spc="-1" strike="noStrike">
                <a:solidFill>
                  <a:srgbClr val="0f172a"/>
                </a:solidFill>
                <a:latin typeface="Arial"/>
              </a:rPr>
              <a:t>Each Loop selects one mode and follows one versioned definition.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0" name=""/>
          <p:cNvSpPr/>
          <p:nvPr/>
        </p:nvSpPr>
        <p:spPr>
          <a:xfrm>
            <a:off x="6080760" y="4151520"/>
            <a:ext cx="4754880" cy="841320"/>
          </a:xfrm>
          <a:prstGeom prst="roundRect">
            <a:avLst/>
          </a:prstGeom>
          <a:solidFill>
            <a:srgbClr val="dcfce7"/>
          </a:solidFill>
          <a:ln w="15120">
            <a:solidFill>
              <a:srgbClr val="15803d"/>
            </a:solidFill>
            <a:round/>
          </a:ln>
        </p:spPr>
        <p:txBody>
          <a:bodyPr lIns="97560" rIns="97560" tIns="52560" bIns="525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1" name=""/>
          <p:cNvSpPr txBox="1"/>
          <p:nvPr/>
        </p:nvSpPr>
        <p:spPr>
          <a:xfrm>
            <a:off x="6364080" y="4270320"/>
            <a:ext cx="4187880" cy="549000"/>
          </a:xfrm>
          <a:prstGeom prst="rect">
            <a:avLst/>
          </a:prstGeom>
          <a:noFill/>
          <a:ln w="0">
            <a:noFill/>
          </a:ln>
        </p:spPr>
        <p:txBody>
          <a:bodyPr lIns="36720" rIns="36720" tIns="18360" bIns="18360" anchor="ctr" anchorCtr="1">
            <a:noAutofit/>
          </a:bodyPr>
          <a:p>
            <a:pPr algn="ctr"/>
            <a:r>
              <a:rPr b="1" lang="en-US" sz="1900" spc="-1" strike="noStrike">
                <a:solidFill>
                  <a:srgbClr val="0f172a"/>
                </a:solidFill>
                <a:latin typeface="Arial"/>
              </a:rPr>
              <a:t>The Solution Canvas runs. The Run History explains what happened.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2026-08-25T19:42:19Z</dcterms:modified>
  <cp:revision>1</cp:revision>
  <dc:subject/>
  <dc:title/>
</cp:coreProperties>
</file>